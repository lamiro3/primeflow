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902" r:id="rId2"/>
    <p:sldId id="901" r:id="rId3"/>
    <p:sldId id="914" r:id="rId4"/>
    <p:sldId id="956" r:id="rId5"/>
    <p:sldId id="959" r:id="rId6"/>
    <p:sldId id="968" r:id="rId7"/>
    <p:sldId id="969" r:id="rId8"/>
    <p:sldId id="970" r:id="rId9"/>
    <p:sldId id="971" r:id="rId10"/>
    <p:sldId id="960" r:id="rId11"/>
    <p:sldId id="957" r:id="rId12"/>
    <p:sldId id="958" r:id="rId13"/>
    <p:sldId id="945" r:id="rId14"/>
    <p:sldId id="946" r:id="rId15"/>
    <p:sldId id="961" r:id="rId16"/>
    <p:sldId id="966" r:id="rId17"/>
    <p:sldId id="967" r:id="rId18"/>
    <p:sldId id="942" r:id="rId19"/>
    <p:sldId id="962" r:id="rId20"/>
    <p:sldId id="949" r:id="rId21"/>
    <p:sldId id="963" r:id="rId22"/>
    <p:sldId id="964" r:id="rId23"/>
    <p:sldId id="953" r:id="rId24"/>
    <p:sldId id="972" r:id="rId25"/>
    <p:sldId id="954" r:id="rId26"/>
    <p:sldId id="965" r:id="rId27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C43BD7D-B79B-F647-9393-614A83906BA7}">
          <p14:sldIdLst>
            <p14:sldId id="902"/>
            <p14:sldId id="901"/>
            <p14:sldId id="914"/>
            <p14:sldId id="956"/>
            <p14:sldId id="959"/>
            <p14:sldId id="968"/>
            <p14:sldId id="969"/>
            <p14:sldId id="970"/>
            <p14:sldId id="971"/>
            <p14:sldId id="960"/>
            <p14:sldId id="957"/>
            <p14:sldId id="958"/>
          </p14:sldIdLst>
        </p14:section>
        <p14:section name="Method" id="{6380DBEB-29E6-4742-9193-2DAFB943BAEE}">
          <p14:sldIdLst>
            <p14:sldId id="945"/>
            <p14:sldId id="946"/>
            <p14:sldId id="961"/>
            <p14:sldId id="966"/>
            <p14:sldId id="967"/>
            <p14:sldId id="942"/>
            <p14:sldId id="962"/>
            <p14:sldId id="949"/>
          </p14:sldIdLst>
        </p14:section>
        <p14:section name="results" id="{D390BF02-DA3D-421E-9D5B-742341BCA05B}">
          <p14:sldIdLst>
            <p14:sldId id="963"/>
            <p14:sldId id="964"/>
            <p14:sldId id="953"/>
            <p14:sldId id="972"/>
            <p14:sldId id="954"/>
            <p14:sldId id="965"/>
          </p14:sldIdLst>
        </p14:section>
        <p14:section name="----" id="{07719E29-A7B8-6745-8755-D8CF65D019D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4DA"/>
    <a:srgbClr val="FFFFFF"/>
    <a:srgbClr val="C49500"/>
    <a:srgbClr val="006C31"/>
    <a:srgbClr val="FFFDD0"/>
    <a:srgbClr val="ECF4FB"/>
    <a:srgbClr val="FDF0E6"/>
    <a:srgbClr val="DB0D03"/>
    <a:srgbClr val="00FFCC"/>
    <a:srgbClr val="F9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767C2-EB31-4A39-8412-23FD05FCFCC8}" v="2189" dt="2026-08-07T05:17:03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1" autoAdjust="0"/>
    <p:restoredTop sz="72455" autoAdjust="0"/>
  </p:normalViewPr>
  <p:slideViewPr>
    <p:cSldViewPr snapToGrid="0">
      <p:cViewPr varScale="1">
        <p:scale>
          <a:sx n="52" d="100"/>
          <a:sy n="52" d="100"/>
        </p:scale>
        <p:origin x="1800" y="72"/>
      </p:cViewPr>
      <p:guideLst>
        <p:guide orient="horz" pos="2160"/>
        <p:guide pos="3840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현 고" userId="e678494651c46122" providerId="LiveId" clId="{539C6FA0-F84E-4B39-A3A5-84203512A6BB}"/>
    <pc:docChg chg="undo custSel addSld delSld modSld sldOrd addSection delSection modSection">
      <pc:chgData name="태현 고" userId="e678494651c46122" providerId="LiveId" clId="{539C6FA0-F84E-4B39-A3A5-84203512A6BB}" dt="2026-08-30T10:54:30.514" v="11032" actId="207"/>
      <pc:docMkLst>
        <pc:docMk/>
      </pc:docMkLst>
      <pc:sldChg chg="addSp delSp modSp add del mod modNotesTx">
        <pc:chgData name="태현 고" userId="e678494651c46122" providerId="LiveId" clId="{539C6FA0-F84E-4B39-A3A5-84203512A6BB}" dt="2026-08-07T00:23:17.891" v="10289" actId="47"/>
        <pc:sldMkLst>
          <pc:docMk/>
          <pc:sldMk cId="1511633626" sldId="901"/>
        </pc:sldMkLst>
        <pc:spChg chg="mod">
          <ac:chgData name="태현 고" userId="e678494651c46122" providerId="LiveId" clId="{539C6FA0-F84E-4B39-A3A5-84203512A6BB}" dt="2026-08-04T05:13:40.527" v="10286" actId="207"/>
          <ac:spMkLst>
            <pc:docMk/>
            <pc:sldMk cId="1511633626" sldId="901"/>
            <ac:spMk id="10" creationId="{3FC79694-7221-74FF-F620-2FF38DD62926}"/>
          </ac:spMkLst>
        </pc:spChg>
        <pc:spChg chg="mod">
          <ac:chgData name="태현 고" userId="e678494651c46122" providerId="LiveId" clId="{539C6FA0-F84E-4B39-A3A5-84203512A6BB}" dt="2026-08-04T05:10:40.824" v="10186"/>
          <ac:spMkLst>
            <pc:docMk/>
            <pc:sldMk cId="1511633626" sldId="901"/>
            <ac:spMk id="11" creationId="{9DD93C15-1549-E1BF-A99B-CF0CDA241C52}"/>
          </ac:spMkLst>
        </pc:spChg>
        <pc:grpChg chg="add mod">
          <ac:chgData name="태현 고" userId="e678494651c46122" providerId="LiveId" clId="{539C6FA0-F84E-4B39-A3A5-84203512A6BB}" dt="2026-08-04T05:10:40.824" v="10186"/>
          <ac:grpSpMkLst>
            <pc:docMk/>
            <pc:sldMk cId="1511633626" sldId="901"/>
            <ac:grpSpMk id="9" creationId="{E47751DB-EE97-6F4C-3EE5-CE25564090F9}"/>
          </ac:grpSpMkLst>
        </pc:grpChg>
        <pc:picChg chg="mod">
          <ac:chgData name="태현 고" userId="e678494651c46122" providerId="LiveId" clId="{539C6FA0-F84E-4B39-A3A5-84203512A6BB}" dt="2026-08-04T05:11:06.883" v="10278" actId="1035"/>
          <ac:picMkLst>
            <pc:docMk/>
            <pc:sldMk cId="1511633626" sldId="901"/>
            <ac:picMk id="6" creationId="{7741B6AF-9210-DAB3-E51F-A85CB1098DCB}"/>
          </ac:picMkLst>
        </pc:picChg>
        <pc:picChg chg="add mod">
          <ac:chgData name="태현 고" userId="e678494651c46122" providerId="LiveId" clId="{539C6FA0-F84E-4B39-A3A5-84203512A6BB}" dt="2026-08-04T05:11:06.883" v="10278" actId="1035"/>
          <ac:picMkLst>
            <pc:docMk/>
            <pc:sldMk cId="1511633626" sldId="901"/>
            <ac:picMk id="7" creationId="{199FAB96-515B-8E1D-D800-180C09F8AA70}"/>
          </ac:picMkLst>
        </pc:picChg>
      </pc:sldChg>
      <pc:sldChg chg="modSp add del mod">
        <pc:chgData name="태현 고" userId="e678494651c46122" providerId="LiveId" clId="{539C6FA0-F84E-4B39-A3A5-84203512A6BB}" dt="2026-08-07T00:23:17.891" v="10289" actId="47"/>
        <pc:sldMkLst>
          <pc:docMk/>
          <pc:sldMk cId="2982395436" sldId="902"/>
        </pc:sldMkLst>
        <pc:spChg chg="mod">
          <ac:chgData name="태현 고" userId="e678494651c46122" providerId="LiveId" clId="{539C6FA0-F84E-4B39-A3A5-84203512A6BB}" dt="2026-08-04T05:11:28.123" v="10282" actId="115"/>
          <ac:spMkLst>
            <pc:docMk/>
            <pc:sldMk cId="2982395436" sldId="902"/>
            <ac:spMk id="10" creationId="{AA4F9454-58B4-06D7-C2E1-F1992F64B3F1}"/>
          </ac:spMkLst>
        </pc:spChg>
      </pc:sldChg>
      <pc:sldChg chg="addSp modSp add del mod">
        <pc:chgData name="태현 고" userId="e678494651c46122" providerId="LiveId" clId="{539C6FA0-F84E-4B39-A3A5-84203512A6BB}" dt="2026-08-30T10:54:30.514" v="11032" actId="207"/>
        <pc:sldMkLst>
          <pc:docMk/>
          <pc:sldMk cId="56727963" sldId="914"/>
        </pc:sldMkLst>
        <pc:spChg chg="mod">
          <ac:chgData name="태현 고" userId="e678494651c46122" providerId="LiveId" clId="{539C6FA0-F84E-4B39-A3A5-84203512A6BB}" dt="2026-08-04T05:11:58.012" v="10284" actId="1076"/>
          <ac:spMkLst>
            <pc:docMk/>
            <pc:sldMk cId="56727963" sldId="914"/>
            <ac:spMk id="2" creationId="{39453C4E-D013-1BCD-2321-340B6CFC0095}"/>
          </ac:spMkLst>
        </pc:spChg>
        <pc:spChg chg="mod">
          <ac:chgData name="태현 고" userId="e678494651c46122" providerId="LiveId" clId="{539C6FA0-F84E-4B39-A3A5-84203512A6BB}" dt="2026-08-30T10:54:30.514" v="11032" actId="207"/>
          <ac:spMkLst>
            <pc:docMk/>
            <pc:sldMk cId="56727963" sldId="914"/>
            <ac:spMk id="5" creationId="{4D6B34A8-9603-CA55-591A-2343617A0FDC}"/>
          </ac:spMkLst>
        </pc:spChg>
        <pc:spChg chg="add mod">
          <ac:chgData name="태현 고" userId="e678494651c46122" providerId="LiveId" clId="{539C6FA0-F84E-4B39-A3A5-84203512A6BB}" dt="2026-08-30T10:54:25.698" v="11031" actId="207"/>
          <ac:spMkLst>
            <pc:docMk/>
            <pc:sldMk cId="56727963" sldId="914"/>
            <ac:spMk id="6" creationId="{4C1DA2BB-A640-9248-C0F5-53AED8483F51}"/>
          </ac:spMkLst>
        </pc:spChg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2246644035" sldId="942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1046933069" sldId="945"/>
        </pc:sldMkLst>
      </pc:sldChg>
      <pc:sldChg chg="modSp add del mod">
        <pc:chgData name="태현 고" userId="e678494651c46122" providerId="LiveId" clId="{539C6FA0-F84E-4B39-A3A5-84203512A6BB}" dt="2026-08-07T00:23:17.891" v="10289" actId="47"/>
        <pc:sldMkLst>
          <pc:docMk/>
          <pc:sldMk cId="513016442" sldId="946"/>
        </pc:sldMkLst>
        <pc:spChg chg="mod">
          <ac:chgData name="태현 고" userId="e678494651c46122" providerId="LiveId" clId="{539C6FA0-F84E-4B39-A3A5-84203512A6BB}" dt="2026-08-04T04:56:14.808" v="9315" actId="207"/>
          <ac:spMkLst>
            <pc:docMk/>
            <pc:sldMk cId="513016442" sldId="946"/>
            <ac:spMk id="8" creationId="{72FF24AA-594E-5D95-EAF1-DDB491850EE7}"/>
          </ac:spMkLst>
        </pc:spChg>
      </pc:sldChg>
      <pc:sldChg chg="addSp modSp add del mod">
        <pc:chgData name="태현 고" userId="e678494651c46122" providerId="LiveId" clId="{539C6FA0-F84E-4B39-A3A5-84203512A6BB}" dt="2026-08-07T00:23:17.891" v="10289" actId="47"/>
        <pc:sldMkLst>
          <pc:docMk/>
          <pc:sldMk cId="2533061021" sldId="949"/>
        </pc:sldMkLst>
        <pc:spChg chg="add mod">
          <ac:chgData name="태현 고" userId="e678494651c46122" providerId="LiveId" clId="{539C6FA0-F84E-4B39-A3A5-84203512A6BB}" dt="2026-08-04T01:55:37.230" v="1162" actId="207"/>
          <ac:spMkLst>
            <pc:docMk/>
            <pc:sldMk cId="2533061021" sldId="949"/>
            <ac:spMk id="8" creationId="{537D90D5-A6BD-C023-1435-B5408A0732D7}"/>
          </ac:spMkLst>
        </pc:spChg>
        <pc:spChg chg="mod">
          <ac:chgData name="태현 고" userId="e678494651c46122" providerId="LiveId" clId="{539C6FA0-F84E-4B39-A3A5-84203512A6BB}" dt="2026-08-04T01:55:21.826" v="1159" actId="1076"/>
          <ac:spMkLst>
            <pc:docMk/>
            <pc:sldMk cId="2533061021" sldId="949"/>
            <ac:spMk id="18" creationId="{8B5F00F4-0BDA-8B9A-2F49-BE2AB77A1E07}"/>
          </ac:spMkLst>
        </pc:spChg>
        <pc:spChg chg="mod">
          <ac:chgData name="태현 고" userId="e678494651c46122" providerId="LiveId" clId="{539C6FA0-F84E-4B39-A3A5-84203512A6BB}" dt="2026-08-04T01:55:21.826" v="1159" actId="1076"/>
          <ac:spMkLst>
            <pc:docMk/>
            <pc:sldMk cId="2533061021" sldId="949"/>
            <ac:spMk id="20" creationId="{E7B1A03E-598C-6CA9-6020-F4999A7B7BC8}"/>
          </ac:spMkLst>
        </pc:spChg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2985590900" sldId="953"/>
        </pc:sldMkLst>
      </pc:sldChg>
      <pc:sldChg chg="addSp delSp modSp add del mod modNotesTx">
        <pc:chgData name="태현 고" userId="e678494651c46122" providerId="LiveId" clId="{539C6FA0-F84E-4B39-A3A5-84203512A6BB}" dt="2026-08-07T00:23:17.891" v="10289" actId="47"/>
        <pc:sldMkLst>
          <pc:docMk/>
          <pc:sldMk cId="2239512378" sldId="954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2051699012" sldId="956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705112742" sldId="957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805093007" sldId="958"/>
        </pc:sldMkLst>
      </pc:sldChg>
      <pc:sldChg chg="addSp delSp add del mod">
        <pc:chgData name="태현 고" userId="e678494651c46122" providerId="LiveId" clId="{539C6FA0-F84E-4B39-A3A5-84203512A6BB}" dt="2026-08-07T00:23:17.891" v="10289" actId="47"/>
        <pc:sldMkLst>
          <pc:docMk/>
          <pc:sldMk cId="3774035550" sldId="959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1253254765" sldId="960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805009217" sldId="961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1335938947" sldId="962"/>
        </pc:sldMkLst>
      </pc:sldChg>
      <pc:sldChg chg="modSp add del mod">
        <pc:chgData name="태현 고" userId="e678494651c46122" providerId="LiveId" clId="{539C6FA0-F84E-4B39-A3A5-84203512A6BB}" dt="2026-08-19T05:45:45.557" v="11029" actId="20577"/>
        <pc:sldMkLst>
          <pc:docMk/>
          <pc:sldMk cId="1191922167" sldId="963"/>
        </pc:sldMkLst>
        <pc:spChg chg="mod">
          <ac:chgData name="태현 고" userId="e678494651c46122" providerId="LiveId" clId="{539C6FA0-F84E-4B39-A3A5-84203512A6BB}" dt="2026-08-19T05:45:45.557" v="11029" actId="20577"/>
          <ac:spMkLst>
            <pc:docMk/>
            <pc:sldMk cId="1191922167" sldId="963"/>
            <ac:spMk id="45" creationId="{00A24ECC-09A1-75B3-FE6B-60D6A783EA2A}"/>
          </ac:spMkLst>
        </pc:spChg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491131158" sldId="964"/>
        </pc:sldMkLst>
      </pc:sldChg>
      <pc:sldChg chg="add del">
        <pc:chgData name="태현 고" userId="e678494651c46122" providerId="LiveId" clId="{539C6FA0-F84E-4B39-A3A5-84203512A6BB}" dt="2026-08-07T00:23:17.891" v="10289" actId="47"/>
        <pc:sldMkLst>
          <pc:docMk/>
          <pc:sldMk cId="1696603708" sldId="965"/>
        </pc:sldMkLst>
      </pc:sldChg>
      <pc:sldChg chg="addSp delSp modSp add del mod modNotesTx">
        <pc:chgData name="태현 고" userId="e678494651c46122" providerId="LiveId" clId="{539C6FA0-F84E-4B39-A3A5-84203512A6BB}" dt="2026-08-07T05:08:32.380" v="10977" actId="20577"/>
        <pc:sldMkLst>
          <pc:docMk/>
          <pc:sldMk cId="154032930" sldId="966"/>
        </pc:sldMkLst>
        <pc:spChg chg="mod">
          <ac:chgData name="태현 고" userId="e678494651c46122" providerId="LiveId" clId="{539C6FA0-F84E-4B39-A3A5-84203512A6BB}" dt="2026-08-04T04:26:09.368" v="5889" actId="207"/>
          <ac:spMkLst>
            <pc:docMk/>
            <pc:sldMk cId="154032930" sldId="966"/>
            <ac:spMk id="5" creationId="{1EBFB44D-51A7-E6B1-8331-FF7CF76A6935}"/>
          </ac:spMkLst>
        </pc:spChg>
        <pc:spChg chg="add mod">
          <ac:chgData name="태현 고" userId="e678494651c46122" providerId="LiveId" clId="{539C6FA0-F84E-4B39-A3A5-84203512A6BB}" dt="2026-08-04T01:35:27.381" v="181" actId="1076"/>
          <ac:spMkLst>
            <pc:docMk/>
            <pc:sldMk cId="154032930" sldId="966"/>
            <ac:spMk id="6" creationId="{0878067A-2E89-223E-98C0-A2751DD91C60}"/>
          </ac:spMkLst>
        </pc:spChg>
        <pc:spChg chg="mod">
          <ac:chgData name="태현 고" userId="e678494651c46122" providerId="LiveId" clId="{539C6FA0-F84E-4B39-A3A5-84203512A6BB}" dt="2026-08-04T01:34:57.598" v="177" actId="1076"/>
          <ac:spMkLst>
            <pc:docMk/>
            <pc:sldMk cId="154032930" sldId="966"/>
            <ac:spMk id="8" creationId="{B4AA5F81-15A1-2637-C34E-E54C6574DD62}"/>
          </ac:spMkLst>
        </pc:spChg>
        <pc:spChg chg="add mod">
          <ac:chgData name="태현 고" userId="e678494651c46122" providerId="LiveId" clId="{539C6FA0-F84E-4B39-A3A5-84203512A6BB}" dt="2026-08-04T01:35:56.893" v="194" actId="1076"/>
          <ac:spMkLst>
            <pc:docMk/>
            <pc:sldMk cId="154032930" sldId="966"/>
            <ac:spMk id="9" creationId="{704682DE-4A93-09F3-88EA-24B44D2BBF3B}"/>
          </ac:spMkLst>
        </pc:spChg>
        <pc:spChg chg="add mod">
          <ac:chgData name="태현 고" userId="e678494651c46122" providerId="LiveId" clId="{539C6FA0-F84E-4B39-A3A5-84203512A6BB}" dt="2026-08-04T01:52:23.810" v="1124" actId="113"/>
          <ac:spMkLst>
            <pc:docMk/>
            <pc:sldMk cId="154032930" sldId="966"/>
            <ac:spMk id="11" creationId="{768D08CE-4251-CF25-5573-38DB8E5D4BB1}"/>
          </ac:spMkLst>
        </pc:spChg>
        <pc:spChg chg="add mod">
          <ac:chgData name="태현 고" userId="e678494651c46122" providerId="LiveId" clId="{539C6FA0-F84E-4B39-A3A5-84203512A6BB}" dt="2026-08-04T04:26:37.699" v="5894" actId="20577"/>
          <ac:spMkLst>
            <pc:docMk/>
            <pc:sldMk cId="154032930" sldId="966"/>
            <ac:spMk id="14" creationId="{13AFCACE-8F3C-74FD-57DF-92FEDF4B045B}"/>
          </ac:spMkLst>
        </pc:spChg>
        <pc:spChg chg="add mod">
          <ac:chgData name="태현 고" userId="e678494651c46122" providerId="LiveId" clId="{539C6FA0-F84E-4B39-A3A5-84203512A6BB}" dt="2026-08-04T04:26:43.262" v="5898" actId="20577"/>
          <ac:spMkLst>
            <pc:docMk/>
            <pc:sldMk cId="154032930" sldId="966"/>
            <ac:spMk id="18" creationId="{A8287151-C2A6-723B-E73E-A541A4416A44}"/>
          </ac:spMkLst>
        </pc:spChg>
        <pc:spChg chg="add mod">
          <ac:chgData name="태현 고" userId="e678494651c46122" providerId="LiveId" clId="{539C6FA0-F84E-4B39-A3A5-84203512A6BB}" dt="2026-08-04T04:26:40.379" v="5896" actId="20577"/>
          <ac:spMkLst>
            <pc:docMk/>
            <pc:sldMk cId="154032930" sldId="966"/>
            <ac:spMk id="20" creationId="{C56E77AC-62A0-EDCC-2AED-295AE93D4771}"/>
          </ac:spMkLst>
        </pc:spChg>
      </pc:sldChg>
      <pc:sldChg chg="addSp delSp modSp add del mod modNotesTx">
        <pc:chgData name="태현 고" userId="e678494651c46122" providerId="LiveId" clId="{539C6FA0-F84E-4B39-A3A5-84203512A6BB}" dt="2026-08-07T00:23:35.755" v="10290" actId="20577"/>
        <pc:sldMkLst>
          <pc:docMk/>
          <pc:sldMk cId="1017187676" sldId="967"/>
        </pc:sldMkLst>
        <pc:spChg chg="mod">
          <ac:chgData name="태현 고" userId="e678494651c46122" providerId="LiveId" clId="{539C6FA0-F84E-4B39-A3A5-84203512A6BB}" dt="2026-08-04T04:26:27.384" v="5892" actId="20577"/>
          <ac:spMkLst>
            <pc:docMk/>
            <pc:sldMk cId="1017187676" sldId="967"/>
            <ac:spMk id="5" creationId="{8096A923-4027-2A62-30DB-AA6989E29A89}"/>
          </ac:spMkLst>
        </pc:spChg>
        <pc:spChg chg="mod">
          <ac:chgData name="태현 고" userId="e678494651c46122" providerId="LiveId" clId="{539C6FA0-F84E-4B39-A3A5-84203512A6BB}" dt="2026-08-04T04:26:26.156" v="5891"/>
          <ac:spMkLst>
            <pc:docMk/>
            <pc:sldMk cId="1017187676" sldId="967"/>
            <ac:spMk id="7" creationId="{5F7551AF-B473-2C87-C7A3-E6B461C2E4A6}"/>
          </ac:spMkLst>
        </pc:spChg>
        <pc:spChg chg="mod">
          <ac:chgData name="태현 고" userId="e678494651c46122" providerId="LiveId" clId="{539C6FA0-F84E-4B39-A3A5-84203512A6BB}" dt="2026-08-04T04:27:09.066" v="5910" actId="1076"/>
          <ac:spMkLst>
            <pc:docMk/>
            <pc:sldMk cId="1017187676" sldId="967"/>
            <ac:spMk id="9" creationId="{360A9C30-F54A-8D5D-342C-7D2B325A8DDF}"/>
          </ac:spMkLst>
        </pc:spChg>
        <pc:spChg chg="add mod">
          <ac:chgData name="태현 고" userId="e678494651c46122" providerId="LiveId" clId="{539C6FA0-F84E-4B39-A3A5-84203512A6BB}" dt="2026-08-04T01:47:54.683" v="919" actId="1036"/>
          <ac:spMkLst>
            <pc:docMk/>
            <pc:sldMk cId="1017187676" sldId="967"/>
            <ac:spMk id="10" creationId="{5D271610-4BBE-1D17-E564-2679F081EC05}"/>
          </ac:spMkLst>
        </pc:spChg>
        <pc:spChg chg="mod">
          <ac:chgData name="태현 고" userId="e678494651c46122" providerId="LiveId" clId="{539C6FA0-F84E-4B39-A3A5-84203512A6BB}" dt="2026-08-04T01:51:17.092" v="1068"/>
          <ac:spMkLst>
            <pc:docMk/>
            <pc:sldMk cId="1017187676" sldId="967"/>
            <ac:spMk id="11" creationId="{F92E3882-8920-CCB1-8B0A-A6B3F04CE1D3}"/>
          </ac:spMkLst>
        </pc:spChg>
        <pc:spChg chg="add mod">
          <ac:chgData name="태현 고" userId="e678494651c46122" providerId="LiveId" clId="{539C6FA0-F84E-4B39-A3A5-84203512A6BB}" dt="2026-08-04T01:47:54.683" v="919" actId="1036"/>
          <ac:spMkLst>
            <pc:docMk/>
            <pc:sldMk cId="1017187676" sldId="967"/>
            <ac:spMk id="13" creationId="{FCE221D4-04B0-1854-F51D-AEBB01C7A36F}"/>
          </ac:spMkLst>
        </pc:spChg>
        <pc:spChg chg="mod">
          <ac:chgData name="태현 고" userId="e678494651c46122" providerId="LiveId" clId="{539C6FA0-F84E-4B39-A3A5-84203512A6BB}" dt="2026-08-04T04:26:49.762" v="5900" actId="20577"/>
          <ac:spMkLst>
            <pc:docMk/>
            <pc:sldMk cId="1017187676" sldId="967"/>
            <ac:spMk id="14" creationId="{D94BCF5D-9B5B-BC6D-1D60-185AF21476E1}"/>
          </ac:spMkLst>
        </pc:spChg>
        <pc:spChg chg="mod">
          <ac:chgData name="태현 고" userId="e678494651c46122" providerId="LiveId" clId="{539C6FA0-F84E-4B39-A3A5-84203512A6BB}" dt="2026-08-04T01:45:23.464" v="711" actId="1076"/>
          <ac:spMkLst>
            <pc:docMk/>
            <pc:sldMk cId="1017187676" sldId="967"/>
            <ac:spMk id="16" creationId="{204F1652-1967-8D9F-257B-A5223AE774A6}"/>
          </ac:spMkLst>
        </pc:spChg>
        <pc:spChg chg="add mod">
          <ac:chgData name="태현 고" userId="e678494651c46122" providerId="LiveId" clId="{539C6FA0-F84E-4B39-A3A5-84203512A6BB}" dt="2026-08-04T01:50:35.435" v="1054" actId="207"/>
          <ac:spMkLst>
            <pc:docMk/>
            <pc:sldMk cId="1017187676" sldId="967"/>
            <ac:spMk id="17" creationId="{E96A3605-F2D2-ADB2-DB2D-D58DFB77E7A1}"/>
          </ac:spMkLst>
        </pc:spChg>
        <pc:spChg chg="mod">
          <ac:chgData name="태현 고" userId="e678494651c46122" providerId="LiveId" clId="{539C6FA0-F84E-4B39-A3A5-84203512A6BB}" dt="2026-08-04T04:26:57.399" v="5906" actId="20577"/>
          <ac:spMkLst>
            <pc:docMk/>
            <pc:sldMk cId="1017187676" sldId="967"/>
            <ac:spMk id="18" creationId="{7E7D10D2-37F0-FDF5-94ED-0E700E2757D2}"/>
          </ac:spMkLst>
        </pc:spChg>
        <pc:spChg chg="add mod">
          <ac:chgData name="태현 고" userId="e678494651c46122" providerId="LiveId" clId="{539C6FA0-F84E-4B39-A3A5-84203512A6BB}" dt="2026-08-04T01:48:50.341" v="959" actId="1076"/>
          <ac:spMkLst>
            <pc:docMk/>
            <pc:sldMk cId="1017187676" sldId="967"/>
            <ac:spMk id="19" creationId="{9C883954-AA6E-2934-83BB-6805613A6C20}"/>
          </ac:spMkLst>
        </pc:spChg>
        <pc:spChg chg="mod">
          <ac:chgData name="태현 고" userId="e678494651c46122" providerId="LiveId" clId="{539C6FA0-F84E-4B39-A3A5-84203512A6BB}" dt="2026-08-04T04:26:55.191" v="5904" actId="20577"/>
          <ac:spMkLst>
            <pc:docMk/>
            <pc:sldMk cId="1017187676" sldId="967"/>
            <ac:spMk id="20" creationId="{28A544BA-053F-745B-0402-601944BD474A}"/>
          </ac:spMkLst>
        </pc:spChg>
        <pc:spChg chg="add mod">
          <ac:chgData name="태현 고" userId="e678494651c46122" providerId="LiveId" clId="{539C6FA0-F84E-4B39-A3A5-84203512A6BB}" dt="2026-08-04T01:49:39.699" v="1046" actId="1076"/>
          <ac:spMkLst>
            <pc:docMk/>
            <pc:sldMk cId="1017187676" sldId="967"/>
            <ac:spMk id="24" creationId="{26BF6AD0-965B-FCDE-841D-9B4A3CDED04C}"/>
          </ac:spMkLst>
        </pc:spChg>
        <pc:spChg chg="add mod">
          <ac:chgData name="태현 고" userId="e678494651c46122" providerId="LiveId" clId="{539C6FA0-F84E-4B39-A3A5-84203512A6BB}" dt="2026-08-04T01:49:42.818" v="1047" actId="1076"/>
          <ac:spMkLst>
            <pc:docMk/>
            <pc:sldMk cId="1017187676" sldId="967"/>
            <ac:spMk id="26" creationId="{5C0481D7-6734-99AE-FAD0-0573E382DAC6}"/>
          </ac:spMkLst>
        </pc:spChg>
        <pc:spChg chg="add mod">
          <ac:chgData name="태현 고" userId="e678494651c46122" providerId="LiveId" clId="{539C6FA0-F84E-4B39-A3A5-84203512A6BB}" dt="2026-08-04T01:51:52.001" v="1114" actId="14100"/>
          <ac:spMkLst>
            <pc:docMk/>
            <pc:sldMk cId="1017187676" sldId="967"/>
            <ac:spMk id="30" creationId="{3C14AC9D-EA5F-2932-5A22-B140BE5EDD06}"/>
          </ac:spMkLst>
        </pc:spChg>
        <pc:grpChg chg="mod">
          <ac:chgData name="태현 고" userId="e678494651c46122" providerId="LiveId" clId="{539C6FA0-F84E-4B39-A3A5-84203512A6BB}" dt="2026-08-04T04:26:26.156" v="5891"/>
          <ac:grpSpMkLst>
            <pc:docMk/>
            <pc:sldMk cId="1017187676" sldId="967"/>
            <ac:grpSpMk id="3" creationId="{DDF6190E-DEEE-F4D0-FC8D-B7D85B659261}"/>
          </ac:grpSpMkLst>
        </pc:grpChg>
        <pc:cxnChg chg="add mod ord">
          <ac:chgData name="태현 고" userId="e678494651c46122" providerId="LiveId" clId="{539C6FA0-F84E-4B39-A3A5-84203512A6BB}" dt="2026-08-04T01:51:04.223" v="1067" actId="167"/>
          <ac:cxnSpMkLst>
            <pc:docMk/>
            <pc:sldMk cId="1017187676" sldId="967"/>
            <ac:cxnSpMk id="28" creationId="{E9338876-9B0A-78B6-DF4F-A04700D21004}"/>
          </ac:cxnSpMkLst>
        </pc:cxnChg>
      </pc:sldChg>
      <pc:sldChg chg="addSp delSp modSp add del mod modNotesTx">
        <pc:chgData name="태현 고" userId="e678494651c46122" providerId="LiveId" clId="{539C6FA0-F84E-4B39-A3A5-84203512A6BB}" dt="2026-08-07T04:37:06.260" v="10809" actId="20577"/>
        <pc:sldMkLst>
          <pc:docMk/>
          <pc:sldMk cId="2429158789" sldId="968"/>
        </pc:sldMkLst>
        <pc:spChg chg="add mod">
          <ac:chgData name="태현 고" userId="e678494651c46122" providerId="LiveId" clId="{539C6FA0-F84E-4B39-A3A5-84203512A6BB}" dt="2026-08-04T02:20:47.906" v="1878" actId="1076"/>
          <ac:spMkLst>
            <pc:docMk/>
            <pc:sldMk cId="2429158789" sldId="968"/>
            <ac:spMk id="3" creationId="{3F711373-EF6C-3D65-DC77-2BB69777B375}"/>
          </ac:spMkLst>
        </pc:spChg>
        <pc:spChg chg="add mod">
          <ac:chgData name="태현 고" userId="e678494651c46122" providerId="LiveId" clId="{539C6FA0-F84E-4B39-A3A5-84203512A6BB}" dt="2026-08-04T02:20:47.906" v="1878" actId="1076"/>
          <ac:spMkLst>
            <pc:docMk/>
            <pc:sldMk cId="2429158789" sldId="968"/>
            <ac:spMk id="5" creationId="{AFC1821E-BEA2-138D-9A8F-AE399439583F}"/>
          </ac:spMkLst>
        </pc:spChg>
        <pc:spChg chg="add mod">
          <ac:chgData name="태현 고" userId="e678494651c46122" providerId="LiveId" clId="{539C6FA0-F84E-4B39-A3A5-84203512A6BB}" dt="2026-08-04T02:20:47.906" v="1878" actId="1076"/>
          <ac:spMkLst>
            <pc:docMk/>
            <pc:sldMk cId="2429158789" sldId="968"/>
            <ac:spMk id="6" creationId="{486F340C-9613-27CC-F795-9889CDEC3FBA}"/>
          </ac:spMkLst>
        </pc:spChg>
        <pc:spChg chg="add mod">
          <ac:chgData name="태현 고" userId="e678494651c46122" providerId="LiveId" clId="{539C6FA0-F84E-4B39-A3A5-84203512A6BB}" dt="2026-08-04T02:18:22.642" v="1713" actId="207"/>
          <ac:spMkLst>
            <pc:docMk/>
            <pc:sldMk cId="2429158789" sldId="968"/>
            <ac:spMk id="15" creationId="{048FBCF0-5410-B30A-031B-5B0C3826C91E}"/>
          </ac:spMkLst>
        </pc:spChg>
        <pc:spChg chg="add mod">
          <ac:chgData name="태현 고" userId="e678494651c46122" providerId="LiveId" clId="{539C6FA0-F84E-4B39-A3A5-84203512A6BB}" dt="2026-08-04T02:18:22.642" v="1713" actId="207"/>
          <ac:spMkLst>
            <pc:docMk/>
            <pc:sldMk cId="2429158789" sldId="968"/>
            <ac:spMk id="19" creationId="{6377E58C-1D49-753F-B120-817FBDEC2DED}"/>
          </ac:spMkLst>
        </pc:spChg>
        <pc:spChg chg="add mod">
          <ac:chgData name="태현 고" userId="e678494651c46122" providerId="LiveId" clId="{539C6FA0-F84E-4B39-A3A5-84203512A6BB}" dt="2026-08-04T02:18:22.642" v="1713" actId="207"/>
          <ac:spMkLst>
            <pc:docMk/>
            <pc:sldMk cId="2429158789" sldId="968"/>
            <ac:spMk id="23" creationId="{C1B470AB-099F-1DAB-130A-05E4C3057A19}"/>
          </ac:spMkLst>
        </pc:spChg>
        <pc:spChg chg="mod">
          <ac:chgData name="태현 고" userId="e678494651c46122" providerId="LiveId" clId="{539C6FA0-F84E-4B39-A3A5-84203512A6BB}" dt="2026-08-04T04:20:17.041" v="5755" actId="207"/>
          <ac:spMkLst>
            <pc:docMk/>
            <pc:sldMk cId="2429158789" sldId="968"/>
            <ac:spMk id="24" creationId="{078252C6-ED24-E80C-3905-48CA1CF44919}"/>
          </ac:spMkLst>
        </pc:spChg>
        <pc:spChg chg="add mod">
          <ac:chgData name="태현 고" userId="e678494651c46122" providerId="LiveId" clId="{539C6FA0-F84E-4B39-A3A5-84203512A6BB}" dt="2026-08-04T02:18:22.642" v="1713" actId="207"/>
          <ac:spMkLst>
            <pc:docMk/>
            <pc:sldMk cId="2429158789" sldId="968"/>
            <ac:spMk id="31" creationId="{597F7665-C6B8-BED2-BA1C-5ED43B7EB0FD}"/>
          </ac:spMkLst>
        </pc:spChg>
        <pc:spChg chg="add mod">
          <ac:chgData name="태현 고" userId="e678494651c46122" providerId="LiveId" clId="{539C6FA0-F84E-4B39-A3A5-84203512A6BB}" dt="2026-08-04T02:20:47.906" v="1878" actId="1076"/>
          <ac:spMkLst>
            <pc:docMk/>
            <pc:sldMk cId="2429158789" sldId="968"/>
            <ac:spMk id="33" creationId="{08E662FD-971F-576E-FD1A-4CCA70702212}"/>
          </ac:spMkLst>
        </pc:spChg>
        <pc:spChg chg="add mod">
          <ac:chgData name="태현 고" userId="e678494651c46122" providerId="LiveId" clId="{539C6FA0-F84E-4B39-A3A5-84203512A6BB}" dt="2026-08-04T04:02:10.063" v="2842" actId="20577"/>
          <ac:spMkLst>
            <pc:docMk/>
            <pc:sldMk cId="2429158789" sldId="968"/>
            <ac:spMk id="34" creationId="{ED04D7B7-B3A7-1447-80E0-689ED9F851A8}"/>
          </ac:spMkLst>
        </pc:spChg>
        <pc:spChg chg="add mod">
          <ac:chgData name="태현 고" userId="e678494651c46122" providerId="LiveId" clId="{539C6FA0-F84E-4B39-A3A5-84203512A6BB}" dt="2026-08-04T03:49:55.368" v="2748" actId="1076"/>
          <ac:spMkLst>
            <pc:docMk/>
            <pc:sldMk cId="2429158789" sldId="968"/>
            <ac:spMk id="35" creationId="{597D1051-9E60-C3A3-3711-C2D9B542D4F0}"/>
          </ac:spMkLst>
        </pc:spChg>
        <pc:grpChg chg="add mod">
          <ac:chgData name="태현 고" userId="e678494651c46122" providerId="LiveId" clId="{539C6FA0-F84E-4B39-A3A5-84203512A6BB}" dt="2026-08-04T02:20:04.516" v="1874" actId="1076"/>
          <ac:grpSpMkLst>
            <pc:docMk/>
            <pc:sldMk cId="2429158789" sldId="968"/>
            <ac:grpSpMk id="32" creationId="{D408A344-CDBF-850B-AC70-783C386FCC82}"/>
          </ac:grpSpMkLst>
        </pc:grpChg>
        <pc:cxnChg chg="add mod">
          <ac:chgData name="태현 고" userId="e678494651c46122" providerId="LiveId" clId="{539C6FA0-F84E-4B39-A3A5-84203512A6BB}" dt="2026-08-04T02:15:40.739" v="1635" actId="164"/>
          <ac:cxnSpMkLst>
            <pc:docMk/>
            <pc:sldMk cId="2429158789" sldId="968"/>
            <ac:cxnSpMk id="8" creationId="{7927A196-B2FA-D104-EDA1-AC0AFDD357FE}"/>
          </ac:cxnSpMkLst>
        </pc:cxnChg>
        <pc:cxnChg chg="add mod">
          <ac:chgData name="태현 고" userId="e678494651c46122" providerId="LiveId" clId="{539C6FA0-F84E-4B39-A3A5-84203512A6BB}" dt="2026-08-04T02:15:40.739" v="1635" actId="164"/>
          <ac:cxnSpMkLst>
            <pc:docMk/>
            <pc:sldMk cId="2429158789" sldId="968"/>
            <ac:cxnSpMk id="9" creationId="{DE6B6BC1-E8F1-4C3D-361C-E4307F8D4B00}"/>
          </ac:cxnSpMkLst>
        </pc:cxnChg>
      </pc:sldChg>
      <pc:sldChg chg="addSp delSp modSp add del mod modNotesTx">
        <pc:chgData name="태현 고" userId="e678494651c46122" providerId="LiveId" clId="{539C6FA0-F84E-4B39-A3A5-84203512A6BB}" dt="2026-08-07T04:41:05.034" v="10976" actId="22"/>
        <pc:sldMkLst>
          <pc:docMk/>
          <pc:sldMk cId="3252840452" sldId="969"/>
        </pc:sldMkLst>
        <pc:spChg chg="add">
          <ac:chgData name="태현 고" userId="e678494651c46122" providerId="LiveId" clId="{539C6FA0-F84E-4B39-A3A5-84203512A6BB}" dt="2026-08-07T04:41:05.034" v="10976" actId="22"/>
          <ac:spMkLst>
            <pc:docMk/>
            <pc:sldMk cId="3252840452" sldId="969"/>
            <ac:spMk id="5" creationId="{25E1590B-6BA2-C834-ECC9-126E76A66414}"/>
          </ac:spMkLst>
        </pc:spChg>
        <pc:spChg chg="mod">
          <ac:chgData name="태현 고" userId="e678494651c46122" providerId="LiveId" clId="{539C6FA0-F84E-4B39-A3A5-84203512A6BB}" dt="2026-08-04T04:20:24.881" v="5756" actId="207"/>
          <ac:spMkLst>
            <pc:docMk/>
            <pc:sldMk cId="3252840452" sldId="969"/>
            <ac:spMk id="24" creationId="{DC524A57-1F13-553C-B641-803B3BA66A8D}"/>
          </ac:spMkLst>
        </pc:spChg>
        <pc:spChg chg="add mod">
          <ac:chgData name="태현 고" userId="e678494651c46122" providerId="LiveId" clId="{539C6FA0-F84E-4B39-A3A5-84203512A6BB}" dt="2026-08-04T02:23:35.673" v="1908" actId="1076"/>
          <ac:spMkLst>
            <pc:docMk/>
            <pc:sldMk cId="3252840452" sldId="969"/>
            <ac:spMk id="29" creationId="{42C89302-8D5E-74C9-0E34-1185EDBFF4EF}"/>
          </ac:spMkLst>
        </pc:spChg>
        <pc:spChg chg="add mod">
          <ac:chgData name="태현 고" userId="e678494651c46122" providerId="LiveId" clId="{539C6FA0-F84E-4B39-A3A5-84203512A6BB}" dt="2026-08-04T02:23:39.507" v="1910" actId="1076"/>
          <ac:spMkLst>
            <pc:docMk/>
            <pc:sldMk cId="3252840452" sldId="969"/>
            <ac:spMk id="36" creationId="{2228519E-5EFC-802A-B649-230E726E5C05}"/>
          </ac:spMkLst>
        </pc:spChg>
        <pc:spChg chg="add mod">
          <ac:chgData name="태현 고" userId="e678494651c46122" providerId="LiveId" clId="{539C6FA0-F84E-4B39-A3A5-84203512A6BB}" dt="2026-08-04T02:23:46.023" v="1912" actId="1076"/>
          <ac:spMkLst>
            <pc:docMk/>
            <pc:sldMk cId="3252840452" sldId="969"/>
            <ac:spMk id="38" creationId="{AB086D2C-9E39-22EE-299B-695EE31A05DF}"/>
          </ac:spMkLst>
        </pc:spChg>
        <pc:spChg chg="add mod">
          <ac:chgData name="태현 고" userId="e678494651c46122" providerId="LiveId" clId="{539C6FA0-F84E-4B39-A3A5-84203512A6BB}" dt="2026-08-04T02:23:50.241" v="1914" actId="1076"/>
          <ac:spMkLst>
            <pc:docMk/>
            <pc:sldMk cId="3252840452" sldId="969"/>
            <ac:spMk id="40" creationId="{7DF1C25A-CEDB-EA1F-2A11-B6CD3802F20A}"/>
          </ac:spMkLst>
        </pc:spChg>
        <pc:spChg chg="add mod">
          <ac:chgData name="태현 고" userId="e678494651c46122" providerId="LiveId" clId="{539C6FA0-F84E-4B39-A3A5-84203512A6BB}" dt="2026-08-04T02:23:54.237" v="1916" actId="1076"/>
          <ac:spMkLst>
            <pc:docMk/>
            <pc:sldMk cId="3252840452" sldId="969"/>
            <ac:spMk id="42" creationId="{653EE5D6-31FC-9B10-A2A4-C35BB86A7E41}"/>
          </ac:spMkLst>
        </pc:spChg>
        <pc:spChg chg="add mod">
          <ac:chgData name="태현 고" userId="e678494651c46122" providerId="LiveId" clId="{539C6FA0-F84E-4B39-A3A5-84203512A6BB}" dt="2026-08-04T02:24:28.207" v="1920" actId="1076"/>
          <ac:spMkLst>
            <pc:docMk/>
            <pc:sldMk cId="3252840452" sldId="969"/>
            <ac:spMk id="43" creationId="{D4444B5F-16D7-317B-0127-DA1CD6027461}"/>
          </ac:spMkLst>
        </pc:spChg>
        <pc:spChg chg="add mod">
          <ac:chgData name="태현 고" userId="e678494651c46122" providerId="LiveId" clId="{539C6FA0-F84E-4B39-A3A5-84203512A6BB}" dt="2026-08-04T02:24:34.975" v="1922" actId="1076"/>
          <ac:spMkLst>
            <pc:docMk/>
            <pc:sldMk cId="3252840452" sldId="969"/>
            <ac:spMk id="45" creationId="{11DE3065-EB3F-8EA8-AA1C-E87116D24D36}"/>
          </ac:spMkLst>
        </pc:spChg>
        <pc:spChg chg="add mod">
          <ac:chgData name="태현 고" userId="e678494651c46122" providerId="LiveId" clId="{539C6FA0-F84E-4B39-A3A5-84203512A6BB}" dt="2026-08-04T02:24:40.938" v="1924" actId="1076"/>
          <ac:spMkLst>
            <pc:docMk/>
            <pc:sldMk cId="3252840452" sldId="969"/>
            <ac:spMk id="47" creationId="{DA1F3A5A-A1DE-A84C-AE2C-8CA9C3D28738}"/>
          </ac:spMkLst>
        </pc:spChg>
        <pc:spChg chg="add mod">
          <ac:chgData name="태현 고" userId="e678494651c46122" providerId="LiveId" clId="{539C6FA0-F84E-4B39-A3A5-84203512A6BB}" dt="2026-08-04T02:24:44.959" v="1926" actId="1076"/>
          <ac:spMkLst>
            <pc:docMk/>
            <pc:sldMk cId="3252840452" sldId="969"/>
            <ac:spMk id="49" creationId="{04649C36-5C03-D6F2-4F9D-37B47204772A}"/>
          </ac:spMkLst>
        </pc:spChg>
        <pc:spChg chg="add mod">
          <ac:chgData name="태현 고" userId="e678494651c46122" providerId="LiveId" clId="{539C6FA0-F84E-4B39-A3A5-84203512A6BB}" dt="2026-08-04T02:24:49.272" v="1928" actId="1076"/>
          <ac:spMkLst>
            <pc:docMk/>
            <pc:sldMk cId="3252840452" sldId="969"/>
            <ac:spMk id="51" creationId="{B8296FF2-33BD-A561-7CE4-5B033335B9B4}"/>
          </ac:spMkLst>
        </pc:spChg>
        <pc:spChg chg="add mod">
          <ac:chgData name="태현 고" userId="e678494651c46122" providerId="LiveId" clId="{539C6FA0-F84E-4B39-A3A5-84203512A6BB}" dt="2026-08-04T02:25:30.326" v="1937" actId="1076"/>
          <ac:spMkLst>
            <pc:docMk/>
            <pc:sldMk cId="3252840452" sldId="969"/>
            <ac:spMk id="52" creationId="{9B023963-70B2-C626-BE6C-865190F64730}"/>
          </ac:spMkLst>
        </pc:spChg>
        <pc:spChg chg="add mod">
          <ac:chgData name="태현 고" userId="e678494651c46122" providerId="LiveId" clId="{539C6FA0-F84E-4B39-A3A5-84203512A6BB}" dt="2026-08-04T02:25:38.955" v="1939" actId="1076"/>
          <ac:spMkLst>
            <pc:docMk/>
            <pc:sldMk cId="3252840452" sldId="969"/>
            <ac:spMk id="54" creationId="{6BABD59F-122F-E258-FA1B-6FFBAEA94A08}"/>
          </ac:spMkLst>
        </pc:spChg>
        <pc:spChg chg="add mod">
          <ac:chgData name="태현 고" userId="e678494651c46122" providerId="LiveId" clId="{539C6FA0-F84E-4B39-A3A5-84203512A6BB}" dt="2026-08-04T02:25:47.036" v="1943" actId="20577"/>
          <ac:spMkLst>
            <pc:docMk/>
            <pc:sldMk cId="3252840452" sldId="969"/>
            <ac:spMk id="56" creationId="{0DF7598B-8A8F-9BE7-0703-0D5D29CDBB75}"/>
          </ac:spMkLst>
        </pc:spChg>
        <pc:spChg chg="add mod">
          <ac:chgData name="태현 고" userId="e678494651c46122" providerId="LiveId" clId="{539C6FA0-F84E-4B39-A3A5-84203512A6BB}" dt="2026-08-04T02:25:58.394" v="1947" actId="1076"/>
          <ac:spMkLst>
            <pc:docMk/>
            <pc:sldMk cId="3252840452" sldId="969"/>
            <ac:spMk id="60" creationId="{DE9F19D4-9BF4-F35E-2C87-D3EFC6DDC1FA}"/>
          </ac:spMkLst>
        </pc:spChg>
        <pc:spChg chg="add mod">
          <ac:chgData name="태현 고" userId="e678494651c46122" providerId="LiveId" clId="{539C6FA0-F84E-4B39-A3A5-84203512A6BB}" dt="2026-08-04T02:26:08.206" v="1951" actId="20577"/>
          <ac:spMkLst>
            <pc:docMk/>
            <pc:sldMk cId="3252840452" sldId="969"/>
            <ac:spMk id="62" creationId="{89841B68-67B7-67C9-4385-44AFD98E3ECE}"/>
          </ac:spMkLst>
        </pc:spChg>
        <pc:spChg chg="add mod">
          <ac:chgData name="태현 고" userId="e678494651c46122" providerId="LiveId" clId="{539C6FA0-F84E-4B39-A3A5-84203512A6BB}" dt="2026-08-04T02:26:18.326" v="1955" actId="20577"/>
          <ac:spMkLst>
            <pc:docMk/>
            <pc:sldMk cId="3252840452" sldId="969"/>
            <ac:spMk id="64" creationId="{B47A8743-97BE-7910-013E-0955A7904285}"/>
          </ac:spMkLst>
        </pc:spChg>
        <pc:spChg chg="add mod">
          <ac:chgData name="태현 고" userId="e678494651c46122" providerId="LiveId" clId="{539C6FA0-F84E-4B39-A3A5-84203512A6BB}" dt="2026-08-04T02:26:26.461" v="1959" actId="20577"/>
          <ac:spMkLst>
            <pc:docMk/>
            <pc:sldMk cId="3252840452" sldId="969"/>
            <ac:spMk id="66" creationId="{2AA8CB33-76A6-A9EE-0A92-BD8F24B0B215}"/>
          </ac:spMkLst>
        </pc:spChg>
        <pc:spChg chg="add mod">
          <ac:chgData name="태현 고" userId="e678494651c46122" providerId="LiveId" clId="{539C6FA0-F84E-4B39-A3A5-84203512A6BB}" dt="2026-08-04T02:26:33.426" v="1961" actId="1076"/>
          <ac:spMkLst>
            <pc:docMk/>
            <pc:sldMk cId="3252840452" sldId="969"/>
            <ac:spMk id="68" creationId="{D00A72ED-9D90-D662-9EB4-5E1B1F4F729E}"/>
          </ac:spMkLst>
        </pc:spChg>
        <pc:spChg chg="add mod">
          <ac:chgData name="태현 고" userId="e678494651c46122" providerId="LiveId" clId="{539C6FA0-F84E-4B39-A3A5-84203512A6BB}" dt="2026-08-04T02:26:44.363" v="1965" actId="20577"/>
          <ac:spMkLst>
            <pc:docMk/>
            <pc:sldMk cId="3252840452" sldId="969"/>
            <ac:spMk id="70" creationId="{958CF77C-64F9-7863-E736-E2DE68DB2E4A}"/>
          </ac:spMkLst>
        </pc:spChg>
        <pc:spChg chg="add mod">
          <ac:chgData name="태현 고" userId="e678494651c46122" providerId="LiveId" clId="{539C6FA0-F84E-4B39-A3A5-84203512A6BB}" dt="2026-08-04T02:26:48.877" v="1967" actId="1076"/>
          <ac:spMkLst>
            <pc:docMk/>
            <pc:sldMk cId="3252840452" sldId="969"/>
            <ac:spMk id="72" creationId="{3B6AF4C2-FA09-6583-03E6-C14852F32C03}"/>
          </ac:spMkLst>
        </pc:spChg>
        <pc:spChg chg="add mod">
          <ac:chgData name="태현 고" userId="e678494651c46122" providerId="LiveId" clId="{539C6FA0-F84E-4B39-A3A5-84203512A6BB}" dt="2026-08-04T02:27:09.660" v="1980" actId="1076"/>
          <ac:spMkLst>
            <pc:docMk/>
            <pc:sldMk cId="3252840452" sldId="969"/>
            <ac:spMk id="73" creationId="{D09FD3D7-F0F4-8D0E-327C-E5B09CB06843}"/>
          </ac:spMkLst>
        </pc:spChg>
        <pc:spChg chg="add mod">
          <ac:chgData name="태현 고" userId="e678494651c46122" providerId="LiveId" clId="{539C6FA0-F84E-4B39-A3A5-84203512A6BB}" dt="2026-08-04T02:28:51.744" v="2008" actId="207"/>
          <ac:spMkLst>
            <pc:docMk/>
            <pc:sldMk cId="3252840452" sldId="969"/>
            <ac:spMk id="74" creationId="{7E20DB67-A863-2C2B-8313-6CAE51541D3A}"/>
          </ac:spMkLst>
        </pc:spChg>
        <pc:spChg chg="add mod">
          <ac:chgData name="태현 고" userId="e678494651c46122" providerId="LiveId" clId="{539C6FA0-F84E-4B39-A3A5-84203512A6BB}" dt="2026-08-04T02:29:03.831" v="2009" actId="207"/>
          <ac:spMkLst>
            <pc:docMk/>
            <pc:sldMk cId="3252840452" sldId="969"/>
            <ac:spMk id="76" creationId="{7019B193-F1E6-E2D7-1558-D01A0A1EC183}"/>
          </ac:spMkLst>
        </pc:spChg>
        <pc:spChg chg="add mod">
          <ac:chgData name="태현 고" userId="e678494651c46122" providerId="LiveId" clId="{539C6FA0-F84E-4B39-A3A5-84203512A6BB}" dt="2026-08-04T02:29:03.831" v="2009" actId="207"/>
          <ac:spMkLst>
            <pc:docMk/>
            <pc:sldMk cId="3252840452" sldId="969"/>
            <ac:spMk id="78" creationId="{26CA8305-9CFC-D278-1FA5-D73D41586FD8}"/>
          </ac:spMkLst>
        </pc:spChg>
        <pc:spChg chg="add mod">
          <ac:chgData name="태현 고" userId="e678494651c46122" providerId="LiveId" clId="{539C6FA0-F84E-4B39-A3A5-84203512A6BB}" dt="2026-08-04T02:29:03.831" v="2009" actId="207"/>
          <ac:spMkLst>
            <pc:docMk/>
            <pc:sldMk cId="3252840452" sldId="969"/>
            <ac:spMk id="80" creationId="{115C0BEC-F6A4-3758-608F-E85E3FDB9B4D}"/>
          </ac:spMkLst>
        </pc:spChg>
        <pc:spChg chg="add mod">
          <ac:chgData name="태현 고" userId="e678494651c46122" providerId="LiveId" clId="{539C6FA0-F84E-4B39-A3A5-84203512A6BB}" dt="2026-08-04T02:29:03.831" v="2009" actId="207"/>
          <ac:spMkLst>
            <pc:docMk/>
            <pc:sldMk cId="3252840452" sldId="969"/>
            <ac:spMk id="82" creationId="{F2B01F52-BA31-3478-5CD3-2EDBEE722F69}"/>
          </ac:spMkLst>
        </pc:spChg>
        <pc:spChg chg="add mod">
          <ac:chgData name="태현 고" userId="e678494651c46122" providerId="LiveId" clId="{539C6FA0-F84E-4B39-A3A5-84203512A6BB}" dt="2026-08-04T02:29:53.377" v="2014" actId="14100"/>
          <ac:spMkLst>
            <pc:docMk/>
            <pc:sldMk cId="3252840452" sldId="969"/>
            <ac:spMk id="83" creationId="{4746A98E-F4DD-C85F-677F-686A723AC033}"/>
          </ac:spMkLst>
        </pc:spChg>
        <pc:spChg chg="add mod">
          <ac:chgData name="태현 고" userId="e678494651c46122" providerId="LiveId" clId="{539C6FA0-F84E-4B39-A3A5-84203512A6BB}" dt="2026-08-04T02:30:12.061" v="2019" actId="14100"/>
          <ac:spMkLst>
            <pc:docMk/>
            <pc:sldMk cId="3252840452" sldId="969"/>
            <ac:spMk id="85" creationId="{79201DAF-BAE4-3268-1FF0-C231E95D7376}"/>
          </ac:spMkLst>
        </pc:spChg>
        <pc:spChg chg="add mod">
          <ac:chgData name="태현 고" userId="e678494651c46122" providerId="LiveId" clId="{539C6FA0-F84E-4B39-A3A5-84203512A6BB}" dt="2026-08-04T02:30:43.847" v="2044" actId="1076"/>
          <ac:spMkLst>
            <pc:docMk/>
            <pc:sldMk cId="3252840452" sldId="969"/>
            <ac:spMk id="86" creationId="{DD8889FC-6CBC-E327-C34F-0C29B163FE32}"/>
          </ac:spMkLst>
        </pc:spChg>
        <pc:spChg chg="add mod">
          <ac:chgData name="태현 고" userId="e678494651c46122" providerId="LiveId" clId="{539C6FA0-F84E-4B39-A3A5-84203512A6BB}" dt="2026-08-04T02:31:08.759" v="2053" actId="20577"/>
          <ac:spMkLst>
            <pc:docMk/>
            <pc:sldMk cId="3252840452" sldId="969"/>
            <ac:spMk id="90" creationId="{9380BCD2-0318-BC04-7ABD-BD90618FCD5D}"/>
          </ac:spMkLst>
        </pc:spChg>
        <pc:spChg chg="add mod">
          <ac:chgData name="태현 고" userId="e678494651c46122" providerId="LiveId" clId="{539C6FA0-F84E-4B39-A3A5-84203512A6BB}" dt="2026-08-04T04:22:12.407" v="5794" actId="20577"/>
          <ac:spMkLst>
            <pc:docMk/>
            <pc:sldMk cId="3252840452" sldId="969"/>
            <ac:spMk id="91" creationId="{BB201C35-EA15-E182-E64C-01E3C56869DF}"/>
          </ac:spMkLst>
        </pc:spChg>
        <pc:cxnChg chg="add mod">
          <ac:chgData name="태현 고" userId="e678494651c46122" providerId="LiveId" clId="{539C6FA0-F84E-4B39-A3A5-84203512A6BB}" dt="2026-08-04T02:21:56.994" v="1885" actId="1582"/>
          <ac:cxnSpMkLst>
            <pc:docMk/>
            <pc:sldMk cId="3252840452" sldId="969"/>
            <ac:cxnSpMk id="10" creationId="{E2EEEBD3-19F8-AD87-412B-085B23EE92A7}"/>
          </ac:cxnSpMkLst>
        </pc:cxnChg>
        <pc:cxnChg chg="add mod">
          <ac:chgData name="태현 고" userId="e678494651c46122" providerId="LiveId" clId="{539C6FA0-F84E-4B39-A3A5-84203512A6BB}" dt="2026-08-04T02:22:21.960" v="1894" actId="14100"/>
          <ac:cxnSpMkLst>
            <pc:docMk/>
            <pc:sldMk cId="3252840452" sldId="969"/>
            <ac:cxnSpMk id="11" creationId="{E83D84D8-0414-56B1-FF4A-80815FBE98B3}"/>
          </ac:cxnSpMkLst>
        </pc:cxnChg>
        <pc:cxnChg chg="add mod">
          <ac:chgData name="태현 고" userId="e678494651c46122" providerId="LiveId" clId="{539C6FA0-F84E-4B39-A3A5-84203512A6BB}" dt="2026-08-04T02:22:42.340" v="1899" actId="14100"/>
          <ac:cxnSpMkLst>
            <pc:docMk/>
            <pc:sldMk cId="3252840452" sldId="969"/>
            <ac:cxnSpMk id="12" creationId="{59487C93-42EE-BE13-0E59-1A700608B5E7}"/>
          </ac:cxnSpMkLst>
        </pc:cxnChg>
        <pc:cxnChg chg="add mod">
          <ac:chgData name="태현 고" userId="e678494651c46122" providerId="LiveId" clId="{539C6FA0-F84E-4B39-A3A5-84203512A6BB}" dt="2026-08-04T02:22:35.622" v="1897" actId="14100"/>
          <ac:cxnSpMkLst>
            <pc:docMk/>
            <pc:sldMk cId="3252840452" sldId="969"/>
            <ac:cxnSpMk id="13" creationId="{C6E8DA71-88AE-6C58-0104-5EF290C9AE40}"/>
          </ac:cxnSpMkLst>
        </pc:cxnChg>
        <pc:cxnChg chg="add mod">
          <ac:chgData name="태현 고" userId="e678494651c46122" providerId="LiveId" clId="{539C6FA0-F84E-4B39-A3A5-84203512A6BB}" dt="2026-08-04T02:22:53.656" v="1902" actId="14100"/>
          <ac:cxnSpMkLst>
            <pc:docMk/>
            <pc:sldMk cId="3252840452" sldId="969"/>
            <ac:cxnSpMk id="14" creationId="{B010C8B5-E274-5870-F297-0183F85EEC0F}"/>
          </ac:cxnSpMkLst>
        </pc:cxnChg>
      </pc:sldChg>
      <pc:sldChg chg="addSp modSp add del mod modNotesTx">
        <pc:chgData name="태현 고" userId="e678494651c46122" providerId="LiveId" clId="{539C6FA0-F84E-4B39-A3A5-84203512A6BB}" dt="2026-08-07T00:23:17.891" v="10289" actId="47"/>
        <pc:sldMkLst>
          <pc:docMk/>
          <pc:sldMk cId="1334721494" sldId="970"/>
        </pc:sldMkLst>
        <pc:spChg chg="mod">
          <ac:chgData name="태현 고" userId="e678494651c46122" providerId="LiveId" clId="{539C6FA0-F84E-4B39-A3A5-84203512A6BB}" dt="2026-08-04T04:20:28.649" v="5757" actId="207"/>
          <ac:spMkLst>
            <pc:docMk/>
            <pc:sldMk cId="1334721494" sldId="970"/>
            <ac:spMk id="24" creationId="{33F1BB9A-8269-C999-CCFF-8756990EECA7}"/>
          </ac:spMkLst>
        </pc:spChg>
        <pc:spChg chg="mod">
          <ac:chgData name="태현 고" userId="e678494651c46122" providerId="LiveId" clId="{539C6FA0-F84E-4B39-A3A5-84203512A6BB}" dt="2026-08-04T02:45:32.623" v="2542" actId="207"/>
          <ac:spMkLst>
            <pc:docMk/>
            <pc:sldMk cId="1334721494" sldId="970"/>
            <ac:spMk id="74" creationId="{7B689395-25CD-C716-EE58-6F85C52C5637}"/>
          </ac:spMkLst>
        </pc:spChg>
        <pc:spChg chg="mod">
          <ac:chgData name="태현 고" userId="e678494651c46122" providerId="LiveId" clId="{539C6FA0-F84E-4B39-A3A5-84203512A6BB}" dt="2026-08-04T02:45:32.623" v="2542" actId="207"/>
          <ac:spMkLst>
            <pc:docMk/>
            <pc:sldMk cId="1334721494" sldId="970"/>
            <ac:spMk id="76" creationId="{34F4D67A-3C81-E8E0-FA6F-2C03546F9AF6}"/>
          </ac:spMkLst>
        </pc:spChg>
        <pc:spChg chg="mod">
          <ac:chgData name="태현 고" userId="e678494651c46122" providerId="LiveId" clId="{539C6FA0-F84E-4B39-A3A5-84203512A6BB}" dt="2026-08-04T02:45:32.623" v="2542" actId="207"/>
          <ac:spMkLst>
            <pc:docMk/>
            <pc:sldMk cId="1334721494" sldId="970"/>
            <ac:spMk id="78" creationId="{9FCFD3E7-D89C-7316-D996-856C44E12566}"/>
          </ac:spMkLst>
        </pc:spChg>
        <pc:spChg chg="mod">
          <ac:chgData name="태현 고" userId="e678494651c46122" providerId="LiveId" clId="{539C6FA0-F84E-4B39-A3A5-84203512A6BB}" dt="2026-08-04T02:45:32.623" v="2542" actId="207"/>
          <ac:spMkLst>
            <pc:docMk/>
            <pc:sldMk cId="1334721494" sldId="970"/>
            <ac:spMk id="80" creationId="{D0885155-DB3D-38CF-5454-AC79E1281B66}"/>
          </ac:spMkLst>
        </pc:spChg>
        <pc:spChg chg="mod">
          <ac:chgData name="태현 고" userId="e678494651c46122" providerId="LiveId" clId="{539C6FA0-F84E-4B39-A3A5-84203512A6BB}" dt="2026-08-04T02:45:32.623" v="2542" actId="207"/>
          <ac:spMkLst>
            <pc:docMk/>
            <pc:sldMk cId="1334721494" sldId="970"/>
            <ac:spMk id="82" creationId="{5617C865-932C-C93D-E096-7385DF2D385B}"/>
          </ac:spMkLst>
        </pc:spChg>
        <pc:spChg chg="mod">
          <ac:chgData name="태현 고" userId="e678494651c46122" providerId="LiveId" clId="{539C6FA0-F84E-4B39-A3A5-84203512A6BB}" dt="2026-08-04T04:25:12.341" v="5888" actId="14100"/>
          <ac:spMkLst>
            <pc:docMk/>
            <pc:sldMk cId="1334721494" sldId="970"/>
            <ac:spMk id="85" creationId="{1F8E6B82-2953-06B1-EF60-D8A6D7195773}"/>
          </ac:spMkLst>
        </pc:spChg>
        <pc:spChg chg="mod">
          <ac:chgData name="태현 고" userId="e678494651c46122" providerId="LiveId" clId="{539C6FA0-F84E-4B39-A3A5-84203512A6BB}" dt="2026-08-04T04:24:24.817" v="5866" actId="115"/>
          <ac:spMkLst>
            <pc:docMk/>
            <pc:sldMk cId="1334721494" sldId="970"/>
            <ac:spMk id="91" creationId="{EA10A757-A931-2F0E-81B7-F0BD079EC06E}"/>
          </ac:spMkLst>
        </pc:spChg>
        <pc:spChg chg="mod">
          <ac:chgData name="태현 고" userId="e678494651c46122" providerId="LiveId" clId="{539C6FA0-F84E-4B39-A3A5-84203512A6BB}" dt="2026-08-04T04:25:01.574" v="5887" actId="1076"/>
          <ac:spMkLst>
            <pc:docMk/>
            <pc:sldMk cId="1334721494" sldId="970"/>
            <ac:spMk id="92" creationId="{FBA5C209-9D34-BD8E-9B2D-67CACE85FAC2}"/>
          </ac:spMkLst>
        </pc:spChg>
        <pc:cxnChg chg="add mod">
          <ac:chgData name="태현 고" userId="e678494651c46122" providerId="LiveId" clId="{539C6FA0-F84E-4B39-A3A5-84203512A6BB}" dt="2026-08-04T03:51:00.405" v="2751" actId="14100"/>
          <ac:cxnSpMkLst>
            <pc:docMk/>
            <pc:sldMk cId="1334721494" sldId="970"/>
            <ac:cxnSpMk id="3" creationId="{46DF5172-E802-4BFA-25EC-21243B13AE59}"/>
          </ac:cxnSpMkLst>
        </pc:cxnChg>
        <pc:cxnChg chg="add mod">
          <ac:chgData name="태현 고" userId="e678494651c46122" providerId="LiveId" clId="{539C6FA0-F84E-4B39-A3A5-84203512A6BB}" dt="2026-08-04T02:45:32.623" v="2542" actId="207"/>
          <ac:cxnSpMkLst>
            <pc:docMk/>
            <pc:sldMk cId="1334721494" sldId="970"/>
            <ac:cxnSpMk id="5" creationId="{149A1D6A-6D75-71C7-580B-D7176B94648D}"/>
          </ac:cxnSpMkLst>
        </pc:cxnChg>
        <pc:cxnChg chg="add mod">
          <ac:chgData name="태현 고" userId="e678494651c46122" providerId="LiveId" clId="{539C6FA0-F84E-4B39-A3A5-84203512A6BB}" dt="2026-08-04T02:45:32.623" v="2542" actId="207"/>
          <ac:cxnSpMkLst>
            <pc:docMk/>
            <pc:sldMk cId="1334721494" sldId="970"/>
            <ac:cxnSpMk id="6" creationId="{6EE89580-4F0B-FB57-EF8E-2FDFF104405D}"/>
          </ac:cxnSpMkLst>
        </pc:cxnChg>
        <pc:cxnChg chg="add 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9" creationId="{2E712800-3AF4-3BAA-4DD5-778266A3B9AD}"/>
          </ac:cxnSpMkLst>
        </pc:cxnChg>
        <pc:cxnChg chg="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10" creationId="{AE9A400D-5A6F-8A4E-F619-40D93CE8C1CB}"/>
          </ac:cxnSpMkLst>
        </pc:cxnChg>
        <pc:cxnChg chg="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11" creationId="{FA22F0A2-788E-B515-E96E-49FD0F80BD0B}"/>
          </ac:cxnSpMkLst>
        </pc:cxnChg>
        <pc:cxnChg chg="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12" creationId="{C043181A-F836-9A80-C936-BF9FE385A1F1}"/>
          </ac:cxnSpMkLst>
        </pc:cxnChg>
        <pc:cxnChg chg="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13" creationId="{F708EB2B-B9FF-427E-D896-FD4199903794}"/>
          </ac:cxnSpMkLst>
        </pc:cxnChg>
        <pc:cxnChg chg="mod">
          <ac:chgData name="태현 고" userId="e678494651c46122" providerId="LiveId" clId="{539C6FA0-F84E-4B39-A3A5-84203512A6BB}" dt="2026-08-04T02:44:53.866" v="2541" actId="208"/>
          <ac:cxnSpMkLst>
            <pc:docMk/>
            <pc:sldMk cId="1334721494" sldId="970"/>
            <ac:cxnSpMk id="14" creationId="{F19963FE-7CB5-2FDC-E5CB-798CBA8EEA35}"/>
          </ac:cxnSpMkLst>
        </pc:cxnChg>
        <pc:cxnChg chg="add mod">
          <ac:chgData name="태현 고" userId="e678494651c46122" providerId="LiveId" clId="{539C6FA0-F84E-4B39-A3A5-84203512A6BB}" dt="2026-08-04T02:43:40.675" v="2537" actId="14100"/>
          <ac:cxnSpMkLst>
            <pc:docMk/>
            <pc:sldMk cId="1334721494" sldId="970"/>
            <ac:cxnSpMk id="17" creationId="{DDF40651-311B-216C-29BF-25CC797A2FF6}"/>
          </ac:cxnSpMkLst>
        </pc:cxnChg>
        <pc:cxnChg chg="add mod">
          <ac:chgData name="태현 고" userId="e678494651c46122" providerId="LiveId" clId="{539C6FA0-F84E-4B39-A3A5-84203512A6BB}" dt="2026-08-04T02:43:54.076" v="2540" actId="14100"/>
          <ac:cxnSpMkLst>
            <pc:docMk/>
            <pc:sldMk cId="1334721494" sldId="970"/>
            <ac:cxnSpMk id="20" creationId="{7D9E768E-95CB-90A4-5D5A-C51D64A8D7C0}"/>
          </ac:cxnSpMkLst>
        </pc:cxnChg>
      </pc:sldChg>
      <pc:sldChg chg="addSp delSp modSp add del mod ord modNotesTx">
        <pc:chgData name="태현 고" userId="e678494651c46122" providerId="LiveId" clId="{539C6FA0-F84E-4B39-A3A5-84203512A6BB}" dt="2026-08-07T00:23:17.891" v="10289" actId="47"/>
        <pc:sldMkLst>
          <pc:docMk/>
          <pc:sldMk cId="3798084405" sldId="971"/>
        </pc:sldMkLst>
        <pc:spChg chg="add mod">
          <ac:chgData name="태현 고" userId="e678494651c46122" providerId="LiveId" clId="{539C6FA0-F84E-4B39-A3A5-84203512A6BB}" dt="2026-08-04T02:56:10.957" v="2693" actId="1076"/>
          <ac:spMkLst>
            <pc:docMk/>
            <pc:sldMk cId="3798084405" sldId="971"/>
            <ac:spMk id="23" creationId="{81DDC69C-8D34-0F4C-6D0C-1A3D179BF72C}"/>
          </ac:spMkLst>
        </pc:spChg>
        <pc:spChg chg="mod">
          <ac:chgData name="태현 고" userId="e678494651c46122" providerId="LiveId" clId="{539C6FA0-F84E-4B39-A3A5-84203512A6BB}" dt="2026-08-04T04:20:32.368" v="5758" actId="207"/>
          <ac:spMkLst>
            <pc:docMk/>
            <pc:sldMk cId="3798084405" sldId="971"/>
            <ac:spMk id="24" creationId="{907AC15F-22A6-F017-C59D-2F7F053C89A3}"/>
          </ac:spMkLst>
        </pc:spChg>
        <pc:spChg chg="add mod">
          <ac:chgData name="태현 고" userId="e678494651c46122" providerId="LiveId" clId="{539C6FA0-F84E-4B39-A3A5-84203512A6BB}" dt="2026-08-04T03:48:20.867" v="2721" actId="1076"/>
          <ac:spMkLst>
            <pc:docMk/>
            <pc:sldMk cId="3798084405" sldId="971"/>
            <ac:spMk id="27" creationId="{D5859719-2F9F-15C6-917D-DF33E06D382A}"/>
          </ac:spMkLst>
        </pc:spChg>
        <pc:cxnChg chg="add mod">
          <ac:chgData name="태현 고" userId="e678494651c46122" providerId="LiveId" clId="{539C6FA0-F84E-4B39-A3A5-84203512A6BB}" dt="2026-08-04T04:00:02.155" v="2814" actId="208"/>
          <ac:cxnSpMkLst>
            <pc:docMk/>
            <pc:sldMk cId="3798084405" sldId="971"/>
            <ac:cxnSpMk id="3" creationId="{11318EE5-854D-C324-3179-0162BE5AA9F3}"/>
          </ac:cxnSpMkLst>
        </pc:cxnChg>
        <pc:cxnChg chg="add mod">
          <ac:chgData name="태현 고" userId="e678494651c46122" providerId="LiveId" clId="{539C6FA0-F84E-4B39-A3A5-84203512A6BB}" dt="2026-08-04T02:49:38.502" v="2666" actId="1076"/>
          <ac:cxnSpMkLst>
            <pc:docMk/>
            <pc:sldMk cId="3798084405" sldId="971"/>
            <ac:cxnSpMk id="5" creationId="{A65D28CE-73DD-E1E0-5D5E-70E3E4AF2E91}"/>
          </ac:cxnSpMkLst>
        </pc:cxnChg>
        <pc:cxnChg chg="add mod">
          <ac:chgData name="태현 고" userId="e678494651c46122" providerId="LiveId" clId="{539C6FA0-F84E-4B39-A3A5-84203512A6BB}" dt="2026-08-04T04:00:02.155" v="2814" actId="208"/>
          <ac:cxnSpMkLst>
            <pc:docMk/>
            <pc:sldMk cId="3798084405" sldId="971"/>
            <ac:cxnSpMk id="6" creationId="{03CA27E5-F6BC-77BE-A680-217D8401FBB7}"/>
          </ac:cxnSpMkLst>
        </pc:cxnChg>
        <pc:cxnChg chg="add mod ord">
          <ac:chgData name="태현 고" userId="e678494651c46122" providerId="LiveId" clId="{539C6FA0-F84E-4B39-A3A5-84203512A6BB}" dt="2026-08-04T03:59:41.993" v="2813" actId="170"/>
          <ac:cxnSpMkLst>
            <pc:docMk/>
            <pc:sldMk cId="3798084405" sldId="971"/>
            <ac:cxnSpMk id="7" creationId="{ACADE773-340A-678F-9D2A-A0A51C7F99C8}"/>
          </ac:cxnSpMkLst>
        </pc:cxnChg>
        <pc:cxnChg chg="add mod ord">
          <ac:chgData name="태현 고" userId="e678494651c46122" providerId="LiveId" clId="{539C6FA0-F84E-4B39-A3A5-84203512A6BB}" dt="2026-08-04T03:59:27.810" v="2794" actId="170"/>
          <ac:cxnSpMkLst>
            <pc:docMk/>
            <pc:sldMk cId="3798084405" sldId="971"/>
            <ac:cxnSpMk id="8" creationId="{7D7668CF-0404-4700-CC23-123E0753567E}"/>
          </ac:cxnSpMkLst>
        </pc:cxnChg>
        <pc:cxnChg chg="add mod">
          <ac:chgData name="태현 고" userId="e678494651c46122" providerId="LiveId" clId="{539C6FA0-F84E-4B39-A3A5-84203512A6BB}" dt="2026-08-04T04:00:02.155" v="2814" actId="208"/>
          <ac:cxnSpMkLst>
            <pc:docMk/>
            <pc:sldMk cId="3798084405" sldId="971"/>
            <ac:cxnSpMk id="9" creationId="{1622C872-BBA4-4995-EC89-4528C926050D}"/>
          </ac:cxnSpMkLst>
        </pc:cxnChg>
        <pc:cxnChg chg="add mod ord">
          <ac:chgData name="태현 고" userId="e678494651c46122" providerId="LiveId" clId="{539C6FA0-F84E-4B39-A3A5-84203512A6BB}" dt="2026-08-04T03:59:24.281" v="2785" actId="14100"/>
          <ac:cxnSpMkLst>
            <pc:docMk/>
            <pc:sldMk cId="3798084405" sldId="971"/>
            <ac:cxnSpMk id="15" creationId="{AAF98BB3-209B-0D52-F87B-FCAEDB3CD5CA}"/>
          </ac:cxnSpMkLst>
        </pc:cxnChg>
        <pc:cxnChg chg="add mod">
          <ac:chgData name="태현 고" userId="e678494651c46122" providerId="LiveId" clId="{539C6FA0-F84E-4B39-A3A5-84203512A6BB}" dt="2026-08-04T04:00:02.155" v="2814" actId="208"/>
          <ac:cxnSpMkLst>
            <pc:docMk/>
            <pc:sldMk cId="3798084405" sldId="971"/>
            <ac:cxnSpMk id="16" creationId="{C40AF4ED-346A-0F6E-F9F4-A3F75359D05C}"/>
          </ac:cxnSpMkLst>
        </pc:cxnChg>
        <pc:cxnChg chg="add mod">
          <ac:chgData name="태현 고" userId="e678494651c46122" providerId="LiveId" clId="{539C6FA0-F84E-4B39-A3A5-84203512A6BB}" dt="2026-08-04T03:58:29.723" v="2766" actId="14100"/>
          <ac:cxnSpMkLst>
            <pc:docMk/>
            <pc:sldMk cId="3798084405" sldId="971"/>
            <ac:cxnSpMk id="17" creationId="{14138551-650C-0BFA-EC08-37F45DE80317}"/>
          </ac:cxnSpMkLst>
        </pc:cxnChg>
        <pc:cxnChg chg="add mod">
          <ac:chgData name="태현 고" userId="e678494651c46122" providerId="LiveId" clId="{539C6FA0-F84E-4B39-A3A5-84203512A6BB}" dt="2026-08-04T04:00:02.155" v="2814" actId="208"/>
          <ac:cxnSpMkLst>
            <pc:docMk/>
            <pc:sldMk cId="3798084405" sldId="971"/>
            <ac:cxnSpMk id="18" creationId="{5C0A40D6-B62E-8DD7-0211-47BF39FF65CA}"/>
          </ac:cxnSpMkLst>
        </pc:cxnChg>
        <pc:cxnChg chg="add mod ord">
          <ac:chgData name="태현 고" userId="e678494651c46122" providerId="LiveId" clId="{539C6FA0-F84E-4B39-A3A5-84203512A6BB}" dt="2026-08-04T03:59:37.893" v="2803" actId="170"/>
          <ac:cxnSpMkLst>
            <pc:docMk/>
            <pc:sldMk cId="3798084405" sldId="971"/>
            <ac:cxnSpMk id="19" creationId="{5046A29C-8BDF-DE83-D0F0-5D1817CB94D1}"/>
          </ac:cxnSpMkLst>
        </pc:cxnChg>
      </pc:sldChg>
      <pc:sldChg chg="addSp delSp modSp add del mod ord modNotesTx">
        <pc:chgData name="태현 고" userId="e678494651c46122" providerId="LiveId" clId="{539C6FA0-F84E-4B39-A3A5-84203512A6BB}" dt="2026-08-07T05:17:10.253" v="11028" actId="207"/>
        <pc:sldMkLst>
          <pc:docMk/>
          <pc:sldMk cId="2212149751" sldId="972"/>
        </pc:sldMkLst>
        <pc:spChg chg="mod">
          <ac:chgData name="태현 고" userId="e678494651c46122" providerId="LiveId" clId="{539C6FA0-F84E-4B39-A3A5-84203512A6BB}" dt="2026-08-04T04:33:50.799" v="6428" actId="207"/>
          <ac:spMkLst>
            <pc:docMk/>
            <pc:sldMk cId="2212149751" sldId="972"/>
            <ac:spMk id="5" creationId="{78D9BEC4-0DC4-0DCB-4159-9A1BE57ECFAD}"/>
          </ac:spMkLst>
        </pc:spChg>
        <pc:graphicFrameChg chg="add mod modGraphic">
          <ac:chgData name="태현 고" userId="e678494651c46122" providerId="LiveId" clId="{539C6FA0-F84E-4B39-A3A5-84203512A6BB}" dt="2026-08-07T05:17:10.253" v="11028" actId="207"/>
          <ac:graphicFrameMkLst>
            <pc:docMk/>
            <pc:sldMk cId="2212149751" sldId="972"/>
            <ac:graphicFrameMk id="6" creationId="{2C5BC73E-65D1-E155-7E5C-A08A4979B52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r">
              <a:defRPr sz="1200"/>
            </a:lvl1pPr>
          </a:lstStyle>
          <a:p>
            <a:pPr lvl="0">
              <a:defRPr/>
            </a:pPr>
            <a:fld id="{D8A18A99-91F3-4739-9AF9-D3E54F5507E0}" type="datetime1">
              <a:rPr lang="ko-KR" altLang="en-US"/>
              <a:pPr lvl="0">
                <a:defRPr/>
              </a:pPr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2" tIns="45715" rIns="91432" bIns="45715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r">
              <a:defRPr sz="1200"/>
            </a:lvl1pPr>
          </a:lstStyle>
          <a:p>
            <a:pPr lvl="0">
              <a:defRPr/>
            </a:pPr>
            <a:fld id="{EC9DA1BD-9844-4538-8BC0-05298B5B73B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444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ko-KR" dirty="0"/>
              <a:t>안녕하세요. </a:t>
            </a:r>
            <a:r>
              <a:rPr lang="en-US" altLang="ko-KR" dirty="0"/>
              <a:t>(</a:t>
            </a:r>
            <a:r>
              <a:rPr lang="ko-KR" altLang="en-US" dirty="0"/>
              <a:t>자기소개</a:t>
            </a:r>
            <a:r>
              <a:rPr lang="en-US" altLang="ko-KR" dirty="0"/>
              <a:t>) </a:t>
            </a:r>
            <a:r>
              <a:rPr lang="ko-KR" altLang="ko-KR" dirty="0"/>
              <a:t>오늘 발표할 논문은 </a:t>
            </a:r>
            <a:r>
              <a:rPr lang="ko-KR" altLang="ko-KR" dirty="0" err="1"/>
              <a:t>PRiMeFlow</a:t>
            </a:r>
            <a:r>
              <a:rPr lang="ko-KR" altLang="ko-KR" dirty="0"/>
              <a:t>, 부제는 ＂</a:t>
            </a:r>
            <a:r>
              <a:rPr lang="ko-KR" altLang="ko-KR" dirty="0" err="1"/>
              <a:t>perturbation</a:t>
            </a:r>
            <a:r>
              <a:rPr lang="ko-KR" altLang="ko-KR" dirty="0"/>
              <a:t> 반응 모델링에서 복잡한 발현 이질성을 </a:t>
            </a:r>
            <a:r>
              <a:rPr lang="ko-KR" altLang="ko-KR" dirty="0" err="1"/>
              <a:t>포착하기＂입니다</a:t>
            </a:r>
            <a:r>
              <a:rPr lang="ko-KR" altLang="ko-KR" dirty="0"/>
              <a:t>. </a:t>
            </a:r>
            <a:endParaRPr lang="en-US" altLang="ko-KR" dirty="0"/>
          </a:p>
          <a:p>
            <a:pPr lvl="0">
              <a:defRPr/>
            </a:pPr>
            <a:r>
              <a:rPr lang="ko-KR" altLang="ko-KR" dirty="0"/>
              <a:t>세포에 약물이나 유전자 처리를 가했을 때 반응을 예측하는 생성 모델에 관한 논문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발표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EC9DA1BD-9844-4538-8BC0-05298B5B73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9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0205-6E53-7996-77A8-197EB4A7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21E10-4E78-F64F-3DD4-EE133F5D1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632FD-B6E3-D7FC-1C62-6EEBB5F8E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교신저자 소개를 하자면</a:t>
            </a:r>
            <a:r>
              <a:rPr lang="en-US" altLang="ko-KR" dirty="0"/>
              <a:t>, </a:t>
            </a:r>
            <a:r>
              <a:rPr lang="ko-KR" altLang="en-US" dirty="0"/>
              <a:t>첫 번째 분은</a:t>
            </a:r>
            <a:r>
              <a:rPr lang="ko-KR" altLang="ko-KR" dirty="0"/>
              <a:t> </a:t>
            </a:r>
            <a:r>
              <a:rPr lang="ko-KR" altLang="ko-KR" dirty="0" err="1"/>
              <a:t>Zichao</a:t>
            </a:r>
            <a:r>
              <a:rPr lang="ko-KR" altLang="ko-KR" dirty="0"/>
              <a:t> </a:t>
            </a:r>
            <a:r>
              <a:rPr lang="ko-KR" altLang="ko-KR" dirty="0" err="1"/>
              <a:t>Yan으로</a:t>
            </a:r>
            <a:r>
              <a:rPr lang="ko-KR" altLang="ko-KR" dirty="0"/>
              <a:t>, </a:t>
            </a:r>
            <a:r>
              <a:rPr lang="ko-KR" altLang="ko-KR" dirty="0" err="1"/>
              <a:t>McGill</a:t>
            </a:r>
            <a:r>
              <a:rPr lang="ko-KR" altLang="ko-KR" dirty="0"/>
              <a:t> 대학교와 </a:t>
            </a:r>
            <a:r>
              <a:rPr lang="en-US" altLang="ko-KR" dirty="0"/>
              <a:t>(</a:t>
            </a:r>
            <a:r>
              <a:rPr lang="ko-KR" altLang="en-US" dirty="0"/>
              <a:t>논문에는 </a:t>
            </a:r>
            <a:r>
              <a:rPr lang="en-US" altLang="ko-KR" dirty="0"/>
              <a:t>altos lab </a:t>
            </a:r>
            <a:r>
              <a:rPr lang="ko-KR" altLang="en-US" dirty="0"/>
              <a:t>소속</a:t>
            </a:r>
            <a:r>
              <a:rPr lang="en-US" altLang="ko-KR" dirty="0"/>
              <a:t>) (Google</a:t>
            </a:r>
            <a:r>
              <a:rPr lang="ko-KR" altLang="en-US" dirty="0"/>
              <a:t> </a:t>
            </a:r>
            <a:r>
              <a:rPr lang="en-US" altLang="ko-KR" dirty="0"/>
              <a:t>scholar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ko-KR" dirty="0" err="1"/>
              <a:t>Mila</a:t>
            </a:r>
            <a:r>
              <a:rPr lang="ko-KR" altLang="ko-KR" dirty="0"/>
              <a:t> 소속입니다. </a:t>
            </a:r>
            <a:r>
              <a:rPr lang="ko-KR" altLang="ko-KR" dirty="0" err="1"/>
              <a:t>머신러닝과</a:t>
            </a:r>
            <a:r>
              <a:rPr lang="ko-KR" altLang="ko-KR" dirty="0"/>
              <a:t> 계산생물학이 전공이고, 이전에도 RNA 구조 예측이나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network</a:t>
            </a:r>
            <a:r>
              <a:rPr lang="ko-KR" altLang="ko-KR" dirty="0"/>
              <a:t> 관련 연구를 해왔습니다. </a:t>
            </a:r>
            <a:r>
              <a:rPr lang="ko-KR" altLang="ko-KR" dirty="0" err="1"/>
              <a:t>PerturBench</a:t>
            </a:r>
            <a:r>
              <a:rPr lang="ko-KR" altLang="ko-KR" dirty="0"/>
              <a:t> 벤치마크 논문에도 참여했는데, 이번 </a:t>
            </a:r>
            <a:r>
              <a:rPr lang="ko-KR" altLang="ko-KR" dirty="0" err="1"/>
              <a:t>PRiMeFlow가</a:t>
            </a:r>
            <a:r>
              <a:rPr lang="ko-KR" altLang="ko-KR" dirty="0"/>
              <a:t> 그 연장선에 있는 연구입니다.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번째 분은 </a:t>
            </a:r>
            <a:r>
              <a:rPr lang="en-US" altLang="ko-KR" dirty="0"/>
              <a:t>Rory Stark</a:t>
            </a:r>
            <a:r>
              <a:rPr lang="ko-KR" altLang="en-US" dirty="0"/>
              <a:t>로</a:t>
            </a:r>
            <a:r>
              <a:rPr lang="en-US" altLang="ko-KR" dirty="0"/>
              <a:t>, altos lab </a:t>
            </a:r>
            <a:r>
              <a:rPr lang="ko-KR" altLang="en-US" dirty="0"/>
              <a:t>소속입니다</a:t>
            </a:r>
            <a:r>
              <a:rPr lang="en-US" altLang="ko-KR" dirty="0"/>
              <a:t>.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/>
              <a:t>유전체 조절</a:t>
            </a:r>
            <a:r>
              <a:rPr lang="en-US" altLang="ko-KR" dirty="0"/>
              <a:t>, </a:t>
            </a:r>
            <a:r>
              <a:rPr lang="en-US" altLang="ko-KR" dirty="0" err="1"/>
              <a:t>ChIP</a:t>
            </a:r>
            <a:r>
              <a:rPr lang="en-US" altLang="ko-KR" dirty="0"/>
              <a:t>-seq(?), </a:t>
            </a:r>
            <a:r>
              <a:rPr lang="ko-KR" altLang="en-US" dirty="0"/>
              <a:t>계산생물학이 전공이고</a:t>
            </a:r>
            <a:r>
              <a:rPr lang="en-US" altLang="ko-KR" dirty="0"/>
              <a:t>, </a:t>
            </a:r>
            <a:r>
              <a:rPr lang="ko-KR" altLang="en-US" dirty="0"/>
              <a:t>케임브리지에서 오랜 기간 계산생물학</a:t>
            </a:r>
            <a:r>
              <a:rPr lang="en-US" altLang="ko-KR" dirty="0"/>
              <a:t>/</a:t>
            </a:r>
            <a:r>
              <a:rPr lang="ko-KR" altLang="en-US" dirty="0"/>
              <a:t>생명정보학을 하시다가</a:t>
            </a:r>
            <a:r>
              <a:rPr lang="en-US" altLang="ko-KR" dirty="0"/>
              <a:t>, 2023</a:t>
            </a:r>
            <a:r>
              <a:rPr lang="ko-KR" altLang="en-US" dirty="0"/>
              <a:t>년에 </a:t>
            </a:r>
            <a:r>
              <a:rPr lang="en-US" altLang="ko-KR" dirty="0"/>
              <a:t>altos lab</a:t>
            </a:r>
            <a:r>
              <a:rPr lang="ko-KR" altLang="en-US" dirty="0"/>
              <a:t>으로  옮겨 </a:t>
            </a:r>
            <a:r>
              <a:rPr lang="en-US" altLang="ko-KR" dirty="0"/>
              <a:t>AI/ML </a:t>
            </a:r>
            <a:r>
              <a:rPr lang="ko-KR" altLang="en-US" dirty="0"/>
              <a:t>연구를 총괄하고 계십니다</a:t>
            </a:r>
            <a:r>
              <a:rPr lang="en-US" altLang="ko-KR" dirty="0"/>
              <a:t>. </a:t>
            </a:r>
            <a:r>
              <a:rPr lang="ko-KR" altLang="en-US" dirty="0"/>
              <a:t>전문 분야는 유전체 조절 쪽이었다가</a:t>
            </a:r>
            <a:r>
              <a:rPr lang="en-US" altLang="ko-KR" dirty="0"/>
              <a:t> </a:t>
            </a:r>
            <a:r>
              <a:rPr lang="ko-KR" altLang="en-US" dirty="0"/>
              <a:t>최근으로 오면서 </a:t>
            </a:r>
            <a:r>
              <a:rPr lang="en-US" altLang="ko-KR" dirty="0"/>
              <a:t>Ai/ML</a:t>
            </a:r>
            <a:r>
              <a:rPr lang="ko-KR" altLang="en-US" dirty="0"/>
              <a:t>으로 연구 영역을 확장하셨습니다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1C6AF-BE36-B815-CE9C-250782384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71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F251-688F-8DD0-94F8-F39220FA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2B579E-DC43-D601-78B8-1965AD685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365B31-32D2-CBDB-67E9-27F326DBA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문제 정의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(perturbation </a:t>
            </a:r>
            <a:r>
              <a:rPr lang="ko-KR" altLang="en-US" dirty="0"/>
              <a:t>예측의 필요성과 어려움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rtl="0"/>
            <a:r>
              <a:rPr lang="ko-KR" altLang="ko-KR" dirty="0"/>
              <a:t>먼저 이 논문이 풀려는 문제부터 짚겠습니다. </a:t>
            </a:r>
            <a:r>
              <a:rPr lang="ko-KR" altLang="ko-KR" dirty="0" err="1"/>
              <a:t>perturbation</a:t>
            </a:r>
            <a:r>
              <a:rPr lang="ko-KR" altLang="ko-KR" dirty="0"/>
              <a:t>, 즉 세포에 유전자나 약물 처리를 가했을 때 세포 상태가 어떻게 바뀌는지를, 실제 실험 대신 컴퓨터 안에서 예측할 수 있다면 </a:t>
            </a:r>
            <a:r>
              <a:rPr lang="ko-KR" altLang="en-US" dirty="0"/>
              <a:t>너무나도 </a:t>
            </a:r>
            <a:r>
              <a:rPr lang="ko-KR" altLang="en-US" dirty="0" err="1"/>
              <a:t>좋을겁니다</a:t>
            </a:r>
            <a:r>
              <a:rPr lang="en-US" altLang="ko-KR" dirty="0"/>
              <a:t>. </a:t>
            </a:r>
            <a:r>
              <a:rPr lang="ko-KR" altLang="ko-KR" dirty="0"/>
              <a:t>이걸 </a:t>
            </a:r>
            <a:r>
              <a:rPr lang="ko-KR" altLang="ko-KR" dirty="0" err="1"/>
              <a:t>in-silico</a:t>
            </a:r>
            <a:r>
              <a:rPr lang="ko-KR" altLang="ko-KR" dirty="0"/>
              <a:t> 예측이라고 하는데, 이게 되면 세포 거동을 좌우하는 </a:t>
            </a:r>
            <a:r>
              <a:rPr lang="ko-KR" altLang="ko-KR" dirty="0" err="1"/>
              <a:t>driver를</a:t>
            </a:r>
            <a:r>
              <a:rPr lang="ko-KR" altLang="ko-KR" dirty="0"/>
              <a:t> 대규모로 찾을 수 있고, 신약 개발도 크게 앞당길 수 있습니다.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en-US" dirty="0"/>
              <a:t>그러나 이는 너무나 어렵습니다</a:t>
            </a:r>
            <a:r>
              <a:rPr lang="en-US" altLang="ko-KR" dirty="0"/>
              <a:t>. </a:t>
            </a:r>
            <a:r>
              <a:rPr lang="ko-KR" altLang="ko-KR" dirty="0"/>
              <a:t>두 가지 이유가 있습니다. </a:t>
            </a:r>
            <a:endParaRPr lang="en-US" altLang="ko-KR" dirty="0"/>
          </a:p>
          <a:p>
            <a:pPr rtl="0"/>
            <a:r>
              <a:rPr lang="ko-KR" altLang="ko-KR" dirty="0"/>
              <a:t>첫째는 이질성입니다. 단일세포 데이터는 똑같은 조건에서 처리해도 세포마다 유전자 발현이 </a:t>
            </a:r>
            <a:r>
              <a:rPr lang="ko-KR" altLang="ko-KR" dirty="0" err="1"/>
              <a:t>제각각입니다</a:t>
            </a:r>
            <a:r>
              <a:rPr lang="ko-KR" altLang="ko-KR" dirty="0"/>
              <a:t>. 게다가 유전자들끼리 복잡하게 얽혀 서로 영향을 주고받</a:t>
            </a:r>
            <a:r>
              <a:rPr lang="ko-KR" altLang="en-US" dirty="0"/>
              <a:t>습니다</a:t>
            </a:r>
            <a:r>
              <a:rPr lang="ko-KR" altLang="ko-KR" dirty="0"/>
              <a:t>. 이 둘 때문에 모델링이 매우 까다롭습니다.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둘째는 규모입니다. </a:t>
            </a:r>
            <a:r>
              <a:rPr lang="en-US" altLang="ko-KR" dirty="0"/>
              <a:t>P</a:t>
            </a:r>
            <a:r>
              <a:rPr lang="ko-KR" altLang="ko-KR" dirty="0" err="1"/>
              <a:t>erturbation의</a:t>
            </a:r>
            <a:r>
              <a:rPr lang="ko-KR" altLang="ko-KR" dirty="0"/>
              <a:t> 경우의 수가 어마어마합니다. 어떤 세포 타입이냐 같은 </a:t>
            </a:r>
            <a:r>
              <a:rPr lang="ko-KR" altLang="en-US" dirty="0" err="1"/>
              <a:t>공변량</a:t>
            </a:r>
            <a:r>
              <a:rPr lang="ko-KR" altLang="ko-KR" dirty="0" err="1"/>
              <a:t>에</a:t>
            </a:r>
            <a:r>
              <a:rPr lang="ko-KR" altLang="ko-KR" dirty="0"/>
              <a:t> 따라 결과가 달라지고, 여러 처리를 동시에 가하면 그 상호작용까지 </a:t>
            </a:r>
            <a:r>
              <a:rPr lang="ko-KR" altLang="en-US" dirty="0"/>
              <a:t>확인해야 하기 때문입니다</a:t>
            </a:r>
            <a:r>
              <a:rPr lang="ko-KR" altLang="ko-KR" dirty="0"/>
              <a:t>. 이 방대한 공간을 실험으로 다 커버하는 건 불가능합니다.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그래서 필요한 게, 아직 실험해보지 않은 반응까지 예측하는, 이른바 반사실적 반응을 예측하는 </a:t>
            </a:r>
            <a:r>
              <a:rPr lang="ko-KR" altLang="ko-KR" dirty="0" err="1"/>
              <a:t>머신러닝</a:t>
            </a:r>
            <a:r>
              <a:rPr lang="ko-KR" altLang="ko-KR" dirty="0"/>
              <a:t> 모델입니다. 이게 이 분야의 핵심 목표입니다.</a:t>
            </a:r>
          </a:p>
          <a:p>
            <a:endParaRPr lang="en-US" altLang="ko-KR" dirty="0"/>
          </a:p>
          <a:p>
            <a:endParaRPr lang="ko-KR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7F401-C20A-7838-2675-85A45B879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2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836D-1708-B6E4-0B0C-6DEBF1B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6C456-FA3F-1589-1CBE-CCC112617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6784A5-5359-E968-3174-2DF22EBF0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</a:t>
            </a:r>
            <a:r>
              <a:rPr lang="en-US" altLang="ko-KR" dirty="0" err="1"/>
              <a:t>Perturbench</a:t>
            </a:r>
            <a:r>
              <a:rPr lang="en-US" altLang="ko-KR" dirty="0"/>
              <a:t> (</a:t>
            </a:r>
            <a:r>
              <a:rPr lang="ko-KR" altLang="en-US" dirty="0"/>
              <a:t>단순 모델이 더 잘 일반화</a:t>
            </a:r>
            <a:r>
              <a:rPr lang="en-US" altLang="ko-KR" dirty="0"/>
              <a:t>)&gt;</a:t>
            </a:r>
          </a:p>
          <a:p>
            <a:endParaRPr lang="en-US" altLang="ko-KR" dirty="0"/>
          </a:p>
          <a:p>
            <a:pPr rtl="0"/>
            <a:r>
              <a:rPr lang="ko-KR" altLang="ko-KR" dirty="0"/>
              <a:t>이 논문을 이해하려면 배경 두 가지를 먼저 알아야 하는데, </a:t>
            </a:r>
            <a:endParaRPr lang="en-US" altLang="ko-KR" dirty="0"/>
          </a:p>
          <a:p>
            <a:pPr rtl="0"/>
            <a:r>
              <a:rPr lang="ko-KR" altLang="ko-KR" dirty="0"/>
              <a:t>첫 번째가 </a:t>
            </a:r>
            <a:r>
              <a:rPr lang="ko-KR" altLang="ko-KR" dirty="0" err="1"/>
              <a:t>PerturBench입니다</a:t>
            </a:r>
            <a:r>
              <a:rPr lang="ko-KR" altLang="ko-KR" dirty="0"/>
              <a:t>. </a:t>
            </a:r>
            <a:r>
              <a:rPr lang="ko-KR" altLang="ko-KR" dirty="0" err="1"/>
              <a:t>PerturBench는</a:t>
            </a:r>
            <a:r>
              <a:rPr lang="ko-KR" altLang="ko-KR" dirty="0"/>
              <a:t> 이런 </a:t>
            </a:r>
            <a:r>
              <a:rPr lang="ko-KR" altLang="ko-KR" dirty="0" err="1"/>
              <a:t>perturbation</a:t>
            </a:r>
            <a:r>
              <a:rPr lang="ko-KR" altLang="ko-KR" dirty="0"/>
              <a:t> 예측 모델들을 평가하는 벤치마크인데, </a:t>
            </a:r>
            <a:r>
              <a:rPr lang="ko-KR" altLang="ko-KR" dirty="0" err="1"/>
              <a:t>rank</a:t>
            </a:r>
            <a:r>
              <a:rPr lang="ko-KR" altLang="ko-KR" dirty="0"/>
              <a:t> 기반의 새로운 평가 지표를 제시했고, 이게 ARC </a:t>
            </a:r>
            <a:r>
              <a:rPr lang="ko-KR" altLang="ko-KR" dirty="0" err="1"/>
              <a:t>Virtual</a:t>
            </a:r>
            <a:r>
              <a:rPr lang="ko-KR" altLang="ko-KR" dirty="0"/>
              <a:t>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Challenge에도</a:t>
            </a:r>
            <a:r>
              <a:rPr lang="ko-KR" altLang="ko-KR" dirty="0"/>
              <a:t> 채택될 만큼 널리 쓰입니다.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 err="1"/>
              <a:t>PerturBench의</a:t>
            </a:r>
            <a:r>
              <a:rPr lang="ko-KR" altLang="ko-KR" dirty="0"/>
              <a:t> 핵심 발견이 하나 있는데, 이게 좀 </a:t>
            </a:r>
            <a:r>
              <a:rPr lang="ko-KR" altLang="ko-KR" dirty="0" err="1"/>
              <a:t>반직관적입니다</a:t>
            </a:r>
            <a:r>
              <a:rPr lang="ko-KR" altLang="ko-KR" dirty="0"/>
              <a:t>. 바로 </a:t>
            </a:r>
            <a:r>
              <a:rPr lang="ko-KR" altLang="ko-KR" b="1" dirty="0"/>
              <a:t>"단순한 모델이 복잡한 모델보다 더 잘하는 경우가 있다"</a:t>
            </a:r>
            <a:r>
              <a:rPr lang="ko-KR" altLang="ko-KR" dirty="0"/>
              <a:t>는 겁니다. 실제로 </a:t>
            </a:r>
            <a:r>
              <a:rPr lang="ko-KR" altLang="ko-KR" dirty="0" err="1"/>
              <a:t>CPA라는</a:t>
            </a:r>
            <a:r>
              <a:rPr lang="ko-KR" altLang="ko-KR" dirty="0"/>
              <a:t> 모델에서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loss를</a:t>
            </a:r>
            <a:r>
              <a:rPr lang="ko-KR" altLang="ko-KR" dirty="0"/>
              <a:t> 빼고, SAMS-</a:t>
            </a:r>
            <a:r>
              <a:rPr lang="ko-KR" altLang="ko-KR" dirty="0" err="1"/>
              <a:t>VAE에서</a:t>
            </a:r>
            <a:r>
              <a:rPr lang="ko-KR" altLang="ko-KR" dirty="0"/>
              <a:t> </a:t>
            </a:r>
            <a:r>
              <a:rPr lang="ko-KR" altLang="ko-KR" dirty="0" err="1"/>
              <a:t>sparsity</a:t>
            </a:r>
            <a:r>
              <a:rPr lang="ko-KR" altLang="ko-KR" dirty="0"/>
              <a:t> 제약을 </a:t>
            </a:r>
            <a:r>
              <a:rPr lang="ko-KR" altLang="ko-KR" dirty="0" err="1"/>
              <a:t>빼봤더니</a:t>
            </a:r>
            <a:r>
              <a:rPr lang="ko-KR" altLang="ko-KR" dirty="0"/>
              <a:t>, 오히려 </a:t>
            </a:r>
            <a:r>
              <a:rPr lang="ko-KR" altLang="ko-KR" dirty="0" err="1"/>
              <a:t>공변량</a:t>
            </a:r>
            <a:r>
              <a:rPr lang="ko-KR" altLang="ko-KR" dirty="0"/>
              <a:t> </a:t>
            </a:r>
            <a:r>
              <a:rPr lang="ko-KR" altLang="ko-KR" dirty="0" err="1"/>
              <a:t>transfer</a:t>
            </a:r>
            <a:r>
              <a:rPr lang="ko-KR" altLang="ko-KR" dirty="0"/>
              <a:t> 성능이 좋아졌습니다.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여기서 얻는 시사점은</a:t>
            </a:r>
            <a:r>
              <a:rPr lang="en-US" altLang="ko-KR" dirty="0"/>
              <a:t> </a:t>
            </a:r>
            <a:r>
              <a:rPr lang="ko-KR" altLang="en-US" dirty="0"/>
              <a:t>바로 </a:t>
            </a:r>
            <a:r>
              <a:rPr lang="ko-KR" altLang="ko-KR" dirty="0"/>
              <a:t>강한 </a:t>
            </a:r>
            <a:r>
              <a:rPr lang="ko-KR" altLang="ko-KR" dirty="0" err="1"/>
              <a:t>inductive</a:t>
            </a:r>
            <a:r>
              <a:rPr lang="ko-KR" altLang="ko-KR" dirty="0"/>
              <a:t> </a:t>
            </a:r>
            <a:r>
              <a:rPr lang="ko-KR" altLang="ko-KR" dirty="0" err="1"/>
              <a:t>bias</a:t>
            </a:r>
            <a:r>
              <a:rPr lang="ko-KR" altLang="ko-KR" dirty="0"/>
              <a:t>, 즉 모델에 특정한 가정을 강하게 심어주는 게 어떤 상황에서는 유리할 수 있지만, 실제로는 오히려 단순한 알고리즘이 더 잘 일반화될 수 있다는 겁니다. 그리고 이 통찰이 뒤에 나올 </a:t>
            </a:r>
            <a:r>
              <a:rPr lang="ko-KR" altLang="ko-KR" dirty="0" err="1"/>
              <a:t>PRiMeFlow의</a:t>
            </a:r>
            <a:r>
              <a:rPr lang="ko-KR" altLang="ko-KR" dirty="0"/>
              <a:t> 설계 철학과도 연결됩니다. 뒤에서 보시겠지만, </a:t>
            </a:r>
            <a:r>
              <a:rPr lang="ko-KR" altLang="ko-KR" dirty="0" err="1"/>
              <a:t>PRiMeFlow도</a:t>
            </a:r>
            <a:r>
              <a:rPr lang="ko-KR" altLang="ko-KR" dirty="0"/>
              <a:t> 복잡한 </a:t>
            </a:r>
            <a:r>
              <a:rPr lang="ko-KR" altLang="ko-KR" dirty="0" err="1"/>
              <a:t>latent</a:t>
            </a:r>
            <a:r>
              <a:rPr lang="ko-KR" altLang="ko-KR" dirty="0"/>
              <a:t> 압축을 걷어내고 단순하게 가는 방향을 택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* </a:t>
            </a:r>
            <a:r>
              <a:rPr lang="ko-KR" altLang="ko-KR" dirty="0" err="1"/>
              <a:t>PerturBench의</a:t>
            </a:r>
            <a:r>
              <a:rPr lang="ko-KR" altLang="ko-KR" dirty="0"/>
              <a:t> 평가 방식은 2025년에 열린 ARC </a:t>
            </a:r>
            <a:r>
              <a:rPr lang="ko-KR" altLang="ko-KR" dirty="0" err="1"/>
              <a:t>Virtual</a:t>
            </a:r>
            <a:r>
              <a:rPr lang="ko-KR" altLang="ko-KR" dirty="0"/>
              <a:t>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Challenge라는</a:t>
            </a:r>
            <a:r>
              <a:rPr lang="ko-KR" altLang="ko-KR" dirty="0"/>
              <a:t> 대회로도 이어졌습니다. 뒤에서 </a:t>
            </a:r>
            <a:r>
              <a:rPr lang="ko-KR" altLang="ko-KR" dirty="0" err="1"/>
              <a:t>PRiMeFlow가</a:t>
            </a:r>
            <a:r>
              <a:rPr lang="ko-KR" altLang="ko-KR" dirty="0"/>
              <a:t> 이 대회에서 좋은 성과를 낸 걸 보시게 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7A4255-592D-9FB9-1090-A029B9003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72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018B-D9FF-CA3C-F075-2D3F0A77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6B07E-0865-E0AC-FF43-62129CBEF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1F7BB1-D795-79F7-7325-4DF30523F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matching&gt;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두 번째로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ko-KR" dirty="0" err="1"/>
              <a:t>PRiMeFlow의</a:t>
            </a:r>
            <a:r>
              <a:rPr lang="ko-KR" altLang="ko-KR" dirty="0"/>
              <a:t> 토대가 되는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</a:t>
            </a:r>
            <a:r>
              <a:rPr lang="en-US" altLang="ko-KR" dirty="0"/>
              <a:t>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  <a:r>
              <a:rPr lang="ko-KR" altLang="en-US" dirty="0"/>
              <a:t>요약하자면</a:t>
            </a:r>
            <a:r>
              <a:rPr lang="ko-KR" altLang="ko-KR" dirty="0"/>
              <a:t>,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Matching은</a:t>
            </a:r>
            <a:r>
              <a:rPr lang="ko-KR" altLang="ko-KR" dirty="0"/>
              <a:t> </a:t>
            </a:r>
            <a:r>
              <a:rPr lang="ko-KR" altLang="ko-KR" dirty="0" err="1"/>
              <a:t>가우시안</a:t>
            </a:r>
            <a:r>
              <a:rPr lang="ko-KR" altLang="ko-KR" dirty="0"/>
              <a:t> 같은 아주 단순한 분포를 실제 데이터 분포로 “흘려</a:t>
            </a:r>
            <a:r>
              <a:rPr lang="en-US" altLang="ko-KR" dirty="0"/>
              <a:t> </a:t>
            </a:r>
            <a:r>
              <a:rPr lang="ko-KR" altLang="ko-KR" dirty="0"/>
              <a:t>보내는” 생성 모델입니다.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그림을 보시면, 왼쪽의 노이즈에서 출발해서 시간 </a:t>
            </a:r>
            <a:r>
              <a:rPr lang="ko-KR" altLang="ko-KR" dirty="0" err="1"/>
              <a:t>t가</a:t>
            </a:r>
            <a:r>
              <a:rPr lang="ko-KR" altLang="ko-KR" dirty="0"/>
              <a:t> 0에서 1로 흐르는 동안 오른쪽의 실제 세포 발현 분포로 점들이 이동합니다. 이때 각 시점마다 "이 점을 어느 방향으로, 얼마나 빠르게 움직여야 하는가</a:t>
            </a:r>
            <a:r>
              <a:rPr lang="en-US" altLang="ko-KR" dirty="0"/>
              <a:t>?</a:t>
            </a:r>
            <a:r>
              <a:rPr lang="ko-KR" altLang="ko-KR" dirty="0"/>
              <a:t>"를 알려주는 게 </a:t>
            </a:r>
            <a:r>
              <a:rPr lang="ko-KR" altLang="ko-KR" dirty="0" err="1"/>
              <a:t>velocity</a:t>
            </a:r>
            <a:r>
              <a:rPr lang="ko-KR" altLang="ko-KR" dirty="0"/>
              <a:t> field, 속도 </a:t>
            </a:r>
            <a:r>
              <a:rPr lang="ko-KR" altLang="ko-KR" dirty="0" err="1"/>
              <a:t>벡터장</a:t>
            </a:r>
            <a:r>
              <a:rPr lang="ko-KR" altLang="ko-KR" dirty="0"/>
              <a:t>. 이걸 신경망으로 학습하는 겁니다.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추론할 때는 </a:t>
            </a:r>
            <a:r>
              <a:rPr lang="ko-KR" altLang="ko-KR" dirty="0" err="1"/>
              <a:t>가우시안</a:t>
            </a:r>
            <a:r>
              <a:rPr lang="en-US" altLang="ko-KR" dirty="0"/>
              <a:t> </a:t>
            </a:r>
            <a:r>
              <a:rPr lang="ko-KR" altLang="ko-KR" dirty="0"/>
              <a:t>에서 점을 하나 뽑은 다음, 학습된 이 속도장을 따라 적분해서 데이터 분포에 해당하는 샘플을 만들어냅니다.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여기서 중요한 포인트는, 이게 단순히 평균값 하나를 맞히는 회귀가 아니라 </a:t>
            </a:r>
            <a:r>
              <a:rPr lang="ko-KR" altLang="ko-KR" b="1" dirty="0"/>
              <a:t>분포 전체를 재현</a:t>
            </a:r>
            <a:r>
              <a:rPr lang="ko-KR" altLang="ko-KR" dirty="0"/>
              <a:t>한다는 겁니다. 뒤에서 계속 강조되겠지만, 단일세포 데이터의 핵심 특징이 세포마다 반응이 </a:t>
            </a:r>
            <a:r>
              <a:rPr lang="ko-KR" altLang="ko-KR" dirty="0" err="1"/>
              <a:t>제각각인</a:t>
            </a:r>
            <a:r>
              <a:rPr lang="ko-KR" altLang="ko-KR" dirty="0"/>
              <a:t> </a:t>
            </a:r>
            <a:r>
              <a:rPr lang="en-US" altLang="ko-KR" dirty="0"/>
              <a:t>heterogeneity(</a:t>
            </a:r>
            <a:r>
              <a:rPr lang="ko-KR" altLang="en-US" dirty="0"/>
              <a:t>이질성</a:t>
            </a:r>
            <a:r>
              <a:rPr lang="en-US" altLang="ko-KR" dirty="0"/>
              <a:t>)</a:t>
            </a:r>
            <a:r>
              <a:rPr lang="ko-KR" altLang="ko-KR" dirty="0"/>
              <a:t>인데, 생성 모델이기 때문에 이 이질성을 담아낼 수 있다는 게 이 접근의 근본적인 장점입니다.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BDA60D-9DF7-407B-98CB-A436B7246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1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129F-AC26-8D39-9135-373A9F3B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85F142-E165-F5E7-DC8D-9C787E37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090757-8788-AE06-449F-BB8BBFCC3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 </a:t>
            </a:r>
            <a:r>
              <a:rPr lang="ko-KR" altLang="en-US" dirty="0"/>
              <a:t>트릭</a:t>
            </a:r>
            <a:r>
              <a:rPr lang="en-US" altLang="ko-KR" dirty="0"/>
              <a:t>&gt;</a:t>
            </a:r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Noise</a:t>
            </a:r>
            <a:r>
              <a:rPr lang="ko-KR" altLang="en-US" dirty="0"/>
              <a:t>를 </a:t>
            </a:r>
            <a:r>
              <a:rPr lang="en-US" altLang="ko-KR" dirty="0"/>
              <a:t>x0, data</a:t>
            </a:r>
            <a:r>
              <a:rPr lang="ko-KR" altLang="en-US" dirty="0"/>
              <a:t>를 </a:t>
            </a:r>
            <a:r>
              <a:rPr lang="en-US" altLang="ko-KR" dirty="0"/>
              <a:t>x1</a:t>
            </a:r>
            <a:r>
              <a:rPr lang="ko-KR" altLang="en-US" dirty="0"/>
              <a:t>이라고 했을 때 </a:t>
            </a:r>
            <a:r>
              <a:rPr lang="en-US" altLang="ko-KR" dirty="0"/>
              <a:t>t = 0</a:t>
            </a:r>
            <a:r>
              <a:rPr lang="ko-KR" altLang="en-US" dirty="0"/>
              <a:t>일 때 </a:t>
            </a:r>
            <a:r>
              <a:rPr lang="en-US" altLang="ko-KR" dirty="0"/>
              <a:t>x0 t=1</a:t>
            </a:r>
            <a:r>
              <a:rPr lang="ko-KR" altLang="en-US" dirty="0"/>
              <a:t>일 </a:t>
            </a:r>
            <a:r>
              <a:rPr lang="en-US" altLang="ko-KR" dirty="0"/>
              <a:t>x1</a:t>
            </a:r>
            <a:r>
              <a:rPr lang="ko-KR" altLang="en-US" dirty="0"/>
              <a:t>이도록 </a:t>
            </a:r>
            <a:r>
              <a:rPr lang="en-US" altLang="ko-KR" dirty="0" err="1"/>
              <a:t>xt</a:t>
            </a:r>
            <a:r>
              <a:rPr lang="ko-KR" altLang="en-US" dirty="0"/>
              <a:t> 식을 세워보면 다음과 같다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이걸 시간에 대해 미분하면</a:t>
            </a:r>
            <a:r>
              <a:rPr lang="en-US" altLang="ko-KR" dirty="0"/>
              <a:t>, </a:t>
            </a:r>
            <a:r>
              <a:rPr lang="ko-KR" altLang="en-US" dirty="0"/>
              <a:t>즉 직선 속도를 구할 수 있다</a:t>
            </a:r>
            <a:r>
              <a:rPr lang="en-US" altLang="ko-KR" dirty="0"/>
              <a:t>. </a:t>
            </a:r>
            <a:r>
              <a:rPr lang="ko-KR" altLang="en-US" dirty="0"/>
              <a:t>유도된 직선 속도는 </a:t>
            </a:r>
            <a:r>
              <a:rPr lang="en-US" altLang="ko-KR" dirty="0"/>
              <a:t>x1 – x0</a:t>
            </a:r>
            <a:r>
              <a:rPr lang="ko-KR" altLang="en-US" dirty="0"/>
              <a:t>으로 나오게 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확인할 수 있듯이</a:t>
            </a:r>
            <a:r>
              <a:rPr lang="en-US" altLang="ko-KR" dirty="0"/>
              <a:t>, </a:t>
            </a:r>
            <a:r>
              <a:rPr lang="ko-KR" altLang="en-US" dirty="0"/>
              <a:t>개별 직선 속도는 시간에 영향 받지 않는다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 (</a:t>
            </a:r>
            <a:r>
              <a:rPr lang="ko-KR" altLang="en-US" dirty="0"/>
              <a:t>본인은 태블릿에 </a:t>
            </a:r>
            <a:r>
              <a:rPr lang="en-US" altLang="ko-KR" dirty="0"/>
              <a:t>“</a:t>
            </a:r>
            <a:r>
              <a:rPr lang="ko-KR" altLang="en-US" dirty="0"/>
              <a:t>시간에 변하지 않는 </a:t>
            </a:r>
            <a:r>
              <a:rPr lang="en-US" altLang="ko-KR" dirty="0"/>
              <a:t>constant”</a:t>
            </a:r>
            <a:r>
              <a:rPr lang="ko-KR" altLang="en-US" dirty="0"/>
              <a:t>라고 </a:t>
            </a:r>
            <a:r>
              <a:rPr lang="ko-KR" altLang="en-US" dirty="0" err="1"/>
              <a:t>기록해놨음</a:t>
            </a:r>
            <a:r>
              <a:rPr lang="en-US" altLang="ko-KR" dirty="0"/>
              <a:t>. </a:t>
            </a:r>
            <a:r>
              <a:rPr lang="ko-KR" altLang="en-US" dirty="0"/>
              <a:t>근데 이게 올바른 표현인지는 잘 모르겠음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985A9D-36AB-AB4C-9940-17F0EA699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111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D082-B63C-87DD-F22F-1080E79E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C43783-4EAE-1FC0-0542-958BD07FA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1E86EF-918C-E0AB-7E10-5629A7946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matching&gt;</a:t>
            </a:r>
          </a:p>
          <a:p>
            <a:pPr rtl="0"/>
            <a:endParaRPr lang="en-US" altLang="ko-KR" dirty="0"/>
          </a:p>
          <a:p>
            <a:r>
              <a:rPr lang="ko-KR" altLang="en-US" dirty="0"/>
              <a:t>실제 분포에는 앞서 살펴본 점들의 쌍이 여러 개 존재한다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 그림은 예시로 총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-US" altLang="ko-KR" dirty="0"/>
              <a:t>noise – data </a:t>
            </a:r>
            <a:r>
              <a:rPr lang="ko-KR" altLang="en-US" dirty="0"/>
              <a:t>쌍을 임의로 </a:t>
            </a:r>
            <a:r>
              <a:rPr lang="ko-KR" altLang="en-US" dirty="0" err="1"/>
              <a:t>표현해놓은</a:t>
            </a:r>
            <a:r>
              <a:rPr lang="ko-KR" altLang="en-US" dirty="0"/>
              <a:t> 상태이다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개별 직선들은 마구 교차한 상태인데</a:t>
            </a:r>
            <a:r>
              <a:rPr lang="en-US" altLang="ko-KR" dirty="0"/>
              <a:t>, </a:t>
            </a:r>
            <a:r>
              <a:rPr lang="ko-KR" altLang="en-US" dirty="0"/>
              <a:t>해당 직선이 바로 개별 직선 속도이다</a:t>
            </a:r>
            <a:r>
              <a:rPr lang="en-US" altLang="ko-KR" dirty="0"/>
              <a:t>. </a:t>
            </a:r>
            <a:r>
              <a:rPr lang="ko-KR" altLang="en-US" dirty="0"/>
              <a:t>이렇게 여러 개의 개별 직선 속도를 신경망이 맞출 수 있도록 학습 시키면 결과적으로 진짜 원하는 </a:t>
            </a:r>
            <a:r>
              <a:rPr lang="en-US" altLang="ko-KR" dirty="0"/>
              <a:t>marginal velocity field</a:t>
            </a:r>
            <a:r>
              <a:rPr lang="ko-KR" altLang="en-US" dirty="0"/>
              <a:t>와 유사한 </a:t>
            </a:r>
            <a:r>
              <a:rPr lang="ko-KR" altLang="en-US" dirty="0" err="1"/>
              <a:t>속도장</a:t>
            </a:r>
            <a:r>
              <a:rPr lang="en-US" altLang="ko-KR" dirty="0"/>
              <a:t>(velocity field)</a:t>
            </a:r>
            <a:r>
              <a:rPr lang="ko-KR" altLang="en-US" dirty="0"/>
              <a:t>를 얻을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Marginal</a:t>
            </a:r>
            <a:r>
              <a:rPr lang="ko-KR" altLang="en-US" dirty="0"/>
              <a:t> </a:t>
            </a:r>
            <a:r>
              <a:rPr lang="en-US" altLang="ko-KR" dirty="0"/>
              <a:t>velocity</a:t>
            </a:r>
            <a:r>
              <a:rPr lang="ko-KR" altLang="en-US" dirty="0"/>
              <a:t> </a:t>
            </a:r>
            <a:r>
              <a:rPr lang="en-US" altLang="ko-KR" dirty="0"/>
              <a:t>field</a:t>
            </a:r>
            <a:r>
              <a:rPr lang="ko-KR" altLang="en-US" dirty="0"/>
              <a:t>가 정확히 </a:t>
            </a:r>
            <a:r>
              <a:rPr lang="ko-KR" altLang="en-US" dirty="0" err="1"/>
              <a:t>뭐임</a:t>
            </a:r>
            <a:r>
              <a:rPr lang="en-US" altLang="ko-KR" dirty="0"/>
              <a:t>? : [</a:t>
            </a:r>
            <a:r>
              <a:rPr lang="ko-KR" altLang="en-US" dirty="0"/>
              <a:t>예상 질문</a:t>
            </a:r>
            <a:r>
              <a:rPr lang="en-US" altLang="ko-KR" dirty="0"/>
              <a:t>]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DF379-65AC-564D-BD3C-3BE01E5ED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41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8036-5749-C5C5-5A14-DC52DE15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9D1C3-98FB-A95F-B67C-A8D9E4BAD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5EF541-09CD-8383-C2CE-DF320440A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matching&gt;</a:t>
            </a:r>
          </a:p>
          <a:p>
            <a:pPr rtl="0"/>
            <a:endParaRPr lang="en-US" altLang="ko-KR" dirty="0"/>
          </a:p>
          <a:p>
            <a:r>
              <a:rPr lang="ko-KR" altLang="en-US" dirty="0"/>
              <a:t>한마디로 적당한 </a:t>
            </a:r>
            <a:r>
              <a:rPr lang="en-US" altLang="ko-KR" dirty="0"/>
              <a:t>weight set</a:t>
            </a:r>
            <a:r>
              <a:rPr lang="ko-KR" altLang="en-US" dirty="0"/>
              <a:t>을 학습을 통해 찾는 거와 같다</a:t>
            </a:r>
            <a:r>
              <a:rPr lang="en-US" altLang="ko-KR" dirty="0"/>
              <a:t>. </a:t>
            </a:r>
            <a:r>
              <a:rPr lang="ko-KR" altLang="en-US" dirty="0"/>
              <a:t>참고로 저 식의 의미는 앞서 살펴봤던 모든 개별 직선 속도들의 확률 가중 평균값을 의미한다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weight</a:t>
            </a:r>
            <a:r>
              <a:rPr lang="ko-KR" altLang="en-US" dirty="0"/>
              <a:t>의 합이 </a:t>
            </a:r>
            <a:r>
              <a:rPr lang="en-US" altLang="ko-KR" dirty="0"/>
              <a:t>1</a:t>
            </a:r>
            <a:r>
              <a:rPr lang="ko-KR" altLang="en-US" dirty="0"/>
              <a:t>이라는 말과 같다</a:t>
            </a:r>
            <a:r>
              <a:rPr lang="en-US" altLang="ko-KR" dirty="0"/>
              <a:t>. </a:t>
            </a:r>
            <a:r>
              <a:rPr lang="ko-KR" altLang="en-US" dirty="0"/>
              <a:t>그렇게 되면 앞서 확인했던 개별 직선 속도들 보다 비교적으로 부드러워진 곡선 </a:t>
            </a:r>
            <a:r>
              <a:rPr lang="en-US" altLang="ko-KR" dirty="0"/>
              <a:t>flow</a:t>
            </a:r>
            <a:r>
              <a:rPr lang="ko-KR" altLang="en-US" dirty="0"/>
              <a:t>를 확인할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ABF221-4F6A-AD7F-B2B5-58FF51F0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84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A812-62A3-BCCE-DCAC-9A9FBFB9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8ED2BC-0BEC-7577-779D-1CE7AEC9D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0012BE-BA90-5FD7-AED5-2816877E7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matching&gt;</a:t>
            </a:r>
          </a:p>
          <a:p>
            <a:pPr rtl="0"/>
            <a:endParaRPr lang="en-US" altLang="ko-KR" dirty="0"/>
          </a:p>
          <a:p>
            <a:r>
              <a:rPr lang="ko-KR" altLang="en-US" dirty="0"/>
              <a:t>여러 개의 개별 직선 속도를 신경망이 맞출 수 있도록</a:t>
            </a:r>
            <a:r>
              <a:rPr lang="en-US" altLang="ko-KR" dirty="0"/>
              <a:t>,</a:t>
            </a:r>
            <a:r>
              <a:rPr lang="ko-KR" altLang="en-US" dirty="0"/>
              <a:t> 진짜 원하는 </a:t>
            </a:r>
            <a:r>
              <a:rPr lang="en-US" altLang="ko-KR" dirty="0"/>
              <a:t>marginal velocity field</a:t>
            </a:r>
            <a:r>
              <a:rPr lang="ko-KR" altLang="en-US" dirty="0"/>
              <a:t>와 유사한 속도장을 얻기 위한 학습 방법은 아래와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시점</a:t>
            </a:r>
            <a:r>
              <a:rPr lang="en-US" altLang="ko-KR" dirty="0"/>
              <a:t>(t)</a:t>
            </a:r>
            <a:r>
              <a:rPr lang="ko-KR" altLang="en-US" dirty="0"/>
              <a:t>에서의 확률 가중 평균 속도와 개별 직선 속도 간 차 벡터의 크기의 제곱을 </a:t>
            </a:r>
            <a:r>
              <a:rPr lang="en-US" altLang="ko-KR" dirty="0"/>
              <a:t>loss</a:t>
            </a:r>
            <a:r>
              <a:rPr lang="ko-KR" altLang="en-US" dirty="0"/>
              <a:t>로 삼아 이를 최소화하는 방식이다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여기서 </a:t>
            </a:r>
            <a:r>
              <a:rPr lang="en-US" altLang="ko-KR" dirty="0"/>
              <a:t>flow matching</a:t>
            </a:r>
            <a:r>
              <a:rPr lang="ko-KR" altLang="en-US" dirty="0"/>
              <a:t>의 장점을 확인할 수 있다</a:t>
            </a:r>
            <a:r>
              <a:rPr lang="en-US" altLang="ko-KR" dirty="0"/>
              <a:t>. </a:t>
            </a:r>
            <a:r>
              <a:rPr lang="ko-KR" altLang="en-US" dirty="0"/>
              <a:t>단순하게 </a:t>
            </a:r>
            <a:r>
              <a:rPr lang="en-US" altLang="ko-KR" dirty="0"/>
              <a:t>MSE</a:t>
            </a:r>
            <a:r>
              <a:rPr lang="ko-KR" altLang="en-US" dirty="0"/>
              <a:t>를 이용하는 것만으로도 </a:t>
            </a:r>
            <a:r>
              <a:rPr lang="en-US" altLang="ko-KR" dirty="0"/>
              <a:t>marginal velocity field</a:t>
            </a:r>
            <a:r>
              <a:rPr lang="ko-KR" altLang="en-US" dirty="0"/>
              <a:t>를 구할 수 있다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0956D-E79F-2747-7EE5-57D0F4AF1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81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ED2E-7CCD-B26A-C85E-BE9C168C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ACE5E1-C114-E5A6-4B3A-A984E5E8D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C34CF1-50E2-16E0-90C0-240108097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배경 </a:t>
            </a:r>
            <a:r>
              <a:rPr lang="en-US" altLang="ko-KR" dirty="0"/>
              <a:t>– Flow matching&gt;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그런데 보통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Matching이</a:t>
            </a:r>
            <a:r>
              <a:rPr lang="ko-KR" altLang="ko-KR" dirty="0"/>
              <a:t> 아니라 ＂</a:t>
            </a:r>
            <a:r>
              <a:rPr lang="ko-KR" altLang="ko-KR" dirty="0" err="1"/>
              <a:t>Conditional</a:t>
            </a:r>
            <a:r>
              <a:rPr lang="ko-KR" altLang="ko-KR" dirty="0"/>
              <a:t>＂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Matching이라고</a:t>
            </a:r>
            <a:r>
              <a:rPr lang="ko-KR" altLang="ko-KR" dirty="0"/>
              <a:t> 부</a:t>
            </a:r>
            <a:r>
              <a:rPr lang="ko-KR" altLang="en-US" dirty="0"/>
              <a:t>릅니다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  <a:r>
              <a:rPr lang="ko-KR" altLang="en-US" dirty="0"/>
              <a:t>그 이유에 대해 살펴보겠습니다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우리가 진짜 배우고 싶은 건 </a:t>
            </a:r>
            <a:r>
              <a:rPr lang="ko-KR" altLang="ko-KR" dirty="0" err="1"/>
              <a:t>marginal</a:t>
            </a:r>
            <a:r>
              <a:rPr lang="ko-KR" altLang="ko-KR" dirty="0"/>
              <a:t> </a:t>
            </a:r>
            <a:r>
              <a:rPr lang="ko-KR" altLang="ko-KR" dirty="0" err="1"/>
              <a:t>velocity</a:t>
            </a:r>
            <a:r>
              <a:rPr lang="ko-KR" altLang="ko-KR" dirty="0"/>
              <a:t>, 즉 데이터 전체를 아우르는 이상적인 속도장입니다. </a:t>
            </a:r>
            <a:r>
              <a:rPr lang="ko-KR" altLang="en-US" dirty="0"/>
              <a:t>하지만 문제가 있습니다</a:t>
            </a:r>
            <a:r>
              <a:rPr lang="en-US" altLang="ko-KR" dirty="0"/>
              <a:t>. </a:t>
            </a:r>
            <a:r>
              <a:rPr lang="ko-KR" altLang="ko-KR" dirty="0"/>
              <a:t>위 수식처럼 이건 모든 데이터에 대한 적분이라서 계산이 불가능합니다. 학습 목표로 그대로 쓸 수가 없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해결책은 이렇습니다. 데이터 전체를 한꺼번에 보는 대신, 데이터 포인트 하나 </a:t>
            </a:r>
            <a:r>
              <a:rPr lang="ko-KR" altLang="ko-KR" dirty="0" err="1"/>
              <a:t>z를</a:t>
            </a:r>
            <a:r>
              <a:rPr lang="ko-KR" altLang="ko-KR" dirty="0"/>
              <a:t> 조건으로 걸어버리는 겁니다. 그러면 그 경로의 속도는 아주 간단한 닫힌 형태로 떨어집니다. 예를 들어 </a:t>
            </a:r>
            <a:r>
              <a:rPr lang="ko-KR" altLang="ko-KR" dirty="0" err="1"/>
              <a:t>z를</a:t>
            </a:r>
            <a:r>
              <a:rPr lang="ko-KR" altLang="ko-KR" dirty="0"/>
              <a:t> 향하는 직선 경로라면 속도는 그냥 (</a:t>
            </a:r>
            <a:r>
              <a:rPr lang="ko-KR" altLang="ko-KR" dirty="0" err="1"/>
              <a:t>z</a:t>
            </a:r>
            <a:r>
              <a:rPr lang="ko-KR" altLang="ko-KR" dirty="0"/>
              <a:t> 빼기 </a:t>
            </a:r>
            <a:r>
              <a:rPr lang="ko-KR" altLang="ko-KR" dirty="0" err="1"/>
              <a:t>x</a:t>
            </a:r>
            <a:r>
              <a:rPr lang="ko-KR" altLang="ko-KR" dirty="0"/>
              <a:t>) 나누기 (1 빼기 </a:t>
            </a:r>
            <a:r>
              <a:rPr lang="ko-KR" altLang="ko-KR" dirty="0" err="1"/>
              <a:t>t</a:t>
            </a:r>
            <a:r>
              <a:rPr lang="ko-KR" altLang="ko-KR" dirty="0"/>
              <a:t>), 이렇게 간단하게 </a:t>
            </a:r>
            <a:r>
              <a:rPr lang="ko-KR" altLang="en-US" dirty="0"/>
              <a:t>나오게 된다고 합니다</a:t>
            </a:r>
            <a:r>
              <a:rPr lang="en-US" altLang="ko-KR" dirty="0"/>
              <a:t>. </a:t>
            </a:r>
            <a:r>
              <a:rPr lang="ko-KR" altLang="ko-KR" dirty="0"/>
              <a:t>그래서 아래 CFM </a:t>
            </a:r>
            <a:r>
              <a:rPr lang="ko-KR" altLang="ko-KR" dirty="0" err="1"/>
              <a:t>loss처럼</a:t>
            </a:r>
            <a:r>
              <a:rPr lang="ko-KR" altLang="ko-KR" dirty="0"/>
              <a:t> 신경망 출력이 이 간단한 조건부 속도를 따라가도록 학습시킬 수 있습니다.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그런데 여기서 당연히 이런 의문이 듭니다. ＂조건부로 문제를 </a:t>
            </a:r>
            <a:r>
              <a:rPr lang="ko-KR" altLang="ko-KR" dirty="0" err="1"/>
              <a:t>바꿔치기했는데</a:t>
            </a:r>
            <a:r>
              <a:rPr lang="ko-KR" altLang="ko-KR" dirty="0"/>
              <a:t>, 원래 풀고 싶던 </a:t>
            </a:r>
            <a:r>
              <a:rPr lang="ko-KR" altLang="ko-KR" dirty="0" err="1"/>
              <a:t>문제랑</a:t>
            </a:r>
            <a:r>
              <a:rPr lang="ko-KR" altLang="ko-KR" dirty="0"/>
              <a:t> 다른 거 아니야?＂ 이게 </a:t>
            </a:r>
            <a:r>
              <a:rPr lang="ko-KR" altLang="ko-KR" dirty="0" err="1"/>
              <a:t>Lipman</a:t>
            </a:r>
            <a:r>
              <a:rPr lang="ko-KR" altLang="ko-KR" dirty="0"/>
              <a:t> 논문의 결정적인 기여입니다. 두 </a:t>
            </a:r>
            <a:r>
              <a:rPr lang="ko-KR" altLang="ko-KR" dirty="0" err="1"/>
              <a:t>loss의</a:t>
            </a:r>
            <a:r>
              <a:rPr lang="ko-KR" altLang="ko-KR" dirty="0"/>
              <a:t> </a:t>
            </a:r>
            <a:r>
              <a:rPr lang="ko-KR" altLang="ko-KR" dirty="0" err="1"/>
              <a:t>gradient가</a:t>
            </a:r>
            <a:r>
              <a:rPr lang="ko-KR" altLang="ko-KR" dirty="0"/>
              <a:t> 정확히 같다는 걸 증명했</a:t>
            </a:r>
            <a:r>
              <a:rPr lang="ko-KR" altLang="en-US" dirty="0"/>
              <a:t>습니다</a:t>
            </a:r>
            <a:r>
              <a:rPr lang="en-US" altLang="ko-KR" dirty="0"/>
              <a:t>.</a:t>
            </a:r>
            <a:r>
              <a:rPr lang="ko-KR" altLang="ko-KR" dirty="0"/>
              <a:t> 즉 계산 가능한 조건부 </a:t>
            </a:r>
            <a:r>
              <a:rPr lang="ko-KR" altLang="ko-KR" dirty="0" err="1"/>
              <a:t>loss를</a:t>
            </a:r>
            <a:r>
              <a:rPr lang="ko-KR" altLang="ko-KR" dirty="0"/>
              <a:t> 최소화해도 원래 목표와 완전히 동일하게 학습된다는</a:t>
            </a:r>
            <a:r>
              <a:rPr lang="en-US" altLang="ko-KR" dirty="0"/>
              <a:t> </a:t>
            </a:r>
            <a:r>
              <a:rPr lang="ko-KR" altLang="en-US" dirty="0"/>
              <a:t>겁니다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  <a:endParaRPr lang="en-US" altLang="ko-KR" dirty="0"/>
          </a:p>
          <a:p>
            <a:pPr rtl="0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DD4C8-E713-B03B-4058-C6E7AAB54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70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A6C13-C07A-6520-B74E-9928D03B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F7DF29-FF8E-26EE-F33B-DB8040AC2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4907F-2AE1-2980-43AD-6EA1DDFDA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Primeflow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ko-KR" altLang="en-US" dirty="0"/>
              <a:t>지금까지 </a:t>
            </a:r>
            <a:r>
              <a:rPr lang="en-US" altLang="ko-KR" dirty="0" err="1"/>
              <a:t>Perturbench</a:t>
            </a:r>
            <a:r>
              <a:rPr lang="ko-KR" altLang="en-US" dirty="0"/>
              <a:t>와 </a:t>
            </a:r>
            <a:r>
              <a:rPr lang="en-US" altLang="ko-KR" dirty="0"/>
              <a:t>Flow Matching</a:t>
            </a:r>
            <a:r>
              <a:rPr lang="ko-KR" altLang="en-US" dirty="0"/>
              <a:t>에 대해 살펴봤습니다</a:t>
            </a:r>
            <a:r>
              <a:rPr lang="en-US" altLang="ko-KR" dirty="0"/>
              <a:t>. </a:t>
            </a:r>
            <a:r>
              <a:rPr lang="ko-KR" altLang="en-US" dirty="0"/>
              <a:t>다음으로 이 논문의 주인공인 </a:t>
            </a:r>
            <a:r>
              <a:rPr lang="en-US" altLang="ko-KR" dirty="0" err="1"/>
              <a:t>PRiMeFlow</a:t>
            </a:r>
            <a:r>
              <a:rPr lang="ko-KR" altLang="en-US" dirty="0"/>
              <a:t>가 앞서 소개한 것들을 어떻게 활용하는 지 확인해보겠습니다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Primeflow</a:t>
            </a:r>
            <a:r>
              <a:rPr lang="ko-KR" altLang="en-US" dirty="0"/>
              <a:t>는 </a:t>
            </a:r>
            <a:r>
              <a:rPr lang="en-US" altLang="ko-KR" dirty="0"/>
              <a:t>Perturbation response </a:t>
            </a:r>
            <a:r>
              <a:rPr lang="ko-KR" altLang="en-US" dirty="0"/>
              <a:t>모델링에 </a:t>
            </a:r>
            <a:r>
              <a:rPr lang="en-US" altLang="ko-KR" dirty="0"/>
              <a:t>end-to-end flow matching</a:t>
            </a:r>
            <a:r>
              <a:rPr lang="ko-KR" altLang="en-US" dirty="0"/>
              <a:t>을 처음으로 적용한 모델입니다</a:t>
            </a:r>
            <a:r>
              <a:rPr lang="en-US" altLang="ko-KR" dirty="0"/>
              <a:t>. (</a:t>
            </a:r>
            <a:r>
              <a:rPr lang="ko-KR" altLang="en-US" dirty="0"/>
              <a:t>구체적인 구조는 뒤에 </a:t>
            </a:r>
            <a:r>
              <a:rPr lang="en-US" altLang="ko-KR" dirty="0"/>
              <a:t>method </a:t>
            </a:r>
            <a:r>
              <a:rPr lang="ko-KR" altLang="en-US" dirty="0"/>
              <a:t>에서 소개하겠습니다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en-US" altLang="ko-KR" dirty="0" err="1"/>
              <a:t>Primeflow</a:t>
            </a:r>
            <a:r>
              <a:rPr lang="ko-KR" altLang="en-US" dirty="0"/>
              <a:t>는 의도적으로 </a:t>
            </a:r>
            <a:r>
              <a:rPr lang="en-US" altLang="ko-KR" dirty="0"/>
              <a:t>PCA</a:t>
            </a:r>
            <a:r>
              <a:rPr lang="ko-KR" altLang="en-US" dirty="0"/>
              <a:t>나 단일 세포 기초 모델에서 뽑아낸 </a:t>
            </a:r>
            <a:r>
              <a:rPr lang="en-US" altLang="ko-KR" dirty="0"/>
              <a:t>“</a:t>
            </a:r>
            <a:r>
              <a:rPr lang="ko-KR" altLang="en-US" dirty="0"/>
              <a:t>고정된 </a:t>
            </a:r>
            <a:r>
              <a:rPr lang="en-US" altLang="ko-KR" dirty="0"/>
              <a:t>pretrained</a:t>
            </a:r>
            <a:r>
              <a:rPr lang="ko-KR" altLang="en-US" dirty="0"/>
              <a:t>된 잠재 </a:t>
            </a:r>
            <a:r>
              <a:rPr lang="ko-KR" altLang="en-US" dirty="0" err="1"/>
              <a:t>임베딩</a:t>
            </a:r>
            <a:r>
              <a:rPr lang="en-US" altLang="ko-KR" dirty="0"/>
              <a:t>”</a:t>
            </a:r>
            <a:r>
              <a:rPr lang="ko-KR" altLang="en-US" dirty="0"/>
              <a:t>의 필요성을 없애는 설계 선택을 합니다</a:t>
            </a:r>
            <a:r>
              <a:rPr lang="en-US" altLang="ko-KR" dirty="0"/>
              <a:t>.</a:t>
            </a:r>
            <a:r>
              <a:rPr lang="ko-KR" altLang="en-US" dirty="0"/>
              <a:t> 이게 왜 중요한 지는 기존 방식과 비교하면 </a:t>
            </a:r>
            <a:r>
              <a:rPr lang="ko-KR" altLang="en-US" dirty="0" err="1"/>
              <a:t>명확해집니다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기존에는 </a:t>
            </a:r>
            <a:r>
              <a:rPr lang="en-US" altLang="ko-KR" dirty="0"/>
              <a:t>expression profile</a:t>
            </a:r>
            <a:r>
              <a:rPr lang="ko-KR" altLang="en-US" dirty="0"/>
              <a:t>들을 더 다루기 쉬운 </a:t>
            </a:r>
            <a:r>
              <a:rPr lang="ko-KR" altLang="en-US" dirty="0" err="1"/>
              <a:t>저차원</a:t>
            </a:r>
            <a:r>
              <a:rPr lang="ko-KR" altLang="en-US" dirty="0"/>
              <a:t> 공간으로 압축</a:t>
            </a:r>
            <a:r>
              <a:rPr lang="en-US" altLang="ko-KR" dirty="0"/>
              <a:t>(</a:t>
            </a:r>
            <a:r>
              <a:rPr lang="ko-KR" altLang="en-US" dirty="0"/>
              <a:t>한 뒤 모델링을 진행</a:t>
            </a:r>
            <a:r>
              <a:rPr lang="en-US" altLang="ko-KR" dirty="0"/>
              <a:t>)</a:t>
            </a:r>
            <a:r>
              <a:rPr lang="ko-KR" altLang="en-US" dirty="0"/>
              <a:t>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이렇게 압축을 하게 되면</a:t>
            </a:r>
            <a:r>
              <a:rPr lang="en-US" altLang="ko-KR" dirty="0"/>
              <a:t>, </a:t>
            </a:r>
            <a:r>
              <a:rPr lang="ko-KR" altLang="en-US" dirty="0"/>
              <a:t>정확한 </a:t>
            </a:r>
            <a:r>
              <a:rPr lang="en-US" altLang="ko-KR" dirty="0"/>
              <a:t>downstream </a:t>
            </a:r>
            <a:r>
              <a:rPr lang="ko-KR" altLang="en-US" dirty="0"/>
              <a:t>예측을 위한 중요한 생물학적 신호를 잃을 위험이 있으며</a:t>
            </a:r>
            <a:r>
              <a:rPr lang="en-US" altLang="ko-KR" dirty="0"/>
              <a:t>, </a:t>
            </a:r>
            <a:r>
              <a:rPr lang="ko-KR" altLang="en-US" dirty="0"/>
              <a:t>다단계 </a:t>
            </a:r>
            <a:r>
              <a:rPr lang="en-US" altLang="ko-KR" dirty="0"/>
              <a:t>interface(</a:t>
            </a:r>
            <a:r>
              <a:rPr lang="ko-KR" altLang="en-US" dirty="0"/>
              <a:t>추론</a:t>
            </a:r>
            <a:r>
              <a:rPr lang="en-US" altLang="ko-KR" dirty="0"/>
              <a:t>) pipeline</a:t>
            </a:r>
            <a:r>
              <a:rPr lang="ko-KR" altLang="en-US" dirty="0"/>
              <a:t>에서 </a:t>
            </a:r>
            <a:r>
              <a:rPr lang="en-US" altLang="ko-KR" dirty="0"/>
              <a:t>error</a:t>
            </a:r>
            <a:r>
              <a:rPr lang="ko-KR" altLang="en-US" dirty="0"/>
              <a:t>가 누적될 위험이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ko-KR" b="0" dirty="0"/>
              <a:t>그래서 </a:t>
            </a:r>
            <a:r>
              <a:rPr lang="ko-KR" altLang="ko-KR" b="0" dirty="0" err="1"/>
              <a:t>PRiMeFlow는</a:t>
            </a:r>
            <a:r>
              <a:rPr lang="ko-KR" altLang="ko-KR" b="0" dirty="0"/>
              <a:t> 이 중간 압축 단계를 아예 없애고, 유전자 발현 공간에서 직접 동작합니다. </a:t>
            </a:r>
            <a:r>
              <a:rPr lang="ko-KR" altLang="en-US" b="0" dirty="0"/>
              <a:t>속도장을</a:t>
            </a:r>
            <a:r>
              <a:rPr lang="ko-KR" altLang="ko-KR" b="0" dirty="0"/>
              <a:t> </a:t>
            </a:r>
            <a:r>
              <a:rPr lang="ko-KR" altLang="ko-KR" b="0" dirty="0" err="1"/>
              <a:t>latent가</a:t>
            </a:r>
            <a:r>
              <a:rPr lang="ko-KR" altLang="ko-KR" b="0" dirty="0"/>
              <a:t> 아니라 </a:t>
            </a:r>
            <a:r>
              <a:rPr lang="ko-KR" altLang="ko-KR" b="0" dirty="0" err="1"/>
              <a:t>raw</a:t>
            </a:r>
            <a:r>
              <a:rPr lang="ko-KR" altLang="ko-KR" b="0" dirty="0"/>
              <a:t> 발현 공간에서 바로 학습</a:t>
            </a:r>
            <a:r>
              <a:rPr lang="ko-KR" altLang="en-US" b="0" dirty="0"/>
              <a:t>을 한다는 겁니다</a:t>
            </a:r>
            <a:r>
              <a:rPr lang="en-US" altLang="ko-KR" b="0" dirty="0"/>
              <a:t>. </a:t>
            </a:r>
            <a:r>
              <a:rPr lang="ko-KR" altLang="ko-KR" b="0" dirty="0"/>
              <a:t>그리고 이 </a:t>
            </a:r>
            <a:r>
              <a:rPr lang="ko-KR" altLang="en-US" b="0" dirty="0"/>
              <a:t>속도장을</a:t>
            </a:r>
            <a:r>
              <a:rPr lang="ko-KR" altLang="ko-KR" b="0" dirty="0"/>
              <a:t> </a:t>
            </a:r>
            <a:r>
              <a:rPr lang="ko-KR" altLang="ko-KR" b="0" dirty="0" err="1"/>
              <a:t>U</a:t>
            </a:r>
            <a:r>
              <a:rPr lang="ko-KR" altLang="ko-KR" b="0" dirty="0"/>
              <a:t>-Net으로 </a:t>
            </a:r>
            <a:r>
              <a:rPr lang="en-US" altLang="ko-KR" b="0" dirty="0"/>
              <a:t>parameterize </a:t>
            </a:r>
            <a:r>
              <a:rPr lang="ko-KR" altLang="ko-KR" b="0" dirty="0"/>
              <a:t>하는데, 이 두 가지 선택—발현 공간에서 직접 동작하는 것과 </a:t>
            </a:r>
            <a:r>
              <a:rPr lang="ko-KR" altLang="ko-KR" b="0" dirty="0" err="1"/>
              <a:t>U</a:t>
            </a:r>
            <a:r>
              <a:rPr lang="ko-KR" altLang="ko-KR" b="0" dirty="0"/>
              <a:t>-Net을 쓰는 것—이 바로 </a:t>
            </a:r>
            <a:r>
              <a:rPr lang="ko-KR" altLang="ko-KR" b="0" dirty="0" err="1"/>
              <a:t>PRiMeFlow의</a:t>
            </a:r>
            <a:r>
              <a:rPr lang="ko-KR" altLang="ko-KR" b="0" dirty="0"/>
              <a:t> 성능을 뒷받침하는 핵심</a:t>
            </a:r>
            <a:r>
              <a:rPr lang="ko-KR" altLang="en-US" b="0" dirty="0"/>
              <a:t>입니다</a:t>
            </a:r>
            <a:r>
              <a:rPr lang="en-US" altLang="ko-KR" b="0" dirty="0"/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1E122-A0A8-0A5F-AF57-AAD28378B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124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F388-E567-B34F-BA98-7A1F8A12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060A07-9328-7CB5-0B7B-D2DDC34A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6F7B2E-04F0-18F1-C77A-737D8DB6D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기여 </a:t>
            </a:r>
            <a:r>
              <a:rPr lang="en-US" altLang="ko-KR" dirty="0"/>
              <a:t>– </a:t>
            </a:r>
            <a:r>
              <a:rPr lang="ko-KR" altLang="en-US" dirty="0"/>
              <a:t>총 </a:t>
            </a:r>
            <a:r>
              <a:rPr lang="en-US" altLang="ko-KR" dirty="0"/>
              <a:t>4</a:t>
            </a:r>
            <a:r>
              <a:rPr lang="ko-KR" altLang="en-US" dirty="0"/>
              <a:t>가지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pPr rtl="0"/>
            <a:r>
              <a:rPr lang="ko-KR" altLang="ko-KR" dirty="0"/>
              <a:t>이 논문의 기여는 크게 네 가지입니다.</a:t>
            </a:r>
          </a:p>
          <a:p>
            <a:pPr rtl="0"/>
            <a:r>
              <a:rPr lang="ko-KR" altLang="ko-KR" b="0" dirty="0"/>
              <a:t>첫째, </a:t>
            </a:r>
            <a:r>
              <a:rPr lang="ko-KR" altLang="ko-KR" b="0" dirty="0" err="1"/>
              <a:t>perturbation</a:t>
            </a:r>
            <a:r>
              <a:rPr lang="ko-KR" altLang="ko-KR" b="0" dirty="0"/>
              <a:t> </a:t>
            </a:r>
            <a:r>
              <a:rPr lang="ko-KR" altLang="ko-KR" b="0" dirty="0" err="1"/>
              <a:t>response</a:t>
            </a:r>
            <a:r>
              <a:rPr lang="ko-KR" altLang="ko-KR" b="0" dirty="0"/>
              <a:t> 모델링을 위한 간결한 </a:t>
            </a:r>
            <a:r>
              <a:rPr lang="ko-KR" altLang="ko-KR" b="0" dirty="0" err="1"/>
              <a:t>end-to-end</a:t>
            </a:r>
            <a:r>
              <a:rPr lang="ko-KR" altLang="ko-KR" b="0" dirty="0"/>
              <a:t> </a:t>
            </a:r>
            <a:r>
              <a:rPr lang="ko-KR" altLang="ko-KR" b="0" dirty="0" err="1"/>
              <a:t>flow</a:t>
            </a:r>
            <a:r>
              <a:rPr lang="ko-KR" altLang="ko-KR" b="0" dirty="0"/>
              <a:t> </a:t>
            </a:r>
            <a:r>
              <a:rPr lang="ko-KR" altLang="ko-KR" b="0" dirty="0" err="1"/>
              <a:t>matching을</a:t>
            </a:r>
            <a:r>
              <a:rPr lang="ko-KR" altLang="ko-KR" b="0" dirty="0"/>
              <a:t> 설계했습니다.</a:t>
            </a:r>
            <a:endParaRPr lang="en-US" altLang="ko-KR" b="0" dirty="0"/>
          </a:p>
          <a:p>
            <a:pPr rtl="0"/>
            <a:endParaRPr lang="ko-KR" altLang="ko-KR" b="0" dirty="0"/>
          </a:p>
          <a:p>
            <a:pPr rtl="0"/>
            <a:r>
              <a:rPr lang="ko-KR" altLang="ko-KR" b="0" dirty="0"/>
              <a:t>둘째, </a:t>
            </a:r>
            <a:r>
              <a:rPr lang="ko-KR" altLang="ko-KR" b="0" dirty="0" err="1"/>
              <a:t>PerturBench</a:t>
            </a:r>
            <a:r>
              <a:rPr lang="ko-KR" altLang="ko-KR" b="0" dirty="0"/>
              <a:t> 실험에서 여러 </a:t>
            </a:r>
            <a:r>
              <a:rPr lang="ko-KR" altLang="ko-KR" b="0" dirty="0" err="1"/>
              <a:t>baseline</a:t>
            </a:r>
            <a:r>
              <a:rPr lang="ko-KR" altLang="ko-KR" b="0" dirty="0"/>
              <a:t> 대비 뛰어난 분포 적합 능력을 입증했습니다. 특히 DEG </a:t>
            </a:r>
            <a:r>
              <a:rPr lang="ko-KR" altLang="ko-KR" b="0" dirty="0" err="1"/>
              <a:t>recall에서요</a:t>
            </a:r>
            <a:r>
              <a:rPr lang="ko-KR" altLang="ko-KR" b="0" dirty="0"/>
              <a:t>. </a:t>
            </a:r>
            <a:r>
              <a:rPr lang="ko-KR" altLang="ko-KR" b="0" dirty="0" err="1"/>
              <a:t>DEG는</a:t>
            </a:r>
            <a:r>
              <a:rPr lang="ko-KR" altLang="ko-KR" b="0" dirty="0"/>
              <a:t> 차등 발현 유전자, 즉 </a:t>
            </a:r>
            <a:r>
              <a:rPr lang="ko-KR" altLang="ko-KR" b="0" dirty="0" err="1"/>
              <a:t>perturbation</a:t>
            </a:r>
            <a:r>
              <a:rPr lang="ko-KR" altLang="ko-KR" b="0" dirty="0"/>
              <a:t> 후 </a:t>
            </a:r>
            <a:r>
              <a:rPr lang="ko-KR" altLang="ko-KR" b="0" dirty="0" err="1"/>
              <a:t>발현량이</a:t>
            </a:r>
            <a:r>
              <a:rPr lang="ko-KR" altLang="ko-KR" b="0" dirty="0"/>
              <a:t> 유의미하게 변한 유전자를 말합니다. 쉽게 말해 "실제로 </a:t>
            </a:r>
            <a:r>
              <a:rPr lang="ko-KR" altLang="ko-KR" b="0" dirty="0" err="1"/>
              <a:t>영향받은</a:t>
            </a:r>
            <a:r>
              <a:rPr lang="ko-KR" altLang="ko-KR" b="0" dirty="0"/>
              <a:t> 진짜 중요한 </a:t>
            </a:r>
            <a:r>
              <a:rPr lang="ko-KR" altLang="ko-KR" b="0" dirty="0" err="1"/>
              <a:t>유전자"를</a:t>
            </a:r>
            <a:r>
              <a:rPr lang="ko-KR" altLang="ko-KR" b="0" dirty="0"/>
              <a:t> 잘 잡아냈다는 겁니다.</a:t>
            </a:r>
            <a:endParaRPr lang="en-US" altLang="ko-KR" b="0" dirty="0"/>
          </a:p>
          <a:p>
            <a:pPr rtl="0"/>
            <a:endParaRPr lang="ko-KR" altLang="ko-KR" b="0" dirty="0"/>
          </a:p>
          <a:p>
            <a:pPr rtl="0"/>
            <a:r>
              <a:rPr lang="ko-KR" altLang="ko-KR" b="0" dirty="0"/>
              <a:t>셋째, </a:t>
            </a:r>
            <a:r>
              <a:rPr lang="ko-KR" altLang="ko-KR" b="0" dirty="0" err="1"/>
              <a:t>ablation을</a:t>
            </a:r>
            <a:r>
              <a:rPr lang="ko-KR" altLang="ko-KR" b="0" dirty="0"/>
              <a:t> 통해 세 가지 핵심 설계를 검증했습니다. </a:t>
            </a:r>
            <a:r>
              <a:rPr lang="ko-KR" altLang="ko-KR" b="0" dirty="0" err="1"/>
              <a:t>latent</a:t>
            </a:r>
            <a:r>
              <a:rPr lang="ko-KR" altLang="ko-KR" b="0" dirty="0"/>
              <a:t> 대신 발현 공간에서 </a:t>
            </a:r>
            <a:r>
              <a:rPr lang="ko-KR" altLang="ko-KR" b="0" dirty="0" err="1"/>
              <a:t>velocity</a:t>
            </a:r>
            <a:r>
              <a:rPr lang="ko-KR" altLang="ko-KR" b="0" dirty="0"/>
              <a:t> </a:t>
            </a:r>
            <a:r>
              <a:rPr lang="ko-KR" altLang="ko-KR" b="0" dirty="0" err="1"/>
              <a:t>field를</a:t>
            </a:r>
            <a:r>
              <a:rPr lang="ko-KR" altLang="ko-KR" b="0" dirty="0"/>
              <a:t> </a:t>
            </a:r>
            <a:r>
              <a:rPr lang="ko-KR" altLang="ko-KR" b="0" dirty="0" err="1"/>
              <a:t>파라미터화한</a:t>
            </a:r>
            <a:r>
              <a:rPr lang="ko-KR" altLang="ko-KR" b="0" dirty="0"/>
              <a:t> 것, MLP 대신 </a:t>
            </a:r>
            <a:r>
              <a:rPr lang="ko-KR" altLang="ko-KR" b="0" dirty="0" err="1"/>
              <a:t>U</a:t>
            </a:r>
            <a:r>
              <a:rPr lang="ko-KR" altLang="ko-KR" b="0" dirty="0"/>
              <a:t>-Net을 쓴 것, OT(</a:t>
            </a:r>
            <a:r>
              <a:rPr lang="ko-KR" altLang="ko-KR" b="0" dirty="0" err="1"/>
              <a:t>optimal</a:t>
            </a:r>
            <a:r>
              <a:rPr lang="ko-KR" altLang="ko-KR" b="0" dirty="0"/>
              <a:t> </a:t>
            </a:r>
            <a:r>
              <a:rPr lang="ko-KR" altLang="ko-KR" b="0" dirty="0" err="1"/>
              <a:t>transport</a:t>
            </a:r>
            <a:r>
              <a:rPr lang="ko-KR" altLang="ko-KR" b="0" dirty="0"/>
              <a:t>) 대신 단순한 </a:t>
            </a:r>
            <a:r>
              <a:rPr lang="ko-KR" altLang="ko-KR" b="0" dirty="0" err="1"/>
              <a:t>independent</a:t>
            </a:r>
            <a:r>
              <a:rPr lang="ko-KR" altLang="ko-KR" b="0" dirty="0"/>
              <a:t> </a:t>
            </a:r>
            <a:r>
              <a:rPr lang="ko-KR" altLang="ko-KR" b="0" dirty="0" err="1"/>
              <a:t>coupling으로</a:t>
            </a:r>
            <a:r>
              <a:rPr lang="ko-KR" altLang="ko-KR" b="0" dirty="0"/>
              <a:t> 학습한 것. 세 경우 모두 단순한 선택이 더 나았습니다.</a:t>
            </a:r>
            <a:endParaRPr lang="en-US" altLang="ko-KR" b="0" dirty="0"/>
          </a:p>
          <a:p>
            <a:pPr rtl="0"/>
            <a:endParaRPr lang="ko-KR" altLang="ko-KR" b="0" dirty="0"/>
          </a:p>
          <a:p>
            <a:pPr rtl="0"/>
            <a:r>
              <a:rPr lang="ko-KR" altLang="ko-KR" b="0" dirty="0"/>
              <a:t>넷째, </a:t>
            </a:r>
            <a:r>
              <a:rPr lang="ko-KR" altLang="ko-KR" b="0" dirty="0" err="1"/>
              <a:t>pretraining-finetuning으로</a:t>
            </a:r>
            <a:r>
              <a:rPr lang="ko-KR" altLang="ko-KR" b="0" dirty="0"/>
              <a:t> </a:t>
            </a:r>
            <a:r>
              <a:rPr lang="ko-KR" altLang="ko-KR" b="0" dirty="0" err="1"/>
              <a:t>스케일업해서</a:t>
            </a:r>
            <a:r>
              <a:rPr lang="ko-KR" altLang="ko-KR" b="0" dirty="0"/>
              <a:t> ARC </a:t>
            </a:r>
            <a:r>
              <a:rPr lang="ko-KR" altLang="ko-KR" b="0" dirty="0" err="1"/>
              <a:t>VCC의</a:t>
            </a:r>
            <a:r>
              <a:rPr lang="ko-KR" altLang="ko-KR" b="0" dirty="0"/>
              <a:t> H1 인간 배아줄기세포에서 우수한 성능을 입증했습니다.</a:t>
            </a:r>
          </a:p>
          <a:p>
            <a:pPr rtl="0"/>
            <a:r>
              <a:rPr lang="ko-KR" altLang="ko-KR" b="0" dirty="0"/>
              <a:t>이 네 가지를 이어지는 </a:t>
            </a:r>
            <a:r>
              <a:rPr lang="ko-KR" altLang="ko-KR" b="0" dirty="0" err="1"/>
              <a:t>Method와</a:t>
            </a:r>
            <a:r>
              <a:rPr lang="ko-KR" altLang="ko-KR" b="0" dirty="0"/>
              <a:t> </a:t>
            </a:r>
            <a:r>
              <a:rPr lang="ko-KR" altLang="ko-KR" b="0" dirty="0" err="1"/>
              <a:t>Result에서</a:t>
            </a:r>
            <a:r>
              <a:rPr lang="ko-KR" altLang="ko-KR" b="0" dirty="0"/>
              <a:t> 자세히 보겠습니다.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B3C79A-15C4-04C7-AA68-BF2DD030A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76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F228-3988-76E4-A8DB-2548CDE6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CF50FF-B349-66E6-A4A2-822BBD336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04BF10-2780-1005-C6A8-EDC904038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&lt;</a:t>
            </a:r>
            <a:r>
              <a:rPr kumimoji="1" lang="ko-KR" altLang="en-US" dirty="0" err="1"/>
              <a:t>오버뷰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셋업</a:t>
            </a:r>
            <a:r>
              <a:rPr kumimoji="1"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rtl="0"/>
            <a:r>
              <a:rPr lang="ko-KR" altLang="ko-KR" dirty="0"/>
              <a:t>본격적인 세부 설명에 들어가기 전에, </a:t>
            </a:r>
            <a:r>
              <a:rPr lang="ko-KR" altLang="en-US" dirty="0"/>
              <a:t>왼쪽 사진으로</a:t>
            </a:r>
            <a:r>
              <a:rPr lang="ko-KR" altLang="ko-KR" dirty="0"/>
              <a:t> </a:t>
            </a:r>
            <a:r>
              <a:rPr lang="ko-KR" altLang="ko-KR" dirty="0" err="1"/>
              <a:t>PRiMeFlow</a:t>
            </a:r>
            <a:r>
              <a:rPr lang="ko-KR" altLang="ko-KR" dirty="0"/>
              <a:t> 전체가 어떻게 돌아가</a:t>
            </a:r>
            <a:r>
              <a:rPr lang="ko-KR" altLang="en-US" dirty="0"/>
              <a:t>는지 살펴보겠습니다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rtl="0"/>
            <a:r>
              <a:rPr lang="ko-KR" altLang="ko-KR" dirty="0"/>
              <a:t>왼쪽에 네 가지 입력이 있습니다. 차례대로 지금 세포의 발현 상태, 어떤 처리(</a:t>
            </a:r>
            <a:r>
              <a:rPr lang="ko-KR" altLang="ko-KR" dirty="0" err="1"/>
              <a:t>perturbation</a:t>
            </a:r>
            <a:r>
              <a:rPr lang="ko-KR" altLang="ko-KR" dirty="0"/>
              <a:t>)를 받았는지, 어떤 세포 맥락인지, 그리고 시간입니다. 이 입력들이 가운데 </a:t>
            </a:r>
            <a:r>
              <a:rPr lang="ko-KR" altLang="ko-KR" dirty="0" err="1"/>
              <a:t>U</a:t>
            </a:r>
            <a:r>
              <a:rPr lang="ko-KR" altLang="ko-KR" dirty="0"/>
              <a:t>-Net으로 만든 속도장에 들어가서 속도(</a:t>
            </a:r>
            <a:r>
              <a:rPr lang="ko-KR" altLang="ko-KR" dirty="0" err="1"/>
              <a:t>velocity</a:t>
            </a:r>
            <a:r>
              <a:rPr lang="ko-KR" altLang="ko-KR" dirty="0"/>
              <a:t>)를 출력합니다.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오른쪽 위가 학습 과정입니다. 이 속도를 </a:t>
            </a:r>
            <a:r>
              <a:rPr lang="ko-KR" altLang="ko-KR" dirty="0" err="1"/>
              <a:t>Conditional</a:t>
            </a:r>
            <a:r>
              <a:rPr lang="ko-KR" altLang="ko-KR" dirty="0"/>
              <a:t>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</a:t>
            </a:r>
            <a:r>
              <a:rPr lang="ko-KR" altLang="ko-KR" dirty="0"/>
              <a:t> </a:t>
            </a:r>
            <a:r>
              <a:rPr lang="ko-KR" altLang="ko-KR" dirty="0" err="1"/>
              <a:t>Loss</a:t>
            </a:r>
            <a:r>
              <a:rPr lang="ko-KR" altLang="ko-KR" dirty="0"/>
              <a:t>, 즉 </a:t>
            </a:r>
            <a:r>
              <a:rPr lang="ko-KR" altLang="ko-KR" dirty="0" err="1"/>
              <a:t>L_CFM으로</a:t>
            </a:r>
            <a:r>
              <a:rPr lang="ko-KR" altLang="ko-KR" dirty="0"/>
              <a:t> 학습시키고, 수렴할 때까지 경사 하강법으로 모델을 계속 업데이트합니다. 수렴하고 나면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오른쪽 아래, 추론 단계로 넘어가서 궤적을 샘플링해 최종 발현 결과를 만들어냅니다. 앞에서 본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Matching이</a:t>
            </a:r>
            <a:r>
              <a:rPr lang="ko-KR" altLang="ko-KR" dirty="0"/>
              <a:t> 실제로 이 파이프라인 안에서 이렇게 사용됩니다.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이제 데이터가 실제로 어떻게 표현되는지, 슬라이드 오른쪽 수식과 함께 짚어보겠습니다.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우리가 다루는 건 </a:t>
            </a:r>
            <a:r>
              <a:rPr lang="ko-KR" altLang="ko-KR" dirty="0" err="1"/>
              <a:t>Perturb-seq</a:t>
            </a:r>
            <a:r>
              <a:rPr lang="ko-KR" altLang="ko-KR" dirty="0"/>
              <a:t> 데이터인데, </a:t>
            </a:r>
            <a:r>
              <a:rPr lang="ko-KR" altLang="ko-KR" dirty="0" err="1"/>
              <a:t>정규화된</a:t>
            </a:r>
            <a:r>
              <a:rPr lang="ko-KR" altLang="ko-KR" dirty="0"/>
              <a:t> 유전자 발현 프로파일들의 집합입니다. 슬라이드에서 </a:t>
            </a:r>
            <a:r>
              <a:rPr lang="ko-KR" altLang="ko-KR" dirty="0" err="1"/>
              <a:t>X로</a:t>
            </a:r>
            <a:r>
              <a:rPr lang="ko-KR" altLang="ko-KR" dirty="0"/>
              <a:t> 쓴 게 바로 </a:t>
            </a:r>
            <a:r>
              <a:rPr lang="ko-KR" altLang="ko-KR" dirty="0" err="1"/>
              <a:t>이겁니다</a:t>
            </a:r>
            <a:r>
              <a:rPr lang="ko-KR" altLang="ko-KR" dirty="0"/>
              <a:t>. 세포가 </a:t>
            </a:r>
            <a:r>
              <a:rPr lang="ko-KR" altLang="ko-KR" dirty="0" err="1"/>
              <a:t>n개</a:t>
            </a:r>
            <a:r>
              <a:rPr lang="ko-KR" altLang="ko-KR" dirty="0"/>
              <a:t> 있고, 각 세포 </a:t>
            </a:r>
            <a:r>
              <a:rPr lang="ko-KR" altLang="ko-KR" dirty="0" err="1"/>
              <a:t>x_i는</a:t>
            </a:r>
            <a:r>
              <a:rPr lang="ko-KR" altLang="ko-KR" dirty="0"/>
              <a:t> </a:t>
            </a:r>
            <a:r>
              <a:rPr lang="ko-KR" altLang="ko-KR" dirty="0" err="1"/>
              <a:t>m차원</a:t>
            </a:r>
            <a:r>
              <a:rPr lang="ko-KR" altLang="ko-KR" dirty="0"/>
              <a:t> 벡터인데, 이 </a:t>
            </a:r>
            <a:r>
              <a:rPr lang="ko-KR" altLang="ko-KR" dirty="0" err="1"/>
              <a:t>m이</a:t>
            </a:r>
            <a:r>
              <a:rPr lang="ko-KR" altLang="ko-KR" dirty="0"/>
              <a:t> 유전자 개수입니다. 그리고 그 유전자들의 정체성, 즉 어떤 유전자인지는 </a:t>
            </a:r>
            <a:r>
              <a:rPr lang="ko-KR" altLang="ko-KR" dirty="0" err="1"/>
              <a:t>G로</a:t>
            </a:r>
            <a:r>
              <a:rPr lang="ko-KR" altLang="ko-KR" dirty="0"/>
              <a:t> 표기합니다.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핵심은 각 세포에 붙는 라벨입니다. 세포 하나하나가 </a:t>
            </a:r>
            <a:r>
              <a:rPr lang="ko-KR" altLang="ko-KR" dirty="0" err="1"/>
              <a:t>condition</a:t>
            </a:r>
            <a:r>
              <a:rPr lang="ko-KR" altLang="ko-KR" dirty="0"/>
              <a:t> </a:t>
            </a:r>
            <a:r>
              <a:rPr lang="ko-KR" altLang="ko-KR" dirty="0" err="1"/>
              <a:t>c_i를</a:t>
            </a:r>
            <a:r>
              <a:rPr lang="ko-KR" altLang="ko-KR" dirty="0"/>
              <a:t> 갖는데, 이건 두 부분으로 이뤄집니다. 하나는 그 세포가 받은 처리들, 즉 </a:t>
            </a:r>
            <a:r>
              <a:rPr lang="ko-KR" altLang="ko-KR" dirty="0" err="1"/>
              <a:t>perturbation</a:t>
            </a:r>
            <a:r>
              <a:rPr lang="ko-KR" altLang="ko-KR" dirty="0"/>
              <a:t> 집합이고, 다른 하나는 </a:t>
            </a:r>
            <a:r>
              <a:rPr lang="ko-KR" altLang="ko-KR" dirty="0" err="1"/>
              <a:t>covariate입니다</a:t>
            </a:r>
            <a:r>
              <a:rPr lang="ko-KR" altLang="ko-KR" dirty="0"/>
              <a:t>. 여기서 중요한 게, 처리가 반드시 하나가 아니라는 점입니다. 수식에서 위 첨자 </a:t>
            </a:r>
            <a:r>
              <a:rPr lang="ko-KR" altLang="ko-KR" dirty="0" err="1"/>
              <a:t>n_i가</a:t>
            </a:r>
            <a:r>
              <a:rPr lang="ko-KR" altLang="ko-KR" dirty="0"/>
              <a:t> 바로 그 세포에 가해진 </a:t>
            </a:r>
            <a:r>
              <a:rPr lang="ko-KR" altLang="ko-KR" dirty="0" err="1"/>
              <a:t>perturbation의</a:t>
            </a:r>
            <a:r>
              <a:rPr lang="ko-KR" altLang="ko-KR" dirty="0"/>
              <a:t> 개수인데, 이게 여러 개일 수 있습니다. 즉 하나의 세포에 여러 처리를 동시에 가한 조합일 수 있</a:t>
            </a:r>
            <a:r>
              <a:rPr lang="ko-KR" altLang="en-US" dirty="0"/>
              <a:t>습니다</a:t>
            </a:r>
            <a:r>
              <a:rPr lang="ko-KR" altLang="ko-KR" dirty="0"/>
              <a:t>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그리고 맨 아래 별표를 보시면, 이 </a:t>
            </a:r>
            <a:r>
              <a:rPr lang="ko-KR" altLang="ko-KR" dirty="0" err="1"/>
              <a:t>perturbation</a:t>
            </a:r>
            <a:r>
              <a:rPr lang="ko-KR" altLang="ko-KR" dirty="0"/>
              <a:t> 개수 </a:t>
            </a:r>
            <a:r>
              <a:rPr lang="ko-KR" altLang="ko-KR" dirty="0" err="1"/>
              <a:t>n_i가</a:t>
            </a:r>
            <a:r>
              <a:rPr lang="ko-KR" altLang="ko-KR" dirty="0"/>
              <a:t> 0인 경우, 다시 말해 아무 처리도 받지 않은 세포가 바로 </a:t>
            </a:r>
            <a:r>
              <a:rPr lang="ko-KR" altLang="ko-KR" dirty="0" err="1"/>
              <a:t>control</a:t>
            </a:r>
            <a:r>
              <a:rPr lang="ko-KR" altLang="ko-KR" dirty="0"/>
              <a:t> </a:t>
            </a:r>
            <a:r>
              <a:rPr lang="ko-KR" altLang="ko-KR" dirty="0" err="1"/>
              <a:t>cell입니다</a:t>
            </a:r>
            <a:r>
              <a:rPr lang="ko-KR" altLang="ko-KR" dirty="0"/>
              <a:t>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이제 이 그림의 각 부분을 하나씩 뜯어보겠습니다.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70A9F-FB25-ADD2-D47D-31CC96D76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796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DB171-3067-DC0C-F72E-2347A542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1DE94-6104-2CC2-74EF-F12C78113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856B0B-CF91-2D2F-EAC6-04035B044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&lt;</a:t>
            </a:r>
            <a:r>
              <a:rPr kumimoji="1" lang="ko-KR" altLang="en-US" dirty="0"/>
              <a:t>발현 공간에서의 직접 </a:t>
            </a:r>
            <a:r>
              <a:rPr kumimoji="1" lang="en-US" altLang="ko-KR" dirty="0"/>
              <a:t>Flow matching&gt;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rtl="0"/>
            <a:r>
              <a:rPr lang="ko-KR" altLang="ko-KR" dirty="0"/>
              <a:t>이제 </a:t>
            </a:r>
            <a:r>
              <a:rPr lang="ko-KR" altLang="ko-KR" dirty="0" err="1"/>
              <a:t>PRiMeFlow의</a:t>
            </a:r>
            <a:r>
              <a:rPr lang="ko-KR" altLang="ko-KR" dirty="0"/>
              <a:t> 가장 핵심적인 설계 철학을 보겠습니다. 한 문장으로 요약하면 이렇습니다. </a:t>
            </a:r>
            <a:endParaRPr lang="en-US" altLang="ko-KR" dirty="0"/>
          </a:p>
          <a:p>
            <a:pPr rtl="0"/>
            <a:r>
              <a:rPr lang="en-US" altLang="ko-KR" dirty="0"/>
              <a:t>“</a:t>
            </a:r>
            <a:r>
              <a:rPr lang="ko-KR" altLang="ko-KR" dirty="0"/>
              <a:t>속도장을 </a:t>
            </a:r>
            <a:r>
              <a:rPr lang="ko-KR" altLang="ko-KR" dirty="0" err="1"/>
              <a:t>latent</a:t>
            </a:r>
            <a:r>
              <a:rPr lang="ko-KR" altLang="ko-KR" dirty="0"/>
              <a:t> 공간이 아니라, 유전자 발현 공간에서 직접 </a:t>
            </a:r>
            <a:r>
              <a:rPr lang="en-US" altLang="ko-KR" dirty="0"/>
              <a:t>parameterize</a:t>
            </a:r>
            <a:r>
              <a:rPr lang="ko-KR" altLang="ko-KR" dirty="0"/>
              <a:t>한다.</a:t>
            </a:r>
            <a:r>
              <a:rPr lang="en-US" altLang="ko-KR" dirty="0"/>
              <a:t>”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앞에서 기존 방식</a:t>
            </a:r>
            <a:r>
              <a:rPr lang="en-US" altLang="ko-KR" dirty="0"/>
              <a:t>(</a:t>
            </a:r>
            <a:r>
              <a:rPr lang="en-US" altLang="ko-KR" dirty="0" err="1"/>
              <a:t>pca</a:t>
            </a:r>
            <a:r>
              <a:rPr lang="en-US" altLang="ko-KR" dirty="0"/>
              <a:t>)</a:t>
            </a:r>
            <a:r>
              <a:rPr lang="ko-KR" altLang="ko-KR" dirty="0"/>
              <a:t>들은 발현 데이터를 먼저 저차원으로 압축한다고 말씀드</a:t>
            </a:r>
            <a:r>
              <a:rPr lang="ko-KR" altLang="en-US" dirty="0"/>
              <a:t>렸습니다</a:t>
            </a:r>
            <a:r>
              <a:rPr lang="en-US" altLang="ko-KR" dirty="0"/>
              <a:t>. </a:t>
            </a:r>
            <a:r>
              <a:rPr lang="ko-KR" altLang="ko-KR" dirty="0" err="1"/>
              <a:t>PRiMeFlow는</a:t>
            </a:r>
            <a:r>
              <a:rPr lang="ko-KR" altLang="ko-KR" dirty="0"/>
              <a:t> 그 압축을 하지 않고 원본 발현 공간에서 바로 동작합니다. </a:t>
            </a:r>
            <a:r>
              <a:rPr lang="ko-KR" altLang="en-US" dirty="0"/>
              <a:t>그 이유는 </a:t>
            </a:r>
            <a:r>
              <a:rPr lang="ko-KR" altLang="ko-KR" dirty="0"/>
              <a:t>두 가지 문제를 </a:t>
            </a:r>
            <a:r>
              <a:rPr lang="ko-KR" altLang="en-US" dirty="0"/>
              <a:t>해결하기 </a:t>
            </a:r>
            <a:r>
              <a:rPr lang="ko-KR" altLang="ko-KR" dirty="0"/>
              <a:t>위해서입니다.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첫째는 이질성입니다. 단일세포 데이터는 세포마다 반응이 다 다릅니다. 서로 다른 처리를 받은 세포들이 다른 건 당연하지만(이걸 조건 간 이질성이라고 합니다), 놀랍게도 똑같은 처리를 받은 </a:t>
            </a:r>
            <a:r>
              <a:rPr lang="ko-KR" altLang="ko-KR" dirty="0" err="1"/>
              <a:t>세포들끼리도</a:t>
            </a:r>
            <a:r>
              <a:rPr lang="ko-KR" altLang="ko-KR" dirty="0"/>
              <a:t> 반응이 </a:t>
            </a:r>
            <a:r>
              <a:rPr lang="ko-KR" altLang="ko-KR" dirty="0" err="1"/>
              <a:t>제각각입니다</a:t>
            </a:r>
            <a:r>
              <a:rPr lang="ko-KR" altLang="ko-KR" dirty="0"/>
              <a:t>(이게 조건 내 이질성입니다). 이 두 종류의 다양성을 다 담아내야 합니다.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둘째는 유전자들 사이의 복잡한 상호작용입니다. 유전자들은 서로 얽혀서 영향을 주고받는데, 이 복잡한 의존 관계를 포착해야 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물론 </a:t>
            </a:r>
            <a:r>
              <a:rPr lang="en-US" altLang="ko-KR" dirty="0"/>
              <a:t>expression space</a:t>
            </a:r>
            <a:r>
              <a:rPr lang="ko-KR" altLang="ko-KR" dirty="0"/>
              <a:t>에서 직접 동작하는 데는 대가가 있습니다. </a:t>
            </a:r>
            <a:r>
              <a:rPr lang="en-US" altLang="ko-KR" dirty="0"/>
              <a:t>R</a:t>
            </a:r>
            <a:r>
              <a:rPr lang="ko-KR" altLang="ko-KR" dirty="0" err="1"/>
              <a:t>aw</a:t>
            </a:r>
            <a:r>
              <a:rPr lang="ko-KR" altLang="ko-KR" dirty="0"/>
              <a:t> 데이터의 온갖 복잡</a:t>
            </a:r>
            <a:r>
              <a:rPr lang="ko-KR" altLang="en-US" dirty="0"/>
              <a:t>함</a:t>
            </a:r>
            <a:r>
              <a:rPr lang="en-US" altLang="ko-KR" dirty="0"/>
              <a:t>(</a:t>
            </a:r>
            <a:r>
              <a:rPr lang="ko-KR" altLang="ko-KR" dirty="0"/>
              <a:t>고차원, 노이즈, 희소성</a:t>
            </a:r>
            <a:r>
              <a:rPr lang="en-US" altLang="ko-KR" dirty="0"/>
              <a:t>)</a:t>
            </a:r>
            <a:r>
              <a:rPr lang="ko-KR" altLang="ko-KR" dirty="0"/>
              <a:t>에 모델이 그대로 노출</a:t>
            </a:r>
            <a:r>
              <a:rPr lang="ko-KR" altLang="en-US" dirty="0"/>
              <a:t>됩니다</a:t>
            </a:r>
            <a:r>
              <a:rPr lang="en-US" altLang="ko-KR" dirty="0"/>
              <a:t>. </a:t>
            </a:r>
            <a:r>
              <a:rPr lang="ko-KR" altLang="ko-KR" dirty="0"/>
              <a:t>하지만 저자들은 이걸 오히려 기회로</a:t>
            </a:r>
            <a:r>
              <a:rPr lang="en-US" altLang="ko-KR" dirty="0"/>
              <a:t> </a:t>
            </a:r>
            <a:r>
              <a:rPr lang="ko-KR" altLang="en-US" dirty="0"/>
              <a:t>봤습니다</a:t>
            </a:r>
            <a:r>
              <a:rPr lang="en-US" altLang="ko-KR" dirty="0"/>
              <a:t>.</a:t>
            </a:r>
            <a:r>
              <a:rPr lang="ko-KR" altLang="ko-KR" dirty="0"/>
              <a:t> 압축으로 정보를 잃지 않고, 발현 프로파일이 실제로 어떻게 변해가는지</a:t>
            </a:r>
            <a:r>
              <a:rPr lang="ko-KR" altLang="en-US" dirty="0"/>
              <a:t>를 배울 수 있기 때문입니다</a:t>
            </a:r>
            <a:r>
              <a:rPr lang="ko-KR" altLang="ko-KR" dirty="0"/>
              <a:t>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물론 이건 그 복잡함을 감당할 만한 아키텍처가 받쳐줘야 가능한데, 그게 바로 </a:t>
            </a:r>
            <a:r>
              <a:rPr lang="ko-KR" altLang="en-US" dirty="0"/>
              <a:t>뒤</a:t>
            </a:r>
            <a:r>
              <a:rPr lang="ko-KR" altLang="ko-KR" dirty="0"/>
              <a:t>에</a:t>
            </a:r>
            <a:r>
              <a:rPr lang="ko-KR" altLang="en-US" dirty="0"/>
              <a:t>서</a:t>
            </a:r>
            <a:r>
              <a:rPr lang="ko-KR" altLang="ko-KR" dirty="0"/>
              <a:t> 볼 </a:t>
            </a:r>
            <a:r>
              <a:rPr lang="ko-KR" altLang="ko-KR" dirty="0" err="1"/>
              <a:t>U</a:t>
            </a:r>
            <a:r>
              <a:rPr lang="ko-KR" altLang="ko-KR" dirty="0"/>
              <a:t>-Net입니다.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459AE-5E93-FE1A-EF9F-8786D1C3A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672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C0DB-A22A-0700-3A2C-B5B76286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19EE87-B1A8-BAAE-5FF8-440308B6E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C7E152-E299-2D37-E4BB-278EF35EC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&lt;</a:t>
            </a:r>
            <a:r>
              <a:rPr kumimoji="1" lang="ko-KR" altLang="en-US" dirty="0" err="1"/>
              <a:t>속도장</a:t>
            </a:r>
            <a:r>
              <a:rPr kumimoji="1" lang="ko-KR" altLang="en-US" dirty="0"/>
              <a:t> 입출력</a:t>
            </a:r>
            <a:r>
              <a:rPr kumimoji="1"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rtl="0"/>
            <a:r>
              <a:rPr lang="en-US" altLang="ko-KR" dirty="0"/>
              <a:t>Overview</a:t>
            </a:r>
            <a:r>
              <a:rPr lang="ko-KR" altLang="en-US" dirty="0"/>
              <a:t> 사진</a:t>
            </a:r>
            <a:r>
              <a:rPr lang="ko-KR" altLang="ko-KR" dirty="0"/>
              <a:t>에 네 가지 입력이 있</a:t>
            </a:r>
            <a:r>
              <a:rPr lang="ko-KR" altLang="en-US" dirty="0"/>
              <a:t>었습니다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ko-KR" dirty="0"/>
              <a:t>이제 그 입력들이 구체적으로 어떻게 </a:t>
            </a:r>
            <a:r>
              <a:rPr lang="ko-KR" altLang="ko-KR" dirty="0" err="1"/>
              <a:t>인코딩되어</a:t>
            </a:r>
            <a:r>
              <a:rPr lang="ko-KR" altLang="ko-KR" dirty="0"/>
              <a:t> 속도장에 들어가는지 보겠습니다. 크게 세 종류입니다.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첫째는 발현 프로파일과 유전자 정체성입니다. </a:t>
            </a:r>
            <a:endParaRPr lang="en-US" altLang="ko-KR" dirty="0"/>
          </a:p>
          <a:p>
            <a:pPr rtl="0"/>
            <a:r>
              <a:rPr lang="ko-KR" altLang="ko-KR" dirty="0"/>
              <a:t>지금 세포의 </a:t>
            </a:r>
            <a:r>
              <a:rPr lang="ko-KR" altLang="ko-KR" dirty="0" err="1"/>
              <a:t>발현값</a:t>
            </a:r>
            <a:r>
              <a:rPr lang="ko-KR" altLang="ko-KR" dirty="0"/>
              <a:t> </a:t>
            </a:r>
            <a:r>
              <a:rPr lang="ko-KR" altLang="ko-KR" dirty="0" err="1"/>
              <a:t>x_t를</a:t>
            </a:r>
            <a:r>
              <a:rPr lang="ko-KR" altLang="ko-KR" dirty="0"/>
              <a:t> </a:t>
            </a:r>
            <a:r>
              <a:rPr lang="ko-KR" altLang="ko-KR" dirty="0" err="1"/>
              <a:t>sinusoidal</a:t>
            </a:r>
            <a:r>
              <a:rPr lang="ko-KR" altLang="ko-KR" dirty="0"/>
              <a:t> 인코딩으로 처리해서 </a:t>
            </a:r>
            <a:r>
              <a:rPr lang="ko-KR" altLang="ko-KR" dirty="0" err="1"/>
              <a:t>feature</a:t>
            </a:r>
            <a:r>
              <a:rPr lang="ko-KR" altLang="ko-KR" dirty="0"/>
              <a:t> 차원을 붙입니다. 그러면 유전자 개수 </a:t>
            </a:r>
            <a:r>
              <a:rPr lang="ko-KR" altLang="ko-KR" dirty="0" err="1"/>
              <a:t>m에</a:t>
            </a:r>
            <a:r>
              <a:rPr lang="ko-KR" altLang="ko-KR" dirty="0"/>
              <a:t> 차원 </a:t>
            </a:r>
            <a:r>
              <a:rPr lang="ko-KR" altLang="ko-KR" dirty="0" err="1"/>
              <a:t>d가</a:t>
            </a:r>
            <a:r>
              <a:rPr lang="ko-KR" altLang="ko-KR" dirty="0"/>
              <a:t> 곱해진, </a:t>
            </a:r>
            <a:r>
              <a:rPr lang="ko-KR" altLang="ko-KR" dirty="0" err="1"/>
              <a:t>m</a:t>
            </a:r>
            <a:r>
              <a:rPr lang="ko-KR" altLang="ko-KR" dirty="0"/>
              <a:t> 곱하기 </a:t>
            </a:r>
            <a:r>
              <a:rPr lang="ko-KR" altLang="ko-KR" dirty="0" err="1"/>
              <a:t>d</a:t>
            </a:r>
            <a:r>
              <a:rPr lang="ko-KR" altLang="ko-KR" dirty="0"/>
              <a:t> 크기의 행렬이 됩니다. 그런데 </a:t>
            </a:r>
            <a:r>
              <a:rPr lang="ko-KR" altLang="ko-KR" dirty="0" err="1"/>
              <a:t>발현값만으로는</a:t>
            </a:r>
            <a:r>
              <a:rPr lang="ko-KR" altLang="ko-KR" dirty="0"/>
              <a:t> "이 값이 어떤 유전자의 </a:t>
            </a:r>
            <a:r>
              <a:rPr lang="ko-KR" altLang="ko-KR" dirty="0" err="1"/>
              <a:t>값인지"라는</a:t>
            </a:r>
            <a:r>
              <a:rPr lang="ko-KR" altLang="ko-KR" dirty="0"/>
              <a:t> 정보가 없죠. 그래서 유전자 정체성 </a:t>
            </a:r>
            <a:r>
              <a:rPr lang="ko-KR" altLang="ko-KR" dirty="0" err="1"/>
              <a:t>G를</a:t>
            </a:r>
            <a:r>
              <a:rPr lang="ko-KR" altLang="ko-KR" dirty="0"/>
              <a:t> 학습 가능한 </a:t>
            </a:r>
            <a:r>
              <a:rPr lang="ko-KR" altLang="ko-KR" dirty="0" err="1"/>
              <a:t>embedding으로</a:t>
            </a:r>
            <a:r>
              <a:rPr lang="ko-KR" altLang="ko-KR" dirty="0"/>
              <a:t> 만들어서, 각 유전자가 자기만의 벡터를 갖게 합니다. 이 둘을 더해서 넣습니다. </a:t>
            </a:r>
            <a:r>
              <a:rPr lang="ko-KR" altLang="ko-KR" dirty="0" err="1"/>
              <a:t>발현값과</a:t>
            </a:r>
            <a:r>
              <a:rPr lang="ko-KR" altLang="ko-KR" dirty="0"/>
              <a:t> 그 값이 속한 유전자의 정보를 함께</a:t>
            </a:r>
            <a:r>
              <a:rPr lang="en-US" altLang="ko-KR" dirty="0"/>
              <a:t> </a:t>
            </a:r>
            <a:r>
              <a:rPr lang="ko-KR" altLang="en-US" dirty="0"/>
              <a:t>제공하는 겁니다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둘째는 </a:t>
            </a:r>
            <a:r>
              <a:rPr lang="ko-KR" altLang="ko-KR" dirty="0" err="1"/>
              <a:t>condition</a:t>
            </a:r>
            <a:r>
              <a:rPr lang="ko-KR" altLang="ko-KR" dirty="0"/>
              <a:t>, 즉 어떤 처리를 어떤 맥락에서 </a:t>
            </a:r>
            <a:r>
              <a:rPr lang="ko-KR" altLang="ko-KR" dirty="0" err="1"/>
              <a:t>받았는지입니다</a:t>
            </a:r>
            <a:r>
              <a:rPr lang="ko-KR" altLang="ko-KR" dirty="0"/>
              <a:t>. </a:t>
            </a:r>
            <a:endParaRPr lang="en-US" altLang="ko-KR" dirty="0"/>
          </a:p>
          <a:p>
            <a:pPr rtl="0"/>
            <a:r>
              <a:rPr lang="ko-KR" altLang="ko-KR" dirty="0"/>
              <a:t>여기서 </a:t>
            </a:r>
            <a:r>
              <a:rPr lang="ko-KR" altLang="ko-KR" dirty="0" err="1"/>
              <a:t>perturbation</a:t>
            </a:r>
            <a:r>
              <a:rPr lang="ko-KR" altLang="ko-KR" dirty="0"/>
              <a:t> 인코딩 방식이 흥미롭습니다. 앞에서 한 세포에 여러 처리가 동시에 가해질 수 있다고</a:t>
            </a:r>
            <a:r>
              <a:rPr lang="en-US" altLang="ko-KR" dirty="0"/>
              <a:t> </a:t>
            </a:r>
            <a:r>
              <a:rPr lang="ko-KR" altLang="en-US" dirty="0"/>
              <a:t>했습니다</a:t>
            </a:r>
            <a:r>
              <a:rPr lang="ko-KR" altLang="ko-KR" dirty="0"/>
              <a:t>. 그래서 각 </a:t>
            </a:r>
            <a:r>
              <a:rPr lang="ko-KR" altLang="ko-KR" dirty="0" err="1"/>
              <a:t>perturbation을</a:t>
            </a:r>
            <a:r>
              <a:rPr lang="ko-KR" altLang="ko-KR" dirty="0"/>
              <a:t> </a:t>
            </a:r>
            <a:r>
              <a:rPr lang="ko-KR" altLang="ko-KR" dirty="0" err="1"/>
              <a:t>OneHot</a:t>
            </a:r>
            <a:r>
              <a:rPr lang="ko-KR" altLang="ko-KR" dirty="0"/>
              <a:t> 벡터로 만든 다음, 그걸 전부 더해버립니다. 이걸 </a:t>
            </a:r>
            <a:r>
              <a:rPr lang="ko-KR" altLang="ko-KR" dirty="0" err="1"/>
              <a:t>compositional</a:t>
            </a:r>
            <a:r>
              <a:rPr lang="ko-KR" altLang="ko-KR" dirty="0"/>
              <a:t> 인코딩이라고 하는데, 처리가 </a:t>
            </a:r>
            <a:r>
              <a:rPr lang="ko-KR" altLang="ko-KR" dirty="0" err="1"/>
              <a:t>하나든</a:t>
            </a:r>
            <a:r>
              <a:rPr lang="ko-KR" altLang="ko-KR" dirty="0"/>
              <a:t> 여러 개든 같은 방식으로 자연스럽게 표현됩니다. 이 조합 벡터에 </a:t>
            </a:r>
            <a:r>
              <a:rPr lang="ko-KR" altLang="ko-KR" dirty="0" err="1"/>
              <a:t>covariate의</a:t>
            </a:r>
            <a:r>
              <a:rPr lang="ko-KR" altLang="ko-KR" dirty="0"/>
              <a:t> </a:t>
            </a:r>
            <a:r>
              <a:rPr lang="ko-KR" altLang="ko-KR" dirty="0" err="1"/>
              <a:t>OneHot을</a:t>
            </a:r>
            <a:r>
              <a:rPr lang="ko-KR" altLang="ko-KR" dirty="0"/>
              <a:t> 옆으로 이어</a:t>
            </a:r>
            <a:r>
              <a:rPr lang="en-US" altLang="ko-KR" dirty="0"/>
              <a:t> </a:t>
            </a:r>
            <a:r>
              <a:rPr lang="ko-KR" altLang="ko-KR" dirty="0"/>
              <a:t>붙여서 </a:t>
            </a:r>
            <a:r>
              <a:rPr lang="ko-KR" altLang="ko-KR" dirty="0" err="1"/>
              <a:t>condition</a:t>
            </a:r>
            <a:r>
              <a:rPr lang="ko-KR" altLang="ko-KR" dirty="0"/>
              <a:t> 입력을 완성합니다.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셋째는 시간 </a:t>
            </a:r>
            <a:r>
              <a:rPr lang="ko-KR" altLang="ko-KR" dirty="0" err="1"/>
              <a:t>t입니다</a:t>
            </a:r>
            <a:r>
              <a:rPr lang="ko-KR" altLang="ko-KR" dirty="0"/>
              <a:t>.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Matching에서</a:t>
            </a:r>
            <a:r>
              <a:rPr lang="ko-KR" altLang="ko-KR" dirty="0"/>
              <a:t> </a:t>
            </a:r>
            <a:endParaRPr lang="en-US" altLang="ko-KR" dirty="0"/>
          </a:p>
          <a:p>
            <a:pPr rtl="0"/>
            <a:r>
              <a:rPr lang="ko-KR" altLang="ko-KR" dirty="0"/>
              <a:t>0에서 1까지 흐르는 그 시간인데, 이것도 </a:t>
            </a:r>
            <a:r>
              <a:rPr lang="ko-KR" altLang="ko-KR" dirty="0" err="1"/>
              <a:t>sinusoidal</a:t>
            </a:r>
            <a:r>
              <a:rPr lang="ko-KR" altLang="ko-KR" dirty="0"/>
              <a:t> 인코딩으로 넣습니다.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정리하면 아래 수식처럼, 발현과 유전자 정보를 더한 것, </a:t>
            </a:r>
            <a:r>
              <a:rPr lang="ko-KR" altLang="ko-KR" dirty="0" err="1"/>
              <a:t>condition</a:t>
            </a:r>
            <a:r>
              <a:rPr lang="ko-KR" altLang="ko-KR" dirty="0"/>
              <a:t>, 그리고 시간—이 세 가지를 </a:t>
            </a:r>
            <a:r>
              <a:rPr lang="ko-KR" altLang="ko-KR" dirty="0" err="1"/>
              <a:t>속도장</a:t>
            </a:r>
            <a:r>
              <a:rPr lang="ko-KR" altLang="ko-KR" dirty="0"/>
              <a:t> </a:t>
            </a:r>
            <a:r>
              <a:rPr lang="ko-KR" altLang="ko-KR" dirty="0" err="1"/>
              <a:t>v가</a:t>
            </a:r>
            <a:r>
              <a:rPr lang="ko-KR" altLang="ko-KR" dirty="0"/>
              <a:t> 받아서 속도 </a:t>
            </a:r>
            <a:r>
              <a:rPr lang="ko-KR" altLang="ko-KR" dirty="0" err="1"/>
              <a:t>v_hat을</a:t>
            </a:r>
            <a:r>
              <a:rPr lang="ko-KR" altLang="ko-KR" dirty="0"/>
              <a:t> 출력합니다.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여기서 </a:t>
            </a:r>
            <a:r>
              <a:rPr lang="ko-KR" altLang="ko-KR" dirty="0" err="1"/>
              <a:t>v가</a:t>
            </a:r>
            <a:r>
              <a:rPr lang="ko-KR" altLang="ko-KR" dirty="0"/>
              <a:t> 바로 </a:t>
            </a:r>
            <a:r>
              <a:rPr lang="ko-KR" altLang="ko-KR" dirty="0" err="1"/>
              <a:t>U</a:t>
            </a:r>
            <a:r>
              <a:rPr lang="ko-KR" altLang="ko-KR" dirty="0"/>
              <a:t>-Net인데, 왜 하필 </a:t>
            </a:r>
            <a:r>
              <a:rPr lang="ko-KR" altLang="ko-KR" dirty="0" err="1"/>
              <a:t>U</a:t>
            </a:r>
            <a:r>
              <a:rPr lang="ko-KR" altLang="ko-KR" dirty="0"/>
              <a:t>-Net인지</a:t>
            </a:r>
            <a:r>
              <a:rPr lang="en-US" altLang="ko-KR" dirty="0"/>
              <a:t> </a:t>
            </a:r>
            <a:r>
              <a:rPr lang="ko-KR" altLang="en-US" dirty="0"/>
              <a:t>말씀드리겠습니다</a:t>
            </a:r>
            <a:r>
              <a:rPr lang="en-US" altLang="ko-KR" dirty="0"/>
              <a:t>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52BF92-DC03-93BE-B04C-91DE2B93A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830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C41F-BC6C-4C54-92F3-32F11E2F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8DCEB5-76CE-1AC7-1F5E-041D57E9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095C3F-A3BD-4D21-2DDA-AD8056F2F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b="1" dirty="0"/>
              <a:t>슬라이드 16 — </a:t>
            </a:r>
            <a:r>
              <a:rPr lang="ko-KR" altLang="ko-KR" b="1" dirty="0" err="1"/>
              <a:t>Condition</a:t>
            </a:r>
            <a:r>
              <a:rPr lang="ko-KR" altLang="ko-KR" b="1" dirty="0"/>
              <a:t> </a:t>
            </a:r>
            <a:r>
              <a:rPr lang="ko-KR" altLang="ko-KR" b="1" dirty="0" err="1"/>
              <a:t>encoding</a:t>
            </a:r>
            <a:r>
              <a:rPr lang="ko-KR" altLang="ko-KR" b="1" dirty="0"/>
              <a:t>: 계산 예시 세팅</a:t>
            </a:r>
            <a:endParaRPr lang="en-US" altLang="ko-KR" b="1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앞에서 </a:t>
            </a:r>
            <a:r>
              <a:rPr lang="ko-KR" altLang="ko-KR" dirty="0" err="1"/>
              <a:t>condition</a:t>
            </a:r>
            <a:r>
              <a:rPr lang="ko-KR" altLang="ko-KR" dirty="0"/>
              <a:t> 인코딩이 </a:t>
            </a:r>
            <a:r>
              <a:rPr lang="ko-KR" altLang="ko-KR" dirty="0" err="1"/>
              <a:t>compositional</a:t>
            </a:r>
            <a:r>
              <a:rPr lang="ko-KR" altLang="ko-KR" dirty="0"/>
              <a:t> </a:t>
            </a:r>
            <a:r>
              <a:rPr lang="ko-KR" altLang="ko-KR" dirty="0" err="1"/>
              <a:t>OneHot</a:t>
            </a:r>
            <a:r>
              <a:rPr lang="ko-KR" altLang="ko-KR" dirty="0"/>
              <a:t> 방식이라고 말씀드렸는데, 이게 실제로 어떻게 계산되는지 구체적인 예시로 보겠습니다.</a:t>
            </a:r>
          </a:p>
          <a:p>
            <a:pPr rtl="0"/>
            <a:r>
              <a:rPr lang="ko-KR" altLang="ko-KR" dirty="0"/>
              <a:t>먼저 세팅입니다. </a:t>
            </a:r>
            <a:r>
              <a:rPr lang="ko-KR" altLang="ko-KR" dirty="0" err="1"/>
              <a:t>perturbation</a:t>
            </a:r>
            <a:r>
              <a:rPr lang="ko-KR" altLang="ko-KR" dirty="0"/>
              <a:t> 후보 유전자가 다섯 개 있다고 하겠습니다. TP53, MYC, KRAS, EGFR, BRCA1, 그래서 </a:t>
            </a:r>
            <a:r>
              <a:rPr lang="ko-KR" altLang="ko-KR" dirty="0" err="1"/>
              <a:t>n_perts는</a:t>
            </a:r>
            <a:r>
              <a:rPr lang="ko-KR" altLang="ko-KR" dirty="0"/>
              <a:t> 5입니다. 인덱스는 0부터 시작하니까 TP53이 0번, </a:t>
            </a:r>
            <a:r>
              <a:rPr lang="ko-KR" altLang="ko-KR" dirty="0" err="1"/>
              <a:t>MYC가</a:t>
            </a:r>
            <a:r>
              <a:rPr lang="ko-KR" altLang="ko-KR" dirty="0"/>
              <a:t> 1번, </a:t>
            </a:r>
            <a:r>
              <a:rPr lang="ko-KR" altLang="ko-KR" dirty="0" err="1"/>
              <a:t>KRAS가</a:t>
            </a:r>
            <a:r>
              <a:rPr lang="ko-KR" altLang="ko-KR" dirty="0"/>
              <a:t> 2번, 이런 식입니다.</a:t>
            </a:r>
          </a:p>
          <a:p>
            <a:pPr rtl="0"/>
            <a:r>
              <a:rPr lang="ko-KR" altLang="ko-KR" dirty="0" err="1"/>
              <a:t>covariate은</a:t>
            </a:r>
            <a:r>
              <a:rPr lang="ko-KR" altLang="ko-KR" dirty="0"/>
              <a:t>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type인데</a:t>
            </a:r>
            <a:r>
              <a:rPr lang="ko-KR" altLang="ko-KR" dirty="0"/>
              <a:t>, 여기서는 K562, A549, MCF7 세 종류로 두겠습니다. 각각 0, 1, 2번입니다.</a:t>
            </a:r>
          </a:p>
          <a:p>
            <a:pPr rtl="0"/>
            <a:r>
              <a:rPr lang="ko-KR" altLang="ko-KR" dirty="0"/>
              <a:t>이제 예시 세포 세 개를 보겠습니다. 각각 서로 다른 상황을 대표합니다.</a:t>
            </a:r>
            <a:br>
              <a:rPr lang="ko-KR" altLang="ko-KR" dirty="0"/>
            </a:br>
            <a:r>
              <a:rPr lang="ko-KR" altLang="ko-KR" dirty="0"/>
              <a:t>Cell1은 </a:t>
            </a:r>
            <a:r>
              <a:rPr lang="ko-KR" altLang="ko-KR" dirty="0" err="1"/>
              <a:t>single</a:t>
            </a:r>
            <a:r>
              <a:rPr lang="ko-KR" altLang="ko-KR" dirty="0"/>
              <a:t>, 즉 단일 처리입니다. MYC 하나만 처리했고,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type은</a:t>
            </a:r>
            <a:r>
              <a:rPr lang="ko-KR" altLang="ko-KR" dirty="0"/>
              <a:t> A549입니다.</a:t>
            </a:r>
            <a:br>
              <a:rPr lang="ko-KR" altLang="ko-KR" dirty="0"/>
            </a:br>
            <a:r>
              <a:rPr lang="ko-KR" altLang="ko-KR" dirty="0"/>
              <a:t>Cell2는 </a:t>
            </a:r>
            <a:r>
              <a:rPr lang="ko-KR" altLang="ko-KR" dirty="0" err="1"/>
              <a:t>combo</a:t>
            </a:r>
            <a:r>
              <a:rPr lang="ko-KR" altLang="ko-KR" dirty="0"/>
              <a:t>, 여러 처리를 동시에 가한 경우입니다. TP53과 KRAS 두 개를 처리했고,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type은</a:t>
            </a:r>
            <a:r>
              <a:rPr lang="ko-KR" altLang="ko-KR" dirty="0"/>
              <a:t> K562입니다.</a:t>
            </a:r>
            <a:br>
              <a:rPr lang="ko-KR" altLang="ko-KR" dirty="0"/>
            </a:br>
            <a:r>
              <a:rPr lang="ko-KR" altLang="ko-KR" dirty="0"/>
              <a:t>Cell3는 </a:t>
            </a:r>
            <a:r>
              <a:rPr lang="ko-KR" altLang="ko-KR" dirty="0" err="1"/>
              <a:t>control</a:t>
            </a:r>
            <a:r>
              <a:rPr lang="ko-KR" altLang="ko-KR" dirty="0"/>
              <a:t>, 아무 처리도 하지 않은 대조군입니다. </a:t>
            </a:r>
            <a:r>
              <a:rPr lang="ko-KR" altLang="ko-KR" dirty="0" err="1"/>
              <a:t>perturbation은</a:t>
            </a:r>
            <a:r>
              <a:rPr lang="ko-KR" altLang="ko-KR" dirty="0"/>
              <a:t> 빈 집합이고,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type만</a:t>
            </a:r>
            <a:r>
              <a:rPr lang="ko-KR" altLang="ko-KR" dirty="0"/>
              <a:t> MCF7입니다.</a:t>
            </a:r>
          </a:p>
          <a:p>
            <a:pPr rtl="0"/>
            <a:r>
              <a:rPr lang="ko-KR" altLang="ko-KR" dirty="0"/>
              <a:t>이 </a:t>
            </a:r>
            <a:r>
              <a:rPr lang="ko-KR" altLang="ko-KR" dirty="0" err="1"/>
              <a:t>단일·복합·대조</a:t>
            </a:r>
            <a:r>
              <a:rPr lang="ko-KR" altLang="ko-KR" dirty="0"/>
              <a:t> 세 가지를 다음 슬라이드에서 실제 벡터로 인코딩해 보겠습니다.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3F4C2-7721-B509-295C-3F6D079DC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72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A982-901F-B680-B25B-D01D479F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4ADFD4-FBBF-FEEF-E6FB-76BDBC7B4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8C00E0-D5C6-4E73-6D26-A4E916C75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b="1" dirty="0"/>
              <a:t>슬라이드 17 — </a:t>
            </a:r>
            <a:r>
              <a:rPr lang="ko-KR" altLang="ko-KR" b="1" dirty="0" err="1"/>
              <a:t>Condition</a:t>
            </a:r>
            <a:r>
              <a:rPr lang="ko-KR" altLang="ko-KR" b="1" dirty="0"/>
              <a:t> </a:t>
            </a:r>
            <a:r>
              <a:rPr lang="ko-KR" altLang="ko-KR" b="1" dirty="0" err="1"/>
              <a:t>encoding</a:t>
            </a:r>
            <a:r>
              <a:rPr lang="ko-KR" altLang="ko-KR" b="1" dirty="0"/>
              <a:t>: </a:t>
            </a:r>
            <a:r>
              <a:rPr lang="ko-KR" altLang="ko-KR" b="1" dirty="0" err="1"/>
              <a:t>OneHot</a:t>
            </a:r>
            <a:r>
              <a:rPr lang="ko-KR" altLang="ko-KR" b="1" dirty="0"/>
              <a:t> 결과</a:t>
            </a:r>
            <a:endParaRPr lang="ko-KR" altLang="ko-KR" dirty="0"/>
          </a:p>
          <a:p>
            <a:pPr rtl="0"/>
            <a:r>
              <a:rPr lang="ko-KR" altLang="ko-KR" dirty="0"/>
              <a:t>이제 각 세포를 </a:t>
            </a:r>
            <a:r>
              <a:rPr lang="ko-KR" altLang="ko-KR" dirty="0" err="1"/>
              <a:t>OneHot으로</a:t>
            </a:r>
            <a:r>
              <a:rPr lang="ko-KR" altLang="ko-KR" dirty="0"/>
              <a:t> 인코딩합니다. </a:t>
            </a:r>
            <a:r>
              <a:rPr lang="ko-KR" altLang="ko-KR" dirty="0" err="1"/>
              <a:t>perturbation</a:t>
            </a:r>
            <a:r>
              <a:rPr lang="ko-KR" altLang="ko-KR" dirty="0"/>
              <a:t> 블록은 후보가 5개라 길이 5, </a:t>
            </a:r>
            <a:r>
              <a:rPr lang="ko-KR" altLang="ko-KR" dirty="0" err="1"/>
              <a:t>covariate</a:t>
            </a:r>
            <a:r>
              <a:rPr lang="ko-KR" altLang="ko-KR" dirty="0"/>
              <a:t> 블록은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type이</a:t>
            </a:r>
            <a:r>
              <a:rPr lang="ko-KR" altLang="ko-KR" dirty="0"/>
              <a:t> 3개라 길이 3입니다. 이 둘을 </a:t>
            </a:r>
            <a:r>
              <a:rPr lang="ko-KR" altLang="ko-KR" dirty="0" err="1"/>
              <a:t>concat해서</a:t>
            </a:r>
            <a:r>
              <a:rPr lang="ko-KR" altLang="ko-KR" dirty="0"/>
              <a:t> 최종적으로 길이 8짜리 </a:t>
            </a:r>
            <a:r>
              <a:rPr lang="ko-KR" altLang="ko-KR" dirty="0" err="1"/>
              <a:t>condition</a:t>
            </a:r>
            <a:r>
              <a:rPr lang="ko-KR" altLang="ko-KR" dirty="0"/>
              <a:t> 벡터를 만드는 게 목표입니다.</a:t>
            </a:r>
          </a:p>
          <a:p>
            <a:pPr rtl="0"/>
            <a:r>
              <a:rPr lang="ko-KR" altLang="ko-KR" dirty="0"/>
              <a:t>Cell1, </a:t>
            </a:r>
            <a:r>
              <a:rPr lang="ko-KR" altLang="ko-KR" dirty="0" err="1"/>
              <a:t>single부터</a:t>
            </a:r>
            <a:r>
              <a:rPr lang="ko-KR" altLang="ko-KR" dirty="0"/>
              <a:t> 보겠습니다. </a:t>
            </a:r>
            <a:r>
              <a:rPr lang="ko-KR" altLang="ko-KR" dirty="0" err="1"/>
              <a:t>MYC가</a:t>
            </a:r>
            <a:r>
              <a:rPr lang="ko-KR" altLang="ko-KR" dirty="0"/>
              <a:t> 1번이니까 </a:t>
            </a:r>
            <a:r>
              <a:rPr lang="ko-KR" altLang="ko-KR" dirty="0" err="1"/>
              <a:t>perturbation</a:t>
            </a:r>
            <a:r>
              <a:rPr lang="ko-KR" altLang="ko-KR" dirty="0"/>
              <a:t> 벡터는 [0,1,0,0,0]. A549가 1번이니까 </a:t>
            </a:r>
            <a:r>
              <a:rPr lang="ko-KR" altLang="ko-KR" dirty="0" err="1"/>
              <a:t>covariate은</a:t>
            </a:r>
            <a:r>
              <a:rPr lang="ko-KR" altLang="ko-KR" dirty="0"/>
              <a:t> [0,1,0]. </a:t>
            </a:r>
            <a:r>
              <a:rPr lang="ko-KR" altLang="ko-KR" dirty="0" err="1"/>
              <a:t>이어붙이면</a:t>
            </a:r>
            <a:r>
              <a:rPr lang="ko-KR" altLang="ko-KR" dirty="0"/>
              <a:t> 최종 인코딩은 [0,1,0,0,0, 0,1,0]이 됩니다.</a:t>
            </a:r>
          </a:p>
          <a:p>
            <a:pPr rtl="0"/>
            <a:r>
              <a:rPr lang="ko-KR" altLang="ko-KR" dirty="0"/>
              <a:t>Cell2, </a:t>
            </a:r>
            <a:r>
              <a:rPr lang="ko-KR" altLang="ko-KR" dirty="0" err="1"/>
              <a:t>combo가</a:t>
            </a:r>
            <a:r>
              <a:rPr lang="ko-KR" altLang="ko-KR" dirty="0"/>
              <a:t> 핵심입니다. TP53은 0번, </a:t>
            </a:r>
            <a:r>
              <a:rPr lang="ko-KR" altLang="ko-KR" dirty="0" err="1"/>
              <a:t>KRAS는</a:t>
            </a:r>
            <a:r>
              <a:rPr lang="ko-KR" altLang="ko-KR" dirty="0"/>
              <a:t> 2번인데, 이 둘을 각각 </a:t>
            </a:r>
            <a:r>
              <a:rPr lang="ko-KR" altLang="ko-KR" dirty="0" err="1"/>
              <a:t>OneHot하면</a:t>
            </a:r>
            <a:r>
              <a:rPr lang="ko-KR" altLang="ko-KR" dirty="0"/>
              <a:t> [1,0,0,0,0]과 [0,0,1,0,0]입니다. 이 </a:t>
            </a:r>
            <a:r>
              <a:rPr lang="ko-KR" altLang="ko-KR" dirty="0" err="1"/>
              <a:t>compositional</a:t>
            </a:r>
            <a:r>
              <a:rPr lang="ko-KR" altLang="ko-KR" dirty="0"/>
              <a:t> 방식에서는 이 둘을 그냥 더합니다. 그래서 </a:t>
            </a:r>
            <a:r>
              <a:rPr lang="ko-KR" altLang="ko-KR" dirty="0" err="1"/>
              <a:t>perturbation</a:t>
            </a:r>
            <a:r>
              <a:rPr lang="ko-KR" altLang="ko-KR" dirty="0"/>
              <a:t> 벡터가 [1,0,1,0,0]이 되죠. 두 개의 처리가 하나의 벡터 안에 자연스럽게 합쳐지는 겁니다. </a:t>
            </a:r>
            <a:r>
              <a:rPr lang="ko-KR" altLang="ko-KR" dirty="0" err="1"/>
              <a:t>covariate은</a:t>
            </a:r>
            <a:r>
              <a:rPr lang="ko-KR" altLang="ko-KR" dirty="0"/>
              <a:t> K562가 0번이니 [1,0,0]. </a:t>
            </a:r>
            <a:r>
              <a:rPr lang="ko-KR" altLang="ko-KR" dirty="0" err="1"/>
              <a:t>concat하면</a:t>
            </a:r>
            <a:r>
              <a:rPr lang="ko-KR" altLang="ko-KR" dirty="0"/>
              <a:t> [1,0,1,0,0, 1,0,0]입니다.</a:t>
            </a:r>
          </a:p>
          <a:p>
            <a:pPr rtl="0"/>
            <a:r>
              <a:rPr lang="ko-KR" altLang="ko-KR" dirty="0"/>
              <a:t>Cell3, </a:t>
            </a:r>
            <a:r>
              <a:rPr lang="ko-KR" altLang="ko-KR" dirty="0" err="1"/>
              <a:t>control은</a:t>
            </a:r>
            <a:r>
              <a:rPr lang="ko-KR" altLang="ko-KR" dirty="0"/>
              <a:t> 처리가 없으니 </a:t>
            </a:r>
            <a:r>
              <a:rPr lang="ko-KR" altLang="ko-KR" dirty="0" err="1"/>
              <a:t>perturbation</a:t>
            </a:r>
            <a:r>
              <a:rPr lang="ko-KR" altLang="ko-KR" dirty="0"/>
              <a:t> 블록이 전부 0, 즉 [0,0,0,0,0]입니다. </a:t>
            </a:r>
            <a:r>
              <a:rPr lang="ko-KR" altLang="ko-KR" dirty="0" err="1"/>
              <a:t>covariate만</a:t>
            </a:r>
            <a:r>
              <a:rPr lang="ko-KR" altLang="ko-KR" dirty="0"/>
              <a:t> MCF7이라 [0,0,1]. 최종적으로 [0,0,0,0,0, 0,0,1]이 됩니다.</a:t>
            </a:r>
          </a:p>
          <a:p>
            <a:pPr rtl="0"/>
            <a:r>
              <a:rPr lang="ko-KR" altLang="ko-KR" dirty="0"/>
              <a:t>정리하면, 처리가 </a:t>
            </a:r>
            <a:r>
              <a:rPr lang="ko-KR" altLang="ko-KR" dirty="0" err="1"/>
              <a:t>하나든</a:t>
            </a:r>
            <a:r>
              <a:rPr lang="ko-KR" altLang="ko-KR" dirty="0"/>
              <a:t> 둘이든 아예 없든 항상 길이 8짜리 고정된 벡터가 나옵니다. </a:t>
            </a:r>
            <a:r>
              <a:rPr lang="ko-KR" altLang="ko-KR" dirty="0" err="1"/>
              <a:t>combo는</a:t>
            </a:r>
            <a:r>
              <a:rPr lang="ko-KR" altLang="ko-KR" dirty="0"/>
              <a:t> </a:t>
            </a:r>
            <a:r>
              <a:rPr lang="ko-KR" altLang="ko-KR" dirty="0" err="1"/>
              <a:t>OneHot을</a:t>
            </a:r>
            <a:r>
              <a:rPr lang="ko-KR" altLang="ko-KR" dirty="0"/>
              <a:t> 더하기만 하면 되고, </a:t>
            </a:r>
            <a:r>
              <a:rPr lang="ko-KR" altLang="ko-KR" dirty="0" err="1"/>
              <a:t>control은</a:t>
            </a:r>
            <a:r>
              <a:rPr lang="ko-KR" altLang="ko-KR" dirty="0"/>
              <a:t> </a:t>
            </a:r>
            <a:r>
              <a:rPr lang="ko-KR" altLang="ko-KR" dirty="0" err="1"/>
              <a:t>perturbation</a:t>
            </a:r>
            <a:r>
              <a:rPr lang="ko-KR" altLang="ko-KR" dirty="0"/>
              <a:t> 블록이 그냥 0 벡터가 됩니다. 이게 앞에서 말씀드린 </a:t>
            </a:r>
            <a:r>
              <a:rPr lang="ko-KR" altLang="ko-KR" dirty="0" err="1"/>
              <a:t>compositional</a:t>
            </a:r>
            <a:r>
              <a:rPr lang="ko-KR" altLang="ko-KR" dirty="0"/>
              <a:t> 인코딩의 장점입니다. </a:t>
            </a:r>
            <a:r>
              <a:rPr lang="ko-KR" altLang="ko-KR"/>
              <a:t>처리 조합이 몇 개든 가변 길이 문제 없이 하나의 고정된 표현으로 깔끔하게 다룰 수 있습니다.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FECC4-4DBE-D018-19B5-8BEF727D3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43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6B504-CBDC-D903-8675-2C411830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3D7D6-CB7E-3604-B366-DD912AE0A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A0606-2DED-5D54-69BE-0ACCB6F39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dirty="0"/>
              <a:t>&lt;</a:t>
            </a:r>
            <a:r>
              <a:rPr lang="ko-KR" altLang="en-US" dirty="0"/>
              <a:t>왜 </a:t>
            </a:r>
            <a:r>
              <a:rPr lang="en-US" altLang="ko-KR" dirty="0"/>
              <a:t>u-NET</a:t>
            </a:r>
            <a:r>
              <a:rPr lang="ko-KR" altLang="en-US" dirty="0"/>
              <a:t>인가</a:t>
            </a:r>
            <a:r>
              <a:rPr lang="en-US" altLang="ko-KR" dirty="0"/>
              <a:t>?&gt;</a:t>
            </a:r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앞에서 계속 "</a:t>
            </a:r>
            <a:r>
              <a:rPr lang="ko-KR" altLang="ko-KR" dirty="0" err="1"/>
              <a:t>velocity</a:t>
            </a:r>
            <a:r>
              <a:rPr lang="ko-KR" altLang="ko-KR" dirty="0"/>
              <a:t> </a:t>
            </a:r>
            <a:r>
              <a:rPr lang="ko-KR" altLang="ko-KR" dirty="0" err="1"/>
              <a:t>field를</a:t>
            </a:r>
            <a:r>
              <a:rPr lang="ko-KR" altLang="ko-KR" dirty="0"/>
              <a:t> </a:t>
            </a:r>
            <a:r>
              <a:rPr lang="ko-KR" altLang="ko-KR" dirty="0" err="1"/>
              <a:t>U</a:t>
            </a:r>
            <a:r>
              <a:rPr lang="ko-KR" altLang="ko-KR" dirty="0"/>
              <a:t>-Net으로 </a:t>
            </a:r>
            <a:r>
              <a:rPr lang="ko-KR" altLang="ko-KR" dirty="0" err="1"/>
              <a:t>만든다"고</a:t>
            </a:r>
            <a:r>
              <a:rPr lang="ko-KR" altLang="ko-KR" dirty="0"/>
              <a:t> 했는데, 여기에 아주 흥미로운 지점이 하나 있습니다.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먼저 구현부터 말씀드리면, 저자들은 </a:t>
            </a:r>
            <a:r>
              <a:rPr lang="ko-KR" altLang="ko-KR" dirty="0" err="1"/>
              <a:t>OpenAI의</a:t>
            </a:r>
            <a:r>
              <a:rPr lang="ko-KR" altLang="ko-KR" dirty="0"/>
              <a:t> </a:t>
            </a:r>
            <a:r>
              <a:rPr lang="ko-KR" altLang="ko-KR" dirty="0" err="1"/>
              <a:t>guided</a:t>
            </a:r>
            <a:r>
              <a:rPr lang="ko-KR" altLang="ko-KR" dirty="0"/>
              <a:t> </a:t>
            </a:r>
            <a:r>
              <a:rPr lang="ko-KR" altLang="ko-KR" dirty="0" err="1"/>
              <a:t>diffusion</a:t>
            </a:r>
            <a:r>
              <a:rPr lang="ko-KR" altLang="ko-KR" dirty="0"/>
              <a:t> 라이브러리를 기반으로 </a:t>
            </a:r>
            <a:r>
              <a:rPr lang="ko-KR" altLang="ko-KR" dirty="0" err="1"/>
              <a:t>U</a:t>
            </a:r>
            <a:r>
              <a:rPr lang="ko-KR" altLang="ko-KR" dirty="0"/>
              <a:t>-Net을 구현했습니다. 그런데 여기서 이론적으로 좀 이상한 점이 있습니다.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 err="1"/>
              <a:t>U</a:t>
            </a:r>
            <a:r>
              <a:rPr lang="ko-KR" altLang="ko-KR" dirty="0"/>
              <a:t>-Net은 원래 이미지 같은 데이터를 위해 만들어진 구조입니다. 이미지에서는 인접한 픽셀끼리 관련이 </a:t>
            </a:r>
            <a:r>
              <a:rPr lang="ko-KR" altLang="en-US" dirty="0"/>
              <a:t>깊습니다</a:t>
            </a:r>
            <a:r>
              <a:rPr lang="ko-KR" altLang="ko-KR" dirty="0"/>
              <a:t>. 옆에 있는 픽셀은 비슷할 가능성이 높고, 이런 공간적인 이웃 관계를 </a:t>
            </a:r>
            <a:r>
              <a:rPr lang="ko-KR" altLang="ko-KR" dirty="0" err="1"/>
              <a:t>U</a:t>
            </a:r>
            <a:r>
              <a:rPr lang="ko-KR" altLang="ko-KR" dirty="0"/>
              <a:t>-Net이 잘 잡아냅니다. </a:t>
            </a:r>
            <a:endParaRPr lang="en-US" altLang="ko-KR" dirty="0"/>
          </a:p>
          <a:p>
            <a:pPr rtl="0"/>
            <a:r>
              <a:rPr lang="ko-KR" altLang="ko-KR" dirty="0"/>
              <a:t>그런데 유전자 발현 벡</a:t>
            </a:r>
            <a:r>
              <a:rPr lang="ko-KR" altLang="en-US" dirty="0"/>
              <a:t>터의 경우</a:t>
            </a:r>
            <a:r>
              <a:rPr lang="en-US" altLang="ko-KR" dirty="0"/>
              <a:t>,</a:t>
            </a:r>
            <a:r>
              <a:rPr lang="ko-KR" altLang="ko-KR" dirty="0"/>
              <a:t> 유전자를 나열하는 순서는 완전히 임의적입니다. 1번 유전자 옆에 2번 유전자가 온다고 해서 둘이 이웃</a:t>
            </a:r>
            <a:r>
              <a:rPr lang="en-US" altLang="ko-KR" dirty="0"/>
              <a:t> </a:t>
            </a:r>
            <a:r>
              <a:rPr lang="ko-KR" altLang="ko-KR" dirty="0"/>
              <a:t>이라거나 관련이 깊은 게 전혀 아</a:t>
            </a:r>
            <a:r>
              <a:rPr lang="ko-KR" altLang="en-US" dirty="0"/>
              <a:t>닙니다</a:t>
            </a:r>
            <a:r>
              <a:rPr lang="en-US" altLang="ko-KR" dirty="0"/>
              <a:t>.</a:t>
            </a:r>
            <a:r>
              <a:rPr lang="ko-KR" altLang="ko-KR" dirty="0"/>
              <a:t> 그러니까 </a:t>
            </a:r>
            <a:r>
              <a:rPr lang="ko-KR" altLang="ko-KR" dirty="0" err="1"/>
              <a:t>U</a:t>
            </a:r>
            <a:r>
              <a:rPr lang="ko-KR" altLang="ko-KR" dirty="0"/>
              <a:t>-Net이 전제하는 ＂이웃 </a:t>
            </a:r>
            <a:r>
              <a:rPr lang="ko-KR" altLang="ko-KR" dirty="0" err="1"/>
              <a:t>관계＂라는</a:t>
            </a:r>
            <a:r>
              <a:rPr lang="ko-KR" altLang="ko-KR" dirty="0"/>
              <a:t> 가정이 유전자 데이터에는 </a:t>
            </a:r>
            <a:r>
              <a:rPr lang="ko-KR" altLang="en-US" dirty="0"/>
              <a:t>적용할 수 없습니다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이론적으로만 따지면, 순서에 상관없이 동작하는 구조, 예를 들어 </a:t>
            </a:r>
            <a:r>
              <a:rPr lang="ko-KR" altLang="ko-KR" dirty="0" err="1"/>
              <a:t>Transformer가</a:t>
            </a:r>
            <a:r>
              <a:rPr lang="ko-KR" altLang="ko-KR" dirty="0"/>
              <a:t> 더 적합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그런데도 저자들은 </a:t>
            </a:r>
            <a:r>
              <a:rPr lang="ko-KR" altLang="ko-KR" dirty="0" err="1"/>
              <a:t>U</a:t>
            </a:r>
            <a:r>
              <a:rPr lang="ko-KR" altLang="ko-KR" dirty="0"/>
              <a:t>-Net을 선택했습니다. 왜냐하면 실용적으로 훨씬 낫기 때문입니다. </a:t>
            </a:r>
            <a:r>
              <a:rPr lang="ko-KR" altLang="ko-KR" dirty="0" err="1"/>
              <a:t>Transformer</a:t>
            </a:r>
            <a:r>
              <a:rPr lang="en-US" altLang="ko-KR" dirty="0"/>
              <a:t> </a:t>
            </a:r>
            <a:r>
              <a:rPr lang="ko-KR" altLang="ko-KR" dirty="0"/>
              <a:t>보다</a:t>
            </a:r>
            <a:r>
              <a:rPr lang="en-US" altLang="ko-KR" dirty="0"/>
              <a:t> parameter</a:t>
            </a:r>
            <a:r>
              <a:rPr lang="ko-KR" altLang="ko-KR" dirty="0"/>
              <a:t>가 효율적이고, 연산 자원도 훨씬 적게 들고, 무엇보다 실험에서 MLP</a:t>
            </a:r>
            <a:r>
              <a:rPr lang="en-US" altLang="ko-KR" dirty="0"/>
              <a:t> </a:t>
            </a:r>
            <a:r>
              <a:rPr lang="ko-KR" altLang="ko-KR" dirty="0"/>
              <a:t>보다 확실히 성능이 좋았습니다. 이론적으로는 최선이 아닌데 실제로는 제일 잘 되는, 그런 실용적인 선택인 거죠. 저자들도 </a:t>
            </a:r>
            <a:r>
              <a:rPr lang="ko-KR" altLang="ko-KR" dirty="0" err="1"/>
              <a:t>Discussion</a:t>
            </a:r>
            <a:r>
              <a:rPr lang="en-US" altLang="ko-KR" dirty="0"/>
              <a:t> </a:t>
            </a:r>
            <a:r>
              <a:rPr lang="ko-KR" altLang="ko-KR" dirty="0"/>
              <a:t>에서 </a:t>
            </a:r>
            <a:r>
              <a:rPr lang="ko-KR" altLang="ko-KR" b="1" dirty="0"/>
              <a:t>"</a:t>
            </a:r>
            <a:r>
              <a:rPr lang="ko-KR" altLang="ko-KR" b="1" dirty="0" err="1"/>
              <a:t>U</a:t>
            </a:r>
            <a:r>
              <a:rPr lang="ko-KR" altLang="ko-KR" b="1" dirty="0"/>
              <a:t>-Net이 왜 이렇게 잘 되는지는 아직 우리도 완전히 이해하지 못한 열린 </a:t>
            </a:r>
            <a:r>
              <a:rPr lang="ko-KR" altLang="ko-KR" b="1" dirty="0" err="1"/>
              <a:t>질문"</a:t>
            </a:r>
            <a:r>
              <a:rPr lang="ko-KR" altLang="ko-KR" dirty="0" err="1"/>
              <a:t>이라고</a:t>
            </a:r>
            <a:r>
              <a:rPr lang="ko-KR" altLang="ko-KR" dirty="0"/>
              <a:t> 솔직하게 </a:t>
            </a:r>
            <a:r>
              <a:rPr lang="ko-KR" altLang="ko-KR" dirty="0" err="1"/>
              <a:t>적어놨습니다</a:t>
            </a:r>
            <a:r>
              <a:rPr lang="ko-KR" altLang="ko-KR" dirty="0"/>
              <a:t>. 그리고 이 </a:t>
            </a:r>
            <a:r>
              <a:rPr lang="ko-KR" altLang="ko-KR" dirty="0" err="1"/>
              <a:t>U</a:t>
            </a:r>
            <a:r>
              <a:rPr lang="ko-KR" altLang="ko-KR" dirty="0"/>
              <a:t>-Net </a:t>
            </a:r>
            <a:r>
              <a:rPr lang="ko-KR" altLang="ko-KR" dirty="0" err="1"/>
              <a:t>vs</a:t>
            </a:r>
            <a:r>
              <a:rPr lang="ko-KR" altLang="ko-KR" dirty="0"/>
              <a:t> MLP 비교가 실제로 얼마나 차이 나는지는 뒤 실험 결과에서 직접 확인하게 됩니다.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F788C-BC3E-9EA0-C913-684224269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62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8DB9-8378-37B0-6455-48CD890E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85DB9B-3950-44FA-34C5-C26A9252A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8F5484-ED15-E9C4-94AC-A0F73BDD6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dirty="0"/>
              <a:t>&lt;</a:t>
            </a:r>
            <a:r>
              <a:rPr lang="ko-KR" altLang="en-US" dirty="0"/>
              <a:t>학습과 </a:t>
            </a:r>
            <a:r>
              <a:rPr lang="en-US" altLang="ko-KR" dirty="0"/>
              <a:t>Ablation&gt;</a:t>
            </a:r>
          </a:p>
          <a:p>
            <a:pPr rtl="0"/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dirty="0" err="1"/>
              <a:t>Method</a:t>
            </a:r>
            <a:r>
              <a:rPr lang="ko-KR" altLang="ko-KR" dirty="0"/>
              <a:t> 마지막으로, 실제로 어떻게 </a:t>
            </a:r>
            <a:r>
              <a:rPr lang="ko-KR" altLang="ko-KR" dirty="0" err="1"/>
              <a:t>학습하는지와</a:t>
            </a:r>
            <a:r>
              <a:rPr lang="ko-KR" altLang="ko-KR" dirty="0"/>
              <a:t> 그 설계 선택들을 어떻게 검증했는지 보겠습니다.</a:t>
            </a:r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먼저 학습 방식입니다. 앞서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Matching에서</a:t>
            </a:r>
            <a:r>
              <a:rPr lang="ko-KR" altLang="ko-KR" dirty="0"/>
              <a:t> </a:t>
            </a:r>
            <a:r>
              <a:rPr lang="ko-KR" altLang="ko-KR" dirty="0" err="1"/>
              <a:t>가우시안</a:t>
            </a:r>
            <a:r>
              <a:rPr lang="ko-KR" altLang="ko-KR" dirty="0"/>
              <a:t> 노이즈를 데이터로 </a:t>
            </a:r>
            <a:r>
              <a:rPr lang="ko-KR" altLang="ko-KR" dirty="0" err="1"/>
              <a:t>흘려보낸다</a:t>
            </a:r>
            <a:r>
              <a:rPr lang="ko-KR" altLang="en-US" dirty="0" err="1"/>
              <a:t>고</a:t>
            </a:r>
            <a:r>
              <a:rPr lang="ko-KR" altLang="en-US" dirty="0"/>
              <a:t> 했습니다</a:t>
            </a:r>
            <a:r>
              <a:rPr lang="ko-KR" altLang="ko-KR" dirty="0"/>
              <a:t>. </a:t>
            </a:r>
            <a:r>
              <a:rPr lang="ko-KR" altLang="ko-KR" dirty="0" err="1"/>
              <a:t>PRiMeFlow는</a:t>
            </a:r>
            <a:r>
              <a:rPr lang="ko-KR" altLang="ko-KR" dirty="0"/>
              <a:t> 이때 노이즈와 실제 세포를 그냥 무작위로 짝지어줍니다. 이걸 </a:t>
            </a:r>
            <a:r>
              <a:rPr lang="ko-KR" altLang="ko-KR" dirty="0" err="1"/>
              <a:t>independent</a:t>
            </a:r>
            <a:r>
              <a:rPr lang="ko-KR" altLang="ko-KR" dirty="0"/>
              <a:t> </a:t>
            </a:r>
            <a:r>
              <a:rPr lang="ko-KR" altLang="ko-KR" dirty="0" err="1"/>
              <a:t>coupling이라고</a:t>
            </a:r>
            <a:r>
              <a:rPr lang="ko-KR" altLang="ko-KR" dirty="0"/>
              <a:t> 합니다. 출발점 p0는 표준 </a:t>
            </a:r>
            <a:r>
              <a:rPr lang="ko-KR" altLang="ko-KR" dirty="0" err="1"/>
              <a:t>가우시안이고</a:t>
            </a:r>
            <a:r>
              <a:rPr lang="ko-KR" altLang="ko-KR" dirty="0"/>
              <a:t>, 도착점 </a:t>
            </a:r>
            <a:r>
              <a:rPr lang="ko-KR" altLang="ko-KR" dirty="0" err="1"/>
              <a:t>p_data는</a:t>
            </a:r>
            <a:r>
              <a:rPr lang="ko-KR" altLang="ko-KR" dirty="0"/>
              <a:t> 처리된 세포와 </a:t>
            </a:r>
            <a:r>
              <a:rPr lang="ko-KR" altLang="ko-KR" dirty="0" err="1"/>
              <a:t>control</a:t>
            </a:r>
            <a:r>
              <a:rPr lang="ko-KR" altLang="ko-KR" dirty="0"/>
              <a:t> 세포를 모두 포함한 집단입니다.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그리고 이 둘 사이의 직선 경로를 따라가도록, 목표 속도를 x1 빼기 x0, 즉 도착점에서 출발점을 뺀 방향으로 설정합니다. 학습 중에는 일정 확률로 </a:t>
            </a:r>
            <a:r>
              <a:rPr lang="ko-KR" altLang="ko-KR" dirty="0" err="1"/>
              <a:t>condition을</a:t>
            </a:r>
            <a:r>
              <a:rPr lang="ko-KR" altLang="ko-KR" dirty="0"/>
              <a:t> 일부러 빼고 학습시키는데, 이건 나중에 </a:t>
            </a:r>
            <a:r>
              <a:rPr lang="ko-KR" altLang="ko-KR" dirty="0" err="1"/>
              <a:t>classifier-free</a:t>
            </a:r>
            <a:r>
              <a:rPr lang="ko-KR" altLang="ko-KR" dirty="0"/>
              <a:t> </a:t>
            </a:r>
            <a:r>
              <a:rPr lang="ko-KR" altLang="ko-KR" dirty="0" err="1"/>
              <a:t>guidance를</a:t>
            </a:r>
            <a:r>
              <a:rPr lang="ko-KR" altLang="ko-KR" dirty="0"/>
              <a:t> 쓰기 위한 준비입니다. 그리고 이 전체를 앞에서 본 </a:t>
            </a:r>
            <a:r>
              <a:rPr lang="ko-KR" altLang="ko-KR" dirty="0" err="1"/>
              <a:t>conditional</a:t>
            </a:r>
            <a:r>
              <a:rPr lang="ko-KR" altLang="ko-KR" dirty="0"/>
              <a:t>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</a:t>
            </a:r>
            <a:r>
              <a:rPr lang="ko-KR" altLang="ko-KR" dirty="0"/>
              <a:t> </a:t>
            </a:r>
            <a:r>
              <a:rPr lang="ko-KR" altLang="ko-KR" dirty="0" err="1"/>
              <a:t>loss로</a:t>
            </a:r>
            <a:r>
              <a:rPr lang="ko-KR" altLang="ko-KR" dirty="0"/>
              <a:t> 최적화합니다.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여기서 중요한 게, 이 세 가지 비교 모델입니다. 앞에서 </a:t>
            </a:r>
            <a:r>
              <a:rPr lang="ko-KR" altLang="ko-KR" dirty="0" err="1"/>
              <a:t>PRiMeFlow가</a:t>
            </a:r>
            <a:r>
              <a:rPr lang="ko-KR" altLang="ko-KR" dirty="0"/>
              <a:t> 세 가지 핵심 설계 선택을</a:t>
            </a:r>
            <a:r>
              <a:rPr lang="en-US" altLang="ko-KR" dirty="0"/>
              <a:t> </a:t>
            </a:r>
            <a:r>
              <a:rPr lang="ko-KR" altLang="en-US" dirty="0"/>
              <a:t>했다고 했습니다</a:t>
            </a:r>
            <a:r>
              <a:rPr lang="en-US" altLang="ko-KR" dirty="0"/>
              <a:t>.</a:t>
            </a:r>
            <a:r>
              <a:rPr lang="ko-KR" altLang="ko-KR" dirty="0"/>
              <a:t> 발현 공간에서 직접 동작하고, </a:t>
            </a:r>
            <a:r>
              <a:rPr lang="ko-KR" altLang="ko-KR" dirty="0" err="1"/>
              <a:t>U</a:t>
            </a:r>
            <a:r>
              <a:rPr lang="ko-KR" altLang="ko-KR" dirty="0"/>
              <a:t>-Net을 쓰고, 단순한 </a:t>
            </a:r>
            <a:r>
              <a:rPr lang="ko-KR" altLang="ko-KR" dirty="0" err="1"/>
              <a:t>coupling을</a:t>
            </a:r>
            <a:r>
              <a:rPr lang="ko-KR" altLang="ko-KR" dirty="0"/>
              <a:t> 쓴다. 각 선택이 진짜 효과가 있는지 확인하려면, 그 선택만 바꾼 대조군이 필요합니다. 그게 이 셋입니다.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첫째, </a:t>
            </a:r>
            <a:r>
              <a:rPr lang="ko-KR" altLang="ko-KR" dirty="0" err="1"/>
              <a:t>PRiMeFlow</a:t>
            </a:r>
            <a:r>
              <a:rPr lang="ko-KR" altLang="ko-KR" dirty="0"/>
              <a:t> </a:t>
            </a:r>
            <a:r>
              <a:rPr lang="ko-KR" altLang="ko-KR" dirty="0" err="1"/>
              <a:t>MLP는</a:t>
            </a:r>
            <a:r>
              <a:rPr lang="ko-KR" altLang="ko-KR" dirty="0"/>
              <a:t> </a:t>
            </a:r>
            <a:r>
              <a:rPr lang="ko-KR" altLang="ko-KR" dirty="0" err="1"/>
              <a:t>U</a:t>
            </a:r>
            <a:r>
              <a:rPr lang="ko-KR" altLang="ko-KR" dirty="0"/>
              <a:t>-Net만 </a:t>
            </a:r>
            <a:r>
              <a:rPr lang="ko-KR" altLang="ko-KR" dirty="0" err="1"/>
              <a:t>MLP로</a:t>
            </a:r>
            <a:r>
              <a:rPr lang="ko-KR" altLang="ko-KR" dirty="0"/>
              <a:t> 바꾼 겁니다. 이걸로 아키텍처 선택이 맞았는지 봅니다. </a:t>
            </a:r>
            <a:endParaRPr lang="en-US" altLang="ko-KR" dirty="0"/>
          </a:p>
          <a:p>
            <a:pPr rtl="0"/>
            <a:r>
              <a:rPr lang="ko-KR" altLang="ko-KR" dirty="0"/>
              <a:t>둘째, </a:t>
            </a:r>
            <a:r>
              <a:rPr lang="ko-KR" altLang="ko-KR" dirty="0" err="1"/>
              <a:t>FlowMatching</a:t>
            </a:r>
            <a:r>
              <a:rPr lang="ko-KR" altLang="ko-KR" dirty="0"/>
              <a:t> </a:t>
            </a:r>
            <a:r>
              <a:rPr lang="ko-KR" altLang="ko-KR" dirty="0" err="1"/>
              <a:t>PCA는</a:t>
            </a:r>
            <a:r>
              <a:rPr lang="ko-KR" altLang="ko-KR" dirty="0"/>
              <a:t> 발현 공간 대신 </a:t>
            </a:r>
            <a:r>
              <a:rPr lang="ko-KR" altLang="ko-KR" dirty="0" err="1"/>
              <a:t>PCA로</a:t>
            </a:r>
            <a:r>
              <a:rPr lang="ko-KR" altLang="ko-KR" dirty="0"/>
              <a:t> 압축한 공간에서 동작합니다. 이걸로 "압축하지 않고 발현 공간에서 직접 하는 게 정말 </a:t>
            </a:r>
            <a:r>
              <a:rPr lang="ko-KR" altLang="ko-KR" dirty="0" err="1"/>
              <a:t>나은가"를</a:t>
            </a:r>
            <a:r>
              <a:rPr lang="ko-KR" altLang="ko-KR" dirty="0"/>
              <a:t> 검증합니다. </a:t>
            </a:r>
            <a:endParaRPr lang="en-US" altLang="ko-KR" dirty="0"/>
          </a:p>
          <a:p>
            <a:pPr rtl="0"/>
            <a:r>
              <a:rPr lang="ko-KR" altLang="ko-KR" dirty="0"/>
              <a:t>셋째, </a:t>
            </a:r>
            <a:r>
              <a:rPr lang="ko-KR" altLang="ko-KR" dirty="0" err="1"/>
              <a:t>FlowMatching</a:t>
            </a:r>
            <a:r>
              <a:rPr lang="ko-KR" altLang="ko-KR" dirty="0"/>
              <a:t> PCA </a:t>
            </a:r>
            <a:r>
              <a:rPr lang="ko-KR" altLang="ko-KR" dirty="0" err="1"/>
              <a:t>OT는</a:t>
            </a:r>
            <a:r>
              <a:rPr lang="ko-KR" altLang="ko-KR" dirty="0"/>
              <a:t> 여기에 </a:t>
            </a:r>
            <a:r>
              <a:rPr lang="ko-KR" altLang="ko-KR" dirty="0" err="1"/>
              <a:t>optimal</a:t>
            </a:r>
            <a:r>
              <a:rPr lang="ko-KR" altLang="ko-KR" dirty="0"/>
              <a:t> </a:t>
            </a:r>
            <a:r>
              <a:rPr lang="ko-KR" altLang="ko-KR" dirty="0" err="1"/>
              <a:t>transport</a:t>
            </a:r>
            <a:r>
              <a:rPr lang="ko-KR" altLang="ko-KR" dirty="0"/>
              <a:t> 방식의 </a:t>
            </a:r>
            <a:r>
              <a:rPr lang="ko-KR" altLang="ko-KR" dirty="0" err="1"/>
              <a:t>coupling을</a:t>
            </a:r>
            <a:r>
              <a:rPr lang="ko-KR" altLang="ko-KR" dirty="0"/>
              <a:t> 추가한 건데, 이걸로 단순한 </a:t>
            </a:r>
            <a:r>
              <a:rPr lang="ko-KR" altLang="ko-KR" dirty="0" err="1"/>
              <a:t>independent</a:t>
            </a:r>
            <a:r>
              <a:rPr lang="ko-KR" altLang="ko-KR" dirty="0"/>
              <a:t> </a:t>
            </a:r>
            <a:r>
              <a:rPr lang="ko-KR" altLang="ko-KR" dirty="0" err="1"/>
              <a:t>coupling</a:t>
            </a:r>
            <a:r>
              <a:rPr lang="ko-KR" altLang="ko-KR" dirty="0"/>
              <a:t> 대신 정교한 </a:t>
            </a:r>
            <a:r>
              <a:rPr lang="ko-KR" altLang="ko-KR" dirty="0" err="1"/>
              <a:t>OT를</a:t>
            </a:r>
            <a:r>
              <a:rPr lang="ko-KR" altLang="ko-KR" dirty="0"/>
              <a:t> 쓰면 더 좋아지는지 봅니다.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이 세 대조군이 뒤 실험에서 </a:t>
            </a:r>
            <a:r>
              <a:rPr lang="ko-KR" altLang="ko-KR" dirty="0" err="1"/>
              <a:t>PRiMeFlow와</a:t>
            </a:r>
            <a:r>
              <a:rPr lang="ko-KR" altLang="ko-KR" dirty="0"/>
              <a:t> 나란히 비교되면서, 각 설계 선택이 실제로 성능에 기여했는지를 보여주게 됩니다. 이제 그 실험 결과로 넘어가겠습니다.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* </a:t>
            </a:r>
            <a:r>
              <a:rPr lang="ko-KR" altLang="ko-KR" dirty="0" err="1"/>
              <a:t>Optimal</a:t>
            </a:r>
            <a:r>
              <a:rPr lang="ko-KR" altLang="ko-KR" dirty="0"/>
              <a:t> </a:t>
            </a:r>
            <a:r>
              <a:rPr lang="ko-KR" altLang="ko-KR" dirty="0" err="1"/>
              <a:t>transport</a:t>
            </a:r>
            <a:r>
              <a:rPr lang="ko-KR" altLang="ko-KR" dirty="0"/>
              <a:t> = 한 분포를 다른 분포로 옮길 때 "이동 비용이 </a:t>
            </a:r>
            <a:r>
              <a:rPr lang="ko-KR" altLang="ko-KR" dirty="0" err="1"/>
              <a:t>최소"가</a:t>
            </a:r>
            <a:r>
              <a:rPr lang="ko-KR" altLang="ko-KR" dirty="0"/>
              <a:t> 되도록 짝지어주는 방법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16DD5-F01A-5769-6D2F-C04BB500E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93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7BF1-1E3B-97A3-44E3-2A73AB35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A4AA40-5AC1-1C25-0855-28C7CFF7F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0BDEAC-228D-9FC0-2F72-88DC38A17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&lt;</a:t>
            </a:r>
            <a:r>
              <a:rPr kumimoji="1" lang="ko-KR" altLang="en-US" dirty="0"/>
              <a:t>실험 구성</a:t>
            </a:r>
            <a:r>
              <a:rPr kumimoji="1"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rtl="0"/>
            <a:r>
              <a:rPr lang="ko-KR" altLang="ko-KR" dirty="0"/>
              <a:t>이제 실험 결과입니다. 벤치마크는 </a:t>
            </a:r>
            <a:r>
              <a:rPr lang="ko-KR" altLang="ko-KR" dirty="0" err="1"/>
              <a:t>PerturBench를</a:t>
            </a:r>
            <a:r>
              <a:rPr lang="ko-KR" altLang="ko-KR" dirty="0"/>
              <a:t> 씁니다. </a:t>
            </a:r>
            <a:endParaRPr lang="en-US" altLang="ko-KR" dirty="0"/>
          </a:p>
          <a:p>
            <a:pPr rtl="0"/>
            <a:r>
              <a:rPr lang="ko-KR" altLang="ko-KR" dirty="0"/>
              <a:t>데이터셋은 세 개인데 태스크가 둘로 나뉩니다. </a:t>
            </a:r>
            <a:endParaRPr lang="en-US" altLang="ko-KR" dirty="0"/>
          </a:p>
          <a:p>
            <a:pPr rtl="0"/>
            <a:r>
              <a:rPr lang="ko-KR" altLang="ko-KR" dirty="0"/>
              <a:t>Srivatsan20과 Jiang24는 </a:t>
            </a:r>
            <a:r>
              <a:rPr lang="ko-KR" altLang="ko-KR" dirty="0" err="1"/>
              <a:t>covariate</a:t>
            </a:r>
            <a:r>
              <a:rPr lang="ko-KR" altLang="ko-KR" dirty="0"/>
              <a:t> </a:t>
            </a:r>
            <a:r>
              <a:rPr lang="ko-KR" altLang="ko-KR" dirty="0" err="1"/>
              <a:t>transfer</a:t>
            </a:r>
            <a:r>
              <a:rPr lang="ko-KR" altLang="ko-KR" dirty="0"/>
              <a:t>, 즉 학습 때 못 본 세포 맥락에서 처리 효과를 예측하는 태스크고, </a:t>
            </a:r>
            <a:endParaRPr lang="en-US" altLang="ko-KR" dirty="0"/>
          </a:p>
          <a:p>
            <a:pPr rtl="0"/>
            <a:r>
              <a:rPr lang="ko-KR" altLang="ko-KR" dirty="0"/>
              <a:t>Norman19는 </a:t>
            </a:r>
            <a:r>
              <a:rPr lang="ko-KR" altLang="ko-KR" dirty="0" err="1"/>
              <a:t>combo</a:t>
            </a:r>
            <a:r>
              <a:rPr lang="ko-KR" altLang="ko-KR" dirty="0"/>
              <a:t> </a:t>
            </a:r>
            <a:r>
              <a:rPr lang="ko-KR" altLang="ko-KR" dirty="0" err="1"/>
              <a:t>prediction</a:t>
            </a:r>
            <a:r>
              <a:rPr lang="ko-KR" altLang="ko-KR" dirty="0"/>
              <a:t>, 여러 처리를 동시에 가한 걸 예측하는 태스크입니다. 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가장 중요한 건 지표가 두 축이라는 점입니다. 하나는 MMD, DEG </a:t>
            </a:r>
            <a:r>
              <a:rPr lang="ko-KR" altLang="ko-KR" dirty="0" err="1"/>
              <a:t>recall</a:t>
            </a:r>
            <a:r>
              <a:rPr lang="ko-KR" altLang="ko-KR" dirty="0"/>
              <a:t> 같은 분포 기반 지표로 분포 전체를 얼마나 재현하는지, 다른 하나는 RMSE, </a:t>
            </a:r>
            <a:r>
              <a:rPr lang="ko-KR" altLang="ko-KR" dirty="0" err="1"/>
              <a:t>LogFC</a:t>
            </a:r>
            <a:r>
              <a:rPr lang="ko-KR" altLang="ko-KR" dirty="0"/>
              <a:t> 같은 </a:t>
            </a:r>
            <a:r>
              <a:rPr lang="ko-KR" altLang="ko-KR" dirty="0" err="1"/>
              <a:t>pseudobulk</a:t>
            </a:r>
            <a:r>
              <a:rPr lang="ko-KR" altLang="ko-KR" dirty="0"/>
              <a:t> 지표로 평균 발현을 얼마나 맞히는지</a:t>
            </a:r>
            <a:r>
              <a:rPr lang="en-US" altLang="ko-KR" dirty="0"/>
              <a:t> </a:t>
            </a:r>
            <a:r>
              <a:rPr lang="ko-KR" altLang="en-US" dirty="0"/>
              <a:t>확인합니다</a:t>
            </a:r>
            <a:r>
              <a:rPr lang="en-US" altLang="ko-KR" dirty="0"/>
              <a:t>.</a:t>
            </a:r>
            <a:r>
              <a:rPr lang="ko-KR" altLang="ko-KR" dirty="0"/>
              <a:t> 이 두 축의 구분이 뒤에서 계속 중요</a:t>
            </a:r>
            <a:r>
              <a:rPr lang="en-US" altLang="ko-KR" dirty="0"/>
              <a:t> </a:t>
            </a:r>
            <a:r>
              <a:rPr lang="ko-KR" altLang="en-US" dirty="0"/>
              <a:t>해집니다</a:t>
            </a:r>
            <a:r>
              <a:rPr lang="en-US" altLang="ko-KR" dirty="0"/>
              <a:t>.</a:t>
            </a:r>
            <a:endParaRPr lang="ko-KR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11783-6B55-E730-E205-5A8746238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828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7463-801E-690C-5102-7FBBF16C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617680-A3BE-9E5D-7FEB-CA73DD09F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DCBD2E-4775-658D-ED4A-0977A014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 err="1"/>
              <a:t>covariate</a:t>
            </a:r>
            <a:r>
              <a:rPr lang="ko-KR" altLang="ko-KR" dirty="0"/>
              <a:t> </a:t>
            </a:r>
            <a:r>
              <a:rPr lang="ko-KR" altLang="ko-KR" dirty="0" err="1"/>
              <a:t>transfer</a:t>
            </a:r>
            <a:r>
              <a:rPr lang="ko-KR" altLang="ko-KR" dirty="0"/>
              <a:t> 결과인데, </a:t>
            </a:r>
            <a:endParaRPr lang="en-US" altLang="ko-KR" dirty="0"/>
          </a:p>
          <a:p>
            <a:pPr rtl="0"/>
            <a:r>
              <a:rPr lang="ko-KR" altLang="ko-KR" dirty="0"/>
              <a:t>이번엔 유전자 </a:t>
            </a:r>
            <a:r>
              <a:rPr lang="ko-KR" altLang="ko-KR" dirty="0" err="1"/>
              <a:t>perturbation</a:t>
            </a:r>
            <a:r>
              <a:rPr lang="ko-KR" altLang="ko-KR" dirty="0"/>
              <a:t> 데이터인 Jiang24입니다. 표를 보시면 트레이드오프가 명확합니다. 왼쪽 분포 지표부터 </a:t>
            </a:r>
            <a:r>
              <a:rPr lang="ko-KR" altLang="en-US" dirty="0"/>
              <a:t>확인해 보면</a:t>
            </a:r>
            <a:r>
              <a:rPr lang="en-US" altLang="ko-KR" dirty="0"/>
              <a:t>,</a:t>
            </a:r>
            <a:r>
              <a:rPr lang="ko-KR" altLang="ko-KR" dirty="0"/>
              <a:t> MMD </a:t>
            </a:r>
            <a:r>
              <a:rPr lang="ko-KR" altLang="ko-KR" dirty="0" err="1"/>
              <a:t>PCA에서</a:t>
            </a:r>
            <a:r>
              <a:rPr lang="ko-KR" altLang="ko-KR" dirty="0"/>
              <a:t> </a:t>
            </a:r>
            <a:r>
              <a:rPr lang="ko-KR" altLang="ko-KR" dirty="0" err="1"/>
              <a:t>PRiMeFlow가</a:t>
            </a:r>
            <a:r>
              <a:rPr lang="ko-KR" altLang="ko-KR" dirty="0"/>
              <a:t> 0.057인데 </a:t>
            </a:r>
            <a:r>
              <a:rPr lang="ko-KR" altLang="ko-KR" dirty="0" err="1"/>
              <a:t>CPA는</a:t>
            </a:r>
            <a:r>
              <a:rPr lang="ko-KR" altLang="ko-KR" dirty="0"/>
              <a:t> 2.5, </a:t>
            </a:r>
            <a:r>
              <a:rPr lang="ko-KR" altLang="ko-KR" dirty="0" err="1"/>
              <a:t>Latent는</a:t>
            </a:r>
            <a:r>
              <a:rPr lang="ko-KR" altLang="ko-KR" dirty="0"/>
              <a:t> 2.6입니다. 자릿수가 다르게 앞섭니다. DEG </a:t>
            </a:r>
            <a:r>
              <a:rPr lang="ko-KR" altLang="ko-KR" dirty="0" err="1"/>
              <a:t>recall도</a:t>
            </a:r>
            <a:r>
              <a:rPr lang="ko-KR" altLang="ko-KR" dirty="0"/>
              <a:t> </a:t>
            </a:r>
            <a:r>
              <a:rPr lang="ko-KR" altLang="ko-KR" dirty="0" err="1"/>
              <a:t>PRiMeFlow만</a:t>
            </a:r>
            <a:r>
              <a:rPr lang="ko-KR" altLang="ko-KR" dirty="0"/>
              <a:t> 0.099고 나머지는 0.005 이하로 사실상 0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그런데 맨 오른쪽 </a:t>
            </a:r>
            <a:r>
              <a:rPr lang="ko-KR" altLang="ko-KR" dirty="0" err="1"/>
              <a:t>cos</a:t>
            </a:r>
            <a:r>
              <a:rPr lang="ko-KR" altLang="ko-KR" dirty="0"/>
              <a:t> </a:t>
            </a:r>
            <a:r>
              <a:rPr lang="ko-KR" altLang="ko-KR" dirty="0" err="1"/>
              <a:t>LogFC를</a:t>
            </a:r>
            <a:r>
              <a:rPr lang="ko-KR" altLang="ko-KR" dirty="0"/>
              <a:t> </a:t>
            </a:r>
            <a:r>
              <a:rPr lang="ko-KR" altLang="en-US" dirty="0"/>
              <a:t>확인해보면</a:t>
            </a:r>
            <a:r>
              <a:rPr lang="en-US" altLang="ko-KR" dirty="0"/>
              <a:t>,</a:t>
            </a:r>
            <a:r>
              <a:rPr lang="ko-KR" altLang="ko-KR" dirty="0"/>
              <a:t> 이건 </a:t>
            </a:r>
            <a:r>
              <a:rPr lang="ko-KR" altLang="ko-KR" dirty="0" err="1"/>
              <a:t>pseudobulk</a:t>
            </a:r>
            <a:r>
              <a:rPr lang="ko-KR" altLang="ko-KR" dirty="0"/>
              <a:t>, 즉 세포들의 평균 발현이 얼마나 </a:t>
            </a:r>
            <a:r>
              <a:rPr lang="ko-KR" altLang="ko-KR" dirty="0" err="1"/>
              <a:t>비슷한지</a:t>
            </a:r>
            <a:r>
              <a:rPr lang="ko-KR" altLang="ko-KR" dirty="0"/>
              <a:t> 보는 지표인데, 여기서는 </a:t>
            </a:r>
            <a:r>
              <a:rPr lang="ko-KR" altLang="ko-KR" dirty="0" err="1"/>
              <a:t>PRiMeFlow가</a:t>
            </a:r>
            <a:r>
              <a:rPr lang="ko-KR" altLang="ko-KR" dirty="0"/>
              <a:t> 0.77로 </a:t>
            </a:r>
            <a:r>
              <a:rPr lang="ko-KR" altLang="ko-KR" dirty="0" err="1"/>
              <a:t>Latent의</a:t>
            </a:r>
            <a:r>
              <a:rPr lang="ko-KR" altLang="ko-KR" dirty="0"/>
              <a:t> 0.79에 아주 살짝 밀립니다.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이게 논문이 말한 트레이드오프입니다. 분포를 재현하는 능력에서는 </a:t>
            </a:r>
            <a:r>
              <a:rPr lang="ko-KR" altLang="ko-KR" dirty="0" err="1"/>
              <a:t>PRiMeFlow가</a:t>
            </a:r>
            <a:r>
              <a:rPr lang="ko-KR" altLang="ko-KR" dirty="0"/>
              <a:t> 압도하지만, 단순히 평균만 맞히는 지표에서는 오히려 단순 </a:t>
            </a:r>
            <a:r>
              <a:rPr lang="ko-KR" altLang="ko-KR" dirty="0" err="1"/>
              <a:t>baseline이</a:t>
            </a:r>
            <a:r>
              <a:rPr lang="ko-KR" altLang="ko-KR" dirty="0"/>
              <a:t> 근소하게 앞설 수 있다는 </a:t>
            </a:r>
            <a:r>
              <a:rPr lang="ko-KR" altLang="en-US" dirty="0"/>
              <a:t>겁니다</a:t>
            </a:r>
            <a:r>
              <a:rPr lang="en-US" altLang="ko-KR" dirty="0"/>
              <a:t>.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9E026-AD56-EDD2-8945-09D807EB6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58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791A-B07D-6B85-3A64-7811AE72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0E3AF7-CD9D-9AF3-8D92-987862B7C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519877-9D9F-7C52-AA39-0FAC8BA25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dirty="0"/>
              <a:t>다음으로 </a:t>
            </a:r>
            <a:r>
              <a:rPr lang="ko-KR" altLang="ko-KR" dirty="0"/>
              <a:t>여러 처리를 동시에 가하는 </a:t>
            </a:r>
            <a:r>
              <a:rPr lang="ko-KR" altLang="ko-KR" dirty="0" err="1"/>
              <a:t>combo</a:t>
            </a:r>
            <a:r>
              <a:rPr lang="ko-KR" altLang="ko-KR" dirty="0"/>
              <a:t> </a:t>
            </a:r>
            <a:r>
              <a:rPr lang="ko-KR" altLang="ko-KR" dirty="0" err="1"/>
              <a:t>prediction</a:t>
            </a:r>
            <a:r>
              <a:rPr lang="en-US" altLang="ko-KR" dirty="0"/>
              <a:t> </a:t>
            </a:r>
            <a:r>
              <a:rPr lang="ko-KR" altLang="en-US" dirty="0"/>
              <a:t>결과입니다</a:t>
            </a:r>
            <a:r>
              <a:rPr lang="en-US" altLang="ko-KR" dirty="0"/>
              <a:t>. </a:t>
            </a:r>
            <a:r>
              <a:rPr lang="ko-KR" altLang="en-US" dirty="0"/>
              <a:t>앞서 말했듯</a:t>
            </a:r>
            <a:r>
              <a:rPr lang="ko-KR" altLang="ko-KR" dirty="0"/>
              <a:t> Norman19 데이터를 씁니다. </a:t>
            </a:r>
            <a:r>
              <a:rPr lang="ko-KR" altLang="en-US" dirty="0"/>
              <a:t>결과적으로 </a:t>
            </a:r>
            <a:r>
              <a:rPr lang="ko-KR" altLang="ko-KR" dirty="0"/>
              <a:t>앞의 Jiang24와 같은 패턴이 나타납니다.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표에서 가장 먼저 볼 건 가운데 DEG </a:t>
            </a:r>
            <a:r>
              <a:rPr lang="ko-KR" altLang="ko-KR" dirty="0" err="1"/>
              <a:t>recall</a:t>
            </a:r>
            <a:r>
              <a:rPr lang="ko-KR" altLang="ko-KR" dirty="0"/>
              <a:t> 열입니다. </a:t>
            </a:r>
            <a:r>
              <a:rPr lang="ko-KR" altLang="ko-KR" dirty="0" err="1"/>
              <a:t>PRiMeFlow가</a:t>
            </a:r>
            <a:r>
              <a:rPr lang="ko-KR" altLang="ko-KR" dirty="0"/>
              <a:t> 0.54인데, 나머지를 보시면 CPA 0.032, SAMS-</a:t>
            </a:r>
            <a:r>
              <a:rPr lang="ko-KR" altLang="ko-KR" dirty="0" err="1"/>
              <a:t>VAE는</a:t>
            </a:r>
            <a:r>
              <a:rPr lang="ko-KR" altLang="ko-KR" dirty="0"/>
              <a:t> 0, </a:t>
            </a:r>
            <a:r>
              <a:rPr lang="ko-KR" altLang="ko-KR" dirty="0" err="1"/>
              <a:t>Latent는</a:t>
            </a:r>
            <a:r>
              <a:rPr lang="ko-KR" altLang="ko-KR" dirty="0"/>
              <a:t> 0.0004로 사실상 전부 0에 수렴합니다. 논문 전체를 통틀어, 조합 처리에서 상위 50개 </a:t>
            </a:r>
            <a:r>
              <a:rPr lang="ko-KR" altLang="ko-KR" dirty="0" err="1"/>
              <a:t>DEG를</a:t>
            </a:r>
            <a:r>
              <a:rPr lang="ko-KR" altLang="ko-KR" dirty="0"/>
              <a:t> 제대로 잡아내는 모델은 </a:t>
            </a:r>
            <a:r>
              <a:rPr lang="ko-KR" altLang="ko-KR" dirty="0" err="1"/>
              <a:t>PRiMeFlow가</a:t>
            </a:r>
            <a:r>
              <a:rPr lang="ko-KR" altLang="ko-KR" dirty="0"/>
              <a:t> 유일합니다. 이게 단일세포 수준에서 분포 전체를 재현하는 능력의 직접적인 증거입니다.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MMD </a:t>
            </a:r>
            <a:r>
              <a:rPr lang="ko-KR" altLang="ko-KR" dirty="0" err="1"/>
              <a:t>PCA에서도</a:t>
            </a:r>
            <a:endParaRPr lang="en-US" altLang="ko-KR" dirty="0"/>
          </a:p>
          <a:p>
            <a:pPr rtl="0"/>
            <a:r>
              <a:rPr lang="ko-KR" altLang="ko-KR" dirty="0" err="1"/>
              <a:t>PRiMeFlow가</a:t>
            </a:r>
            <a:r>
              <a:rPr lang="ko-KR" altLang="ko-KR" dirty="0"/>
              <a:t> 0.34로 CPA 2.2, </a:t>
            </a:r>
            <a:r>
              <a:rPr lang="ko-KR" altLang="ko-KR" dirty="0" err="1"/>
              <a:t>Latent</a:t>
            </a:r>
            <a:r>
              <a:rPr lang="ko-KR" altLang="ko-KR" dirty="0"/>
              <a:t> 3.2를 크게 앞</a:t>
            </a:r>
            <a:r>
              <a:rPr lang="ko-KR" altLang="en-US" dirty="0"/>
              <a:t>섭니다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그런데 여기서도 트레이드오프가 똑같이 보입니다. 맨 오른쪽 </a:t>
            </a:r>
            <a:r>
              <a:rPr lang="ko-KR" altLang="ko-KR" dirty="0" err="1"/>
              <a:t>cos</a:t>
            </a:r>
            <a:r>
              <a:rPr lang="ko-KR" altLang="ko-KR" dirty="0"/>
              <a:t> </a:t>
            </a:r>
            <a:r>
              <a:rPr lang="ko-KR" altLang="ko-KR" dirty="0" err="1"/>
              <a:t>LogFC를</a:t>
            </a:r>
            <a:r>
              <a:rPr lang="ko-KR" altLang="ko-KR" dirty="0"/>
              <a:t> 보면 </a:t>
            </a:r>
            <a:r>
              <a:rPr lang="ko-KR" altLang="ko-KR" dirty="0" err="1"/>
              <a:t>PRiMeFlow가</a:t>
            </a:r>
            <a:r>
              <a:rPr lang="ko-KR" altLang="ko-KR" dirty="0"/>
              <a:t> 0.77로, </a:t>
            </a:r>
            <a:r>
              <a:rPr lang="ko-KR" altLang="ko-KR" dirty="0" err="1"/>
              <a:t>Latent의</a:t>
            </a:r>
            <a:r>
              <a:rPr lang="ko-KR" altLang="ko-KR" dirty="0"/>
              <a:t> 0.79에 아주 살짝 밀립니다. 분포를 재현하는 지표에서는 압도하지만, 평균만 비교하는 </a:t>
            </a:r>
            <a:r>
              <a:rPr lang="ko-KR" altLang="ko-KR" dirty="0" err="1"/>
              <a:t>pseudobulk</a:t>
            </a:r>
            <a:r>
              <a:rPr lang="ko-KR" altLang="ko-KR" dirty="0"/>
              <a:t> 지표에서는 단순 </a:t>
            </a:r>
            <a:r>
              <a:rPr lang="ko-KR" altLang="ko-KR" dirty="0" err="1"/>
              <a:t>baseline이</a:t>
            </a:r>
            <a:r>
              <a:rPr lang="ko-KR" altLang="ko-KR" dirty="0"/>
              <a:t> 근소하게 앞설 수 있다는, Jiang24에서 본 것과 같은 현상입니다.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다만 조합 예측은 아직 개선의 여지가 있다는 것도 저자들이 인정하는 부분입니다.</a:t>
            </a:r>
          </a:p>
          <a:p>
            <a:pPr rtl="0"/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F360B-6CCF-64BF-C07B-60D75AEE6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522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9646-D499-DE19-1036-EA93E6CD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0CE765-C44A-184B-9D41-84BA765D7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0B22B8-761C-A110-D005-574F66116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&lt;</a:t>
            </a:r>
            <a:r>
              <a:rPr lang="ko-KR" altLang="en-US" dirty="0"/>
              <a:t>이질성 시각화</a:t>
            </a:r>
            <a:r>
              <a:rPr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rtl="0"/>
            <a:r>
              <a:rPr lang="ko-KR" altLang="ko-KR" dirty="0"/>
              <a:t>지금까지 표의 숫자로 성능을 봤는데, 이걸 눈으로 확인할 수 있는 게 논문 </a:t>
            </a:r>
            <a:r>
              <a:rPr lang="ko-KR" altLang="ko-KR" dirty="0" err="1"/>
              <a:t>Figure</a:t>
            </a:r>
            <a:r>
              <a:rPr lang="ko-KR" altLang="ko-KR" dirty="0"/>
              <a:t> 2입니다. </a:t>
            </a:r>
            <a:endParaRPr lang="en-US" altLang="ko-KR" dirty="0"/>
          </a:p>
          <a:p>
            <a:pPr rtl="0"/>
            <a:r>
              <a:rPr lang="ko-KR" altLang="ko-KR" dirty="0"/>
              <a:t>모든 세포를 같은 PCA 공간에 투영한 그림입니다. </a:t>
            </a:r>
            <a:endParaRPr lang="en-US" altLang="ko-KR" dirty="0"/>
          </a:p>
          <a:p>
            <a:pPr rtl="0"/>
            <a:r>
              <a:rPr lang="ko-KR" altLang="ko-KR" dirty="0"/>
              <a:t>회색이 전체 </a:t>
            </a:r>
            <a:r>
              <a:rPr lang="ko-KR" altLang="ko-KR" dirty="0" err="1"/>
              <a:t>세포고</a:t>
            </a:r>
            <a:r>
              <a:rPr lang="ko-KR" altLang="ko-KR" dirty="0"/>
              <a:t>, </a:t>
            </a:r>
            <a:endParaRPr lang="en-US" altLang="ko-KR" dirty="0"/>
          </a:p>
          <a:p>
            <a:pPr rtl="0"/>
            <a:r>
              <a:rPr lang="ko-KR" altLang="ko-KR" dirty="0"/>
              <a:t>초록색이 우리가 맞혀야 할 </a:t>
            </a:r>
            <a:r>
              <a:rPr lang="ko-KR" altLang="ko-KR" dirty="0" err="1"/>
              <a:t>ground-truth</a:t>
            </a:r>
            <a:r>
              <a:rPr lang="ko-KR" altLang="ko-KR" dirty="0"/>
              <a:t> 처리 세포입니다. </a:t>
            </a:r>
            <a:endParaRPr lang="en-US" altLang="ko-KR" dirty="0"/>
          </a:p>
          <a:p>
            <a:pPr rtl="0"/>
            <a:r>
              <a:rPr lang="ko-KR" altLang="ko-KR" dirty="0"/>
              <a:t>이 초록색이 각 칸마다 똑같이 깔려 있고, </a:t>
            </a:r>
            <a:endParaRPr lang="en-US" altLang="ko-KR" dirty="0"/>
          </a:p>
          <a:p>
            <a:pPr rtl="0"/>
            <a:r>
              <a:rPr lang="ko-KR" altLang="ko-KR" dirty="0"/>
              <a:t>각 모델이 생성한 세포가 색깔로 얹혀 있습니다. </a:t>
            </a:r>
            <a:endParaRPr lang="en-US" altLang="ko-KR" dirty="0"/>
          </a:p>
          <a:p>
            <a:pPr rtl="0"/>
            <a:r>
              <a:rPr lang="ko-KR" altLang="ko-KR" dirty="0"/>
              <a:t>즉 각 모델의 색이 초록색 분포를 얼마나 잘 </a:t>
            </a:r>
            <a:r>
              <a:rPr lang="ko-KR" altLang="ko-KR" dirty="0" err="1"/>
              <a:t>덮느냐를</a:t>
            </a:r>
            <a:r>
              <a:rPr lang="ko-KR" altLang="ko-KR" dirty="0"/>
              <a:t> 보는 겁니다.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왼쪽 위 </a:t>
            </a:r>
            <a:r>
              <a:rPr lang="ko-KR" altLang="ko-KR" dirty="0" err="1"/>
              <a:t>PRiMeFlow부터</a:t>
            </a:r>
            <a:r>
              <a:rPr lang="ko-KR" altLang="ko-KR" dirty="0"/>
              <a:t> 보시면, 생성한 세포가 초록색 </a:t>
            </a:r>
            <a:r>
              <a:rPr lang="ko-KR" altLang="ko-KR" dirty="0" err="1"/>
              <a:t>ground-truth</a:t>
            </a:r>
            <a:r>
              <a:rPr lang="ko-KR" altLang="ko-KR" dirty="0"/>
              <a:t> 분포에 가장 가깝게 퍼져 있습니다. 반면 오른쪽의 SAMS-</a:t>
            </a:r>
            <a:r>
              <a:rPr lang="ko-KR" altLang="ko-KR" dirty="0" err="1"/>
              <a:t>VAE나</a:t>
            </a:r>
            <a:r>
              <a:rPr lang="ko-KR" altLang="ko-KR" dirty="0"/>
              <a:t> 아래쪽 </a:t>
            </a:r>
            <a:r>
              <a:rPr lang="ko-KR" altLang="ko-KR" dirty="0" err="1"/>
              <a:t>Latent</a:t>
            </a:r>
            <a:r>
              <a:rPr lang="ko-KR" altLang="ko-KR" dirty="0"/>
              <a:t> </a:t>
            </a:r>
            <a:r>
              <a:rPr lang="ko-KR" altLang="ko-KR" dirty="0" err="1"/>
              <a:t>Additive를</a:t>
            </a:r>
            <a:r>
              <a:rPr lang="ko-KR" altLang="ko-KR" dirty="0"/>
              <a:t> 보시면, 세포들이 넓게 퍼지지 못하고 한 점에 뭉쳐 있</a:t>
            </a:r>
            <a:r>
              <a:rPr lang="ko-KR" altLang="en-US" dirty="0"/>
              <a:t>습니다</a:t>
            </a:r>
            <a:r>
              <a:rPr lang="ko-KR" altLang="ko-KR" dirty="0"/>
              <a:t>. 이걸 </a:t>
            </a:r>
            <a:r>
              <a:rPr lang="ko-KR" altLang="ko-KR" dirty="0" err="1"/>
              <a:t>mode</a:t>
            </a:r>
            <a:r>
              <a:rPr lang="ko-KR" altLang="ko-KR" dirty="0"/>
              <a:t> </a:t>
            </a:r>
            <a:r>
              <a:rPr lang="ko-KR" altLang="ko-KR" dirty="0" err="1"/>
              <a:t>collapse라고</a:t>
            </a:r>
            <a:r>
              <a:rPr lang="ko-KR" altLang="ko-KR" dirty="0"/>
              <a:t> 합니다. 분포의 다양성을 못 잡고 평균 근처로 쏠려버리는 현상인데, </a:t>
            </a:r>
            <a:endParaRPr lang="en-US" altLang="ko-KR" dirty="0"/>
          </a:p>
          <a:p>
            <a:pPr rtl="0"/>
            <a:r>
              <a:rPr lang="ko-KR" altLang="ko-KR" dirty="0"/>
              <a:t>이게 바로 앞에서 </a:t>
            </a:r>
            <a:r>
              <a:rPr lang="ko-KR" altLang="ko-KR" dirty="0" err="1"/>
              <a:t>pseudobulk</a:t>
            </a:r>
            <a:r>
              <a:rPr lang="ko-KR" altLang="ko-KR" dirty="0"/>
              <a:t> 지표는 잘 나오지만 분포 지표는 안 나오는 모델들의 모습입니다. 평균은 맞히지만 퍼짐을 못 잡는 거죠.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 err="1"/>
              <a:t>PRiMeFlow는</a:t>
            </a:r>
            <a:r>
              <a:rPr lang="ko-KR" altLang="ko-KR" dirty="0"/>
              <a:t> 여기에 훨씬 덜 취약합니다. 앞에서 계속 말한 이질성을 잡는다는 게 시각적으로 이렇게 나타나는 겁니다.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한 가지 더 짚으면, 각 칸 위 MMD 숫자가 그림과 일치합니다. </a:t>
            </a:r>
            <a:r>
              <a:rPr lang="ko-KR" altLang="ko-KR" dirty="0" err="1"/>
              <a:t>PRiMeFlow는</a:t>
            </a:r>
            <a:r>
              <a:rPr lang="ko-KR" altLang="ko-KR" dirty="0"/>
              <a:t> </a:t>
            </a:r>
            <a:r>
              <a:rPr lang="ko-KR" altLang="ko-KR" dirty="0" err="1"/>
              <a:t>MMD가</a:t>
            </a:r>
            <a:r>
              <a:rPr lang="ko-KR" altLang="ko-KR" dirty="0"/>
              <a:t> 작고, 뭉쳐 있는 모델들은 </a:t>
            </a:r>
            <a:r>
              <a:rPr lang="ko-KR" altLang="ko-KR" dirty="0" err="1"/>
              <a:t>MMD가</a:t>
            </a:r>
            <a:r>
              <a:rPr lang="ko-KR" altLang="ko-KR" dirty="0"/>
              <a:t> 크죠. 그리고 </a:t>
            </a:r>
            <a:r>
              <a:rPr lang="ko-KR" altLang="ko-KR" dirty="0" err="1"/>
              <a:t>CFG를</a:t>
            </a:r>
            <a:r>
              <a:rPr lang="ko-KR" altLang="ko-KR" dirty="0"/>
              <a:t> 1에서 5로 키운 걸 비교하면, DEG </a:t>
            </a:r>
            <a:r>
              <a:rPr lang="ko-KR" altLang="ko-KR" dirty="0" err="1"/>
              <a:t>recall은</a:t>
            </a:r>
            <a:r>
              <a:rPr lang="ko-KR" altLang="ko-KR" dirty="0"/>
              <a:t> 올라가지만 분포가 살짝 왜곡되는 것도 보입니다. 어떤 </a:t>
            </a:r>
            <a:r>
              <a:rPr lang="ko-KR" altLang="ko-KR" dirty="0" err="1"/>
              <a:t>downstream</a:t>
            </a:r>
            <a:r>
              <a:rPr lang="ko-KR" altLang="ko-KR" dirty="0"/>
              <a:t> </a:t>
            </a:r>
            <a:r>
              <a:rPr lang="ko-KR" altLang="ko-KR" dirty="0" err="1"/>
              <a:t>작업이냐에</a:t>
            </a:r>
            <a:r>
              <a:rPr lang="ko-KR" altLang="ko-KR" dirty="0"/>
              <a:t> 따라 </a:t>
            </a:r>
            <a:r>
              <a:rPr lang="ko-KR" altLang="ko-KR" dirty="0" err="1"/>
              <a:t>CFG를</a:t>
            </a:r>
            <a:r>
              <a:rPr lang="ko-KR" altLang="ko-KR" dirty="0"/>
              <a:t> 조절해야 한다는 실용적 시사점입니다.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B91026-F0F1-4BF8-41B2-5A44ACF45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87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4A0F-3BA3-A2F0-FF08-82EA7E5C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DA3EFD-2640-9AC7-8FF3-83B0A83D0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3EE329-64D6-7644-8304-50C2A5F2C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마지막 결과는 이 모델을 실제 대회 규모로 키웠을 때입니다. </a:t>
            </a:r>
            <a:endParaRPr lang="en-US" altLang="ko-KR" dirty="0"/>
          </a:p>
          <a:p>
            <a:pPr rtl="0"/>
            <a:r>
              <a:rPr lang="ko-KR" altLang="en-US" dirty="0"/>
              <a:t>결과를 살펴보기 전에</a:t>
            </a:r>
            <a:r>
              <a:rPr lang="en-US" altLang="ko-KR" dirty="0"/>
              <a:t>, </a:t>
            </a:r>
            <a:r>
              <a:rPr lang="ko-KR" altLang="en-US" dirty="0"/>
              <a:t>핵심 지표 </a:t>
            </a:r>
            <a:r>
              <a:rPr lang="en-US" altLang="ko-KR" dirty="0"/>
              <a:t>4</a:t>
            </a:r>
            <a:r>
              <a:rPr lang="ko-KR" altLang="en-US" dirty="0"/>
              <a:t>가지에 대해 먼저 알아보겠습니다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먼저 </a:t>
            </a:r>
            <a:r>
              <a:rPr lang="en-US" altLang="ko-KR" dirty="0"/>
              <a:t>DES</a:t>
            </a:r>
            <a:r>
              <a:rPr lang="ko-KR" altLang="en-US" dirty="0"/>
              <a:t>입니다</a:t>
            </a:r>
            <a:r>
              <a:rPr lang="en-US" altLang="ko-KR" dirty="0"/>
              <a:t>. DES</a:t>
            </a:r>
            <a:r>
              <a:rPr lang="ko-KR" altLang="en-US" dirty="0"/>
              <a:t>는 </a:t>
            </a:r>
            <a:r>
              <a:rPr lang="en-US" altLang="ko-KR" dirty="0"/>
              <a:t>model</a:t>
            </a:r>
            <a:r>
              <a:rPr lang="ko-KR" altLang="en-US" dirty="0"/>
              <a:t>이 </a:t>
            </a:r>
            <a:r>
              <a:rPr lang="en-US" altLang="ko-KR" dirty="0"/>
              <a:t>perturbation</a:t>
            </a:r>
            <a:r>
              <a:rPr lang="ko-KR" altLang="en-US" dirty="0"/>
              <a:t>을 가했을 때 얼마나 정확하게 </a:t>
            </a:r>
            <a:r>
              <a:rPr lang="en-US" altLang="ko-KR" dirty="0"/>
              <a:t>gene-expression</a:t>
            </a:r>
            <a:r>
              <a:rPr lang="ko-KR" altLang="en-US" dirty="0"/>
              <a:t>을 예측했는지를 나타내는 지표입니다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값은 </a:t>
            </a:r>
            <a:r>
              <a:rPr lang="en-US" altLang="ko-KR" dirty="0"/>
              <a:t>0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이고</a:t>
            </a:r>
            <a:r>
              <a:rPr lang="en-US" altLang="ko-KR" dirty="0"/>
              <a:t>, 1</a:t>
            </a:r>
            <a:r>
              <a:rPr lang="ko-KR" altLang="en-US" dirty="0"/>
              <a:t>에 가까울수록 예측을 잘 했다는 의미입니다</a:t>
            </a:r>
            <a:r>
              <a:rPr lang="en-US" altLang="ko-KR" dirty="0"/>
              <a:t>. 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다음으로 </a:t>
            </a:r>
            <a:r>
              <a:rPr lang="en-US" altLang="ko-KR" dirty="0"/>
              <a:t>PDS</a:t>
            </a:r>
            <a:r>
              <a:rPr lang="ko-KR" altLang="en-US" dirty="0"/>
              <a:t>입니다</a:t>
            </a:r>
            <a:r>
              <a:rPr lang="en-US" altLang="ko-KR" dirty="0"/>
              <a:t>. PDS</a:t>
            </a:r>
            <a:r>
              <a:rPr lang="ko-KR" altLang="en-US" dirty="0"/>
              <a:t>는 </a:t>
            </a:r>
            <a:r>
              <a:rPr lang="en-US" altLang="ko-KR" dirty="0"/>
              <a:t>model</a:t>
            </a:r>
            <a:r>
              <a:rPr lang="ko-KR" altLang="en-US" dirty="0"/>
              <a:t>이 </a:t>
            </a:r>
            <a:r>
              <a:rPr lang="en-US" altLang="ko-KR" dirty="0"/>
              <a:t>perturbation</a:t>
            </a:r>
            <a:r>
              <a:rPr lang="ko-KR" altLang="en-US" dirty="0"/>
              <a:t>을 가했다 가정했을 때</a:t>
            </a:r>
            <a:r>
              <a:rPr lang="en-US" altLang="ko-KR" dirty="0"/>
              <a:t>, </a:t>
            </a:r>
            <a:r>
              <a:rPr lang="ko-KR" altLang="en-US" dirty="0"/>
              <a:t>예측한 값이 실제로 가했을 때와 얼마나 가까운지를 나타내는 지표입니다</a:t>
            </a:r>
            <a:r>
              <a:rPr lang="en-US" altLang="ko-KR" dirty="0"/>
              <a:t>. </a:t>
            </a:r>
            <a:r>
              <a:rPr lang="ko-KR" altLang="en-US" dirty="0"/>
              <a:t>쉽게 설명하자면</a:t>
            </a:r>
            <a:r>
              <a:rPr lang="en-US" altLang="ko-KR" dirty="0"/>
              <a:t>, model</a:t>
            </a:r>
            <a:r>
              <a:rPr lang="ko-KR" altLang="en-US" dirty="0"/>
              <a:t>이 특정 </a:t>
            </a:r>
            <a:r>
              <a:rPr lang="en-US" altLang="ko-KR" dirty="0"/>
              <a:t>gene</a:t>
            </a:r>
            <a:r>
              <a:rPr lang="ko-KR" altLang="en-US" dirty="0"/>
              <a:t>의 </a:t>
            </a:r>
            <a:r>
              <a:rPr lang="en-US" altLang="ko-KR" dirty="0"/>
              <a:t>perturbation</a:t>
            </a:r>
            <a:r>
              <a:rPr lang="ko-KR" altLang="en-US" dirty="0"/>
              <a:t>의 고유효과를 얼마나 정확히 예측했는지를 나타내는 지표입니다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 역시 값은 </a:t>
            </a:r>
            <a:r>
              <a:rPr lang="en-US" altLang="ko-KR" dirty="0"/>
              <a:t>0 ~ 1</a:t>
            </a:r>
            <a:r>
              <a:rPr lang="ko-KR" altLang="en-US" dirty="0"/>
              <a:t>입니다</a:t>
            </a:r>
            <a:r>
              <a:rPr lang="en-US" altLang="ko-KR" dirty="0"/>
              <a:t>. (</a:t>
            </a:r>
            <a:r>
              <a:rPr lang="ko-KR" altLang="en-US" dirty="0"/>
              <a:t>엄밀히 따지면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en-US" altLang="ko-KR" dirty="0"/>
              <a:t>perturbation </a:t>
            </a:r>
            <a:r>
              <a:rPr lang="ko-KR" altLang="en-US" dirty="0"/>
              <a:t>개수라고 했을 때</a:t>
            </a:r>
            <a:r>
              <a:rPr lang="en-US" altLang="ko-KR" dirty="0"/>
              <a:t>, </a:t>
            </a:r>
            <a:r>
              <a:rPr lang="ko-KR" altLang="en-US" dirty="0"/>
              <a:t>값은 </a:t>
            </a:r>
            <a:r>
              <a:rPr lang="en-US" altLang="ko-KR" dirty="0"/>
              <a:t>1/N ~ 1 </a:t>
            </a:r>
            <a:r>
              <a:rPr lang="ko-KR" altLang="en-US" dirty="0"/>
              <a:t>사이입니다</a:t>
            </a:r>
            <a:r>
              <a:rPr lang="en-US" altLang="ko-KR" dirty="0"/>
              <a:t>. </a:t>
            </a:r>
            <a:r>
              <a:rPr lang="ko-KR" altLang="en-US" dirty="0"/>
              <a:t>그러나 보통 </a:t>
            </a:r>
            <a:r>
              <a:rPr lang="en-US" altLang="ko-KR" dirty="0"/>
              <a:t>N</a:t>
            </a:r>
            <a:r>
              <a:rPr lang="ko-KR" altLang="en-US" dirty="0"/>
              <a:t>의 값이 매우 크기 때문에 사실상 </a:t>
            </a:r>
            <a:r>
              <a:rPr lang="ko-KR" altLang="en-US" dirty="0" err="1"/>
              <a:t>하한값은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으로 수렴하게 됩니다</a:t>
            </a:r>
            <a:r>
              <a:rPr lang="en-US" altLang="ko-KR" dirty="0"/>
              <a:t>.)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다음으로 </a:t>
            </a:r>
            <a:r>
              <a:rPr lang="en-US" altLang="ko-KR" dirty="0"/>
              <a:t>Spearman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예측과 실제 관측 사이 생물학적 효과 크기의 순위 일관성을 나타내는 지표입니다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값은 </a:t>
            </a:r>
            <a:r>
              <a:rPr lang="en-US" altLang="ko-KR" dirty="0"/>
              <a:t>-1 ~ +1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-1</a:t>
            </a:r>
            <a:r>
              <a:rPr lang="ko-KR" altLang="en-US" dirty="0"/>
              <a:t>인 경우</a:t>
            </a:r>
            <a:r>
              <a:rPr lang="en-US" altLang="ko-KR" dirty="0"/>
              <a:t>, </a:t>
            </a:r>
            <a:r>
              <a:rPr lang="ko-KR" altLang="en-US" dirty="0"/>
              <a:t>완전 단조 감소</a:t>
            </a:r>
            <a:r>
              <a:rPr lang="en-US" altLang="ko-KR" dirty="0"/>
              <a:t>; </a:t>
            </a:r>
            <a:r>
              <a:rPr lang="ko-KR" altLang="en-US" dirty="0"/>
              <a:t>즉 예측의 순위와 실제 관측의 순위가 완전히 뒤집힌 경우입니다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+1</a:t>
            </a:r>
            <a:r>
              <a:rPr lang="ko-KR" altLang="en-US" dirty="0"/>
              <a:t>인 경우</a:t>
            </a:r>
            <a:r>
              <a:rPr lang="en-US" altLang="ko-KR" dirty="0"/>
              <a:t>, </a:t>
            </a:r>
            <a:r>
              <a:rPr lang="ko-KR" altLang="en-US" dirty="0"/>
              <a:t>완전 단조 증가</a:t>
            </a:r>
            <a:r>
              <a:rPr lang="en-US" altLang="ko-KR" dirty="0"/>
              <a:t>; </a:t>
            </a:r>
            <a:r>
              <a:rPr lang="ko-KR" altLang="en-US" dirty="0"/>
              <a:t>즉 예측의 순위와 실제 관측의 순위가 정확히 일치한 경우입니다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ko-KR" altLang="en-US" dirty="0"/>
              <a:t>마지막으로 </a:t>
            </a:r>
            <a:r>
              <a:rPr lang="en-US" altLang="ko-KR" dirty="0"/>
              <a:t>Pearson</a:t>
            </a:r>
            <a:r>
              <a:rPr lang="ko-KR" altLang="en-US" dirty="0"/>
              <a:t>입니다</a:t>
            </a:r>
            <a:r>
              <a:rPr lang="en-US" altLang="ko-KR" dirty="0"/>
              <a:t>. Gene expression</a:t>
            </a:r>
            <a:r>
              <a:rPr lang="ko-KR" altLang="en-US" dirty="0"/>
              <a:t>의 예측된 변화와 실제 관측된 변화 사이의 상관관계를 나타내는 지표입니다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 역시 값은 </a:t>
            </a:r>
            <a:r>
              <a:rPr lang="en-US" altLang="ko-KR" dirty="0"/>
              <a:t>-1 ~ +1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-1</a:t>
            </a:r>
            <a:r>
              <a:rPr lang="ko-KR" altLang="en-US" dirty="0"/>
              <a:t>인 경우</a:t>
            </a:r>
            <a:r>
              <a:rPr lang="en-US" altLang="ko-KR" dirty="0"/>
              <a:t>: </a:t>
            </a:r>
            <a:r>
              <a:rPr lang="ko-KR" altLang="en-US" dirty="0"/>
              <a:t>완전 반비례 </a:t>
            </a:r>
            <a:r>
              <a:rPr lang="en-US" altLang="ko-KR" dirty="0"/>
              <a:t>/ +1</a:t>
            </a:r>
            <a:r>
              <a:rPr lang="ko-KR" altLang="en-US" dirty="0"/>
              <a:t>인 경우</a:t>
            </a:r>
            <a:r>
              <a:rPr lang="en-US" altLang="ko-KR" dirty="0"/>
              <a:t>: </a:t>
            </a:r>
            <a:r>
              <a:rPr lang="ko-KR" altLang="en-US" dirty="0"/>
              <a:t>완전 정비례</a:t>
            </a:r>
            <a:endParaRPr lang="en-US" altLang="ko-KR" dirty="0"/>
          </a:p>
          <a:p>
            <a:pPr rtl="0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F7EE5-1DF3-844D-B1F3-90409A90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4482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63A3-41A7-F3B3-515D-ED3CE959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17F94C-D7E0-EB90-3249-47D3ABD06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70E3C6-E2DB-F485-0636-DD4C0B7B3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dirty="0"/>
              <a:t>다시 돌아와서 결과를 살펴보도록 하겠습니다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이번엔 </a:t>
            </a:r>
            <a:r>
              <a:rPr lang="ko-KR" altLang="ko-KR" dirty="0"/>
              <a:t>ARC </a:t>
            </a:r>
            <a:r>
              <a:rPr lang="ko-KR" altLang="ko-KR" dirty="0" err="1"/>
              <a:t>Virtual</a:t>
            </a:r>
            <a:r>
              <a:rPr lang="ko-KR" altLang="ko-KR" dirty="0"/>
              <a:t>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Challenge의</a:t>
            </a:r>
            <a:r>
              <a:rPr lang="ko-KR" altLang="ko-KR" dirty="0"/>
              <a:t> H1 인간 배아줄기세포 데이터를 </a:t>
            </a:r>
            <a:r>
              <a:rPr lang="ko-KR" altLang="en-US" dirty="0"/>
              <a:t>사용한 결과입니다</a:t>
            </a:r>
            <a:r>
              <a:rPr lang="ko-KR" altLang="ko-KR" dirty="0"/>
              <a:t>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전략은 두 단계입니다. 먼저 약 700만 세포, 14개 세포주의 대규모 </a:t>
            </a:r>
            <a:r>
              <a:rPr lang="en-US" altLang="ko-KR" dirty="0"/>
              <a:t>data</a:t>
            </a:r>
            <a:r>
              <a:rPr lang="ko-KR" altLang="ko-KR" dirty="0"/>
              <a:t>로 사전학습하고, </a:t>
            </a:r>
            <a:r>
              <a:rPr lang="ko-KR" altLang="ko-KR" dirty="0" err="1"/>
              <a:t>그다음</a:t>
            </a:r>
            <a:r>
              <a:rPr lang="ko-KR" altLang="ko-KR" dirty="0"/>
              <a:t> H1 배아줄기세포라는 특정 맥락에 맞춰 </a:t>
            </a:r>
            <a:r>
              <a:rPr lang="ko-KR" altLang="ko-KR" dirty="0" err="1"/>
              <a:t>finetuning합니다</a:t>
            </a:r>
            <a:r>
              <a:rPr lang="ko-KR" altLang="ko-KR" dirty="0"/>
              <a:t>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표에서 </a:t>
            </a:r>
            <a:r>
              <a:rPr lang="ko-KR" altLang="ko-KR" dirty="0" err="1"/>
              <a:t>PRiMeFlow</a:t>
            </a:r>
            <a:r>
              <a:rPr lang="ko-KR" altLang="ko-KR" dirty="0"/>
              <a:t> 세 행을 보시면, </a:t>
            </a:r>
            <a:r>
              <a:rPr lang="en-US" altLang="ko-KR" dirty="0"/>
              <a:t>(</a:t>
            </a:r>
            <a:r>
              <a:rPr lang="ko-KR" altLang="en-US" dirty="0"/>
              <a:t>빨간색 부분</a:t>
            </a:r>
            <a:r>
              <a:rPr lang="en-US" altLang="ko-KR" dirty="0"/>
              <a:t>) </a:t>
            </a:r>
            <a:r>
              <a:rPr lang="ko-KR" altLang="ko-KR" dirty="0" err="1"/>
              <a:t>finetuning</a:t>
            </a:r>
            <a:r>
              <a:rPr lang="ko-KR" altLang="ko-KR" dirty="0"/>
              <a:t> 단계가 진행될수록 성능이 오릅니다. </a:t>
            </a:r>
            <a:r>
              <a:rPr lang="ko-KR" altLang="ko-KR" dirty="0" err="1"/>
              <a:t>pretrained에서</a:t>
            </a:r>
            <a:r>
              <a:rPr lang="ko-KR" altLang="ko-KR" dirty="0"/>
              <a:t> 300pts, 250pts로 갈수록 </a:t>
            </a:r>
            <a:r>
              <a:rPr lang="ko-KR" altLang="ko-KR" dirty="0" err="1"/>
              <a:t>PDS나</a:t>
            </a:r>
            <a:r>
              <a:rPr lang="ko-KR" altLang="ko-KR" dirty="0"/>
              <a:t> </a:t>
            </a:r>
            <a:r>
              <a:rPr lang="ko-KR" altLang="ko-KR" dirty="0" err="1"/>
              <a:t>Spearman</a:t>
            </a:r>
            <a:r>
              <a:rPr lang="ko-KR" altLang="ko-KR" dirty="0"/>
              <a:t> 같은 지표가 좋아지죠. </a:t>
            </a:r>
            <a:r>
              <a:rPr lang="ko-KR" altLang="ko-KR" dirty="0" err="1"/>
              <a:t>finetuning이</a:t>
            </a:r>
            <a:r>
              <a:rPr lang="ko-KR" altLang="ko-KR" dirty="0"/>
              <a:t> 실제로 효과가 있다는 겁니다.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그런데 이 표의 진짜 포인트는 다른 데 있습니다. </a:t>
            </a:r>
            <a:r>
              <a:rPr lang="en-US" altLang="ko-KR" dirty="0"/>
              <a:t>(</a:t>
            </a:r>
            <a:r>
              <a:rPr lang="ko-KR" altLang="en-US" dirty="0"/>
              <a:t>파란색 부분</a:t>
            </a:r>
            <a:r>
              <a:rPr lang="en-US" altLang="ko-KR" dirty="0"/>
              <a:t>) </a:t>
            </a:r>
            <a:r>
              <a:rPr lang="ko-KR" altLang="ko-KR" dirty="0" err="1"/>
              <a:t>xBio나</a:t>
            </a:r>
            <a:r>
              <a:rPr lang="ko-KR" altLang="ko-KR" dirty="0"/>
              <a:t> </a:t>
            </a:r>
            <a:r>
              <a:rPr lang="ko-KR" altLang="ko-KR" dirty="0" err="1"/>
              <a:t>Shippers</a:t>
            </a:r>
            <a:r>
              <a:rPr lang="ko-KR" altLang="ko-KR" dirty="0"/>
              <a:t> 같은 다른 팀 모델을 보면, </a:t>
            </a:r>
            <a:r>
              <a:rPr lang="ko-KR" altLang="ko-KR" dirty="0" err="1"/>
              <a:t>DES나</a:t>
            </a:r>
            <a:r>
              <a:rPr lang="ko-KR" altLang="ko-KR" dirty="0"/>
              <a:t> PDS 같은 개별 지표에서는 </a:t>
            </a:r>
            <a:r>
              <a:rPr lang="ko-KR" altLang="ko-KR" dirty="0" err="1"/>
              <a:t>PRiMeFlow보다</a:t>
            </a:r>
            <a:r>
              <a:rPr lang="ko-KR" altLang="ko-KR" dirty="0"/>
              <a:t> 높습니다. 그래서 ＂</a:t>
            </a:r>
            <a:r>
              <a:rPr lang="ko-KR" altLang="ko-KR" dirty="0" err="1"/>
              <a:t>PRiMeFlow가</a:t>
            </a:r>
            <a:r>
              <a:rPr lang="ko-KR" altLang="ko-KR" dirty="0"/>
              <a:t> 모든 지표에서 1등"이라고 하면 틀립니다.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(</a:t>
            </a:r>
            <a:r>
              <a:rPr lang="ko-KR" altLang="en-US" dirty="0"/>
              <a:t>주황색 부분</a:t>
            </a:r>
            <a:r>
              <a:rPr lang="en-US" altLang="ko-KR" dirty="0"/>
              <a:t>)</a:t>
            </a:r>
            <a:r>
              <a:rPr lang="ko-KR" altLang="ko-KR" dirty="0"/>
              <a:t>대신 MAE 열을 보세요. 주황색으로 표시한 부분인데, </a:t>
            </a:r>
            <a:r>
              <a:rPr lang="ko-KR" altLang="ko-KR" dirty="0" err="1"/>
              <a:t>xBio는</a:t>
            </a:r>
            <a:r>
              <a:rPr lang="ko-KR" altLang="ko-KR" dirty="0"/>
              <a:t> 0.77, </a:t>
            </a:r>
            <a:r>
              <a:rPr lang="ko-KR" altLang="ko-KR" dirty="0" err="1"/>
              <a:t>Mean</a:t>
            </a:r>
            <a:r>
              <a:rPr lang="ko-KR" altLang="ko-KR" dirty="0"/>
              <a:t> </a:t>
            </a:r>
            <a:r>
              <a:rPr lang="ko-KR" altLang="ko-KR" dirty="0" err="1"/>
              <a:t>Predictors는</a:t>
            </a:r>
            <a:r>
              <a:rPr lang="ko-KR" altLang="ko-KR" dirty="0"/>
              <a:t> 무려 6.7입니다. 반면 </a:t>
            </a:r>
            <a:r>
              <a:rPr lang="ko-KR" altLang="ko-KR" dirty="0" err="1"/>
              <a:t>PRiMeFlow는</a:t>
            </a:r>
            <a:r>
              <a:rPr lang="ko-KR" altLang="ko-KR" dirty="0"/>
              <a:t> 0.086이죠. 다른 모델들은 특정 지표를 </a:t>
            </a:r>
            <a:r>
              <a:rPr lang="ko-KR" altLang="ko-KR" dirty="0" err="1"/>
              <a:t>높이려다</a:t>
            </a:r>
            <a:r>
              <a:rPr lang="ko-KR" altLang="ko-KR" dirty="0"/>
              <a:t> </a:t>
            </a:r>
            <a:r>
              <a:rPr lang="ko-KR" altLang="ko-KR" dirty="0" err="1"/>
              <a:t>ground-truth</a:t>
            </a:r>
            <a:r>
              <a:rPr lang="ko-KR" altLang="ko-KR" dirty="0"/>
              <a:t> </a:t>
            </a:r>
            <a:r>
              <a:rPr lang="ko-KR" altLang="ko-KR" dirty="0" err="1"/>
              <a:t>발현값을</a:t>
            </a:r>
            <a:r>
              <a:rPr lang="ko-KR" altLang="ko-KR" dirty="0"/>
              <a:t> 심하게 왜곡한 겁니다.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그래서 </a:t>
            </a:r>
            <a:r>
              <a:rPr lang="ko-KR" altLang="ko-KR" dirty="0" err="1"/>
              <a:t>PRiMeFlow의</a:t>
            </a:r>
            <a:r>
              <a:rPr lang="ko-KR" altLang="ko-KR" dirty="0"/>
              <a:t> 강점은 개별 1등이 아니라 종합 균형입니다. 일곱 개 지표를 종합했을 때 평균 순위가 가장 낮다, 즉 종합 1등입니다. 왜곡은 최소로 유지하면서 모든 지표에서 고르게 잘하는 거죠. 이게 </a:t>
            </a:r>
            <a:r>
              <a:rPr lang="ko-KR" altLang="ko-KR" dirty="0" err="1"/>
              <a:t>Generalist</a:t>
            </a:r>
            <a:r>
              <a:rPr lang="ko-KR" altLang="ko-KR" dirty="0"/>
              <a:t>, 골고루 잘하는 모델이라는 이름의 의미입니다. 그리고 이건 앞서 본 강점—분포를 잘 잡는 능력—이 대규모에서도 유지되기 때문에 가능했습니다.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en-US" altLang="ko-KR" dirty="0"/>
              <a:t>*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파인튜닝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미세조정)은 </a:t>
            </a:r>
            <a:r>
              <a:rPr lang="ko-KR" altLang="ko-KR" dirty="0"/>
              <a:t>이미 학습을 마친 인공지능 모델에 </a:t>
            </a:r>
            <a:r>
              <a:rPr lang="ko-KR" altLang="ko-K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분야의 데이터를 추가로 학습시켜 원하는 목적에 딱 맞게 다듬는 과정</a:t>
            </a:r>
            <a:endParaRPr lang="ko-KR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19E57F-2DB1-FC37-BE68-F6B9F962B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476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C441-E13B-C0E5-B9E1-00537A15C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C377C7-03AE-B946-FA07-937823550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17EE07-E3BE-D60B-581F-B0EB2FA03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&lt;</a:t>
            </a:r>
            <a:r>
              <a:rPr lang="ko-KR" altLang="en-US" dirty="0"/>
              <a:t>결론</a:t>
            </a:r>
            <a:r>
              <a:rPr lang="en-US" altLang="ko-KR" dirty="0"/>
              <a:t>, </a:t>
            </a:r>
            <a:r>
              <a:rPr lang="ko-KR" altLang="en-US" dirty="0"/>
              <a:t>논의</a:t>
            </a:r>
            <a:r>
              <a:rPr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rtl="0"/>
            <a:r>
              <a:rPr lang="ko-KR" altLang="ko-KR" dirty="0"/>
              <a:t>마지막으로 정리하겠습니다.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 err="1"/>
              <a:t>PRiMeFlow의</a:t>
            </a:r>
            <a:r>
              <a:rPr lang="ko-KR" altLang="ko-KR" dirty="0"/>
              <a:t> 핵심은 세 가지였습니다. </a:t>
            </a:r>
            <a:endParaRPr lang="en-US" altLang="ko-KR" dirty="0"/>
          </a:p>
          <a:p>
            <a:pPr rtl="0"/>
            <a:r>
              <a:rPr lang="ko-KR" altLang="ko-KR" dirty="0"/>
              <a:t>기존 방식처럼 발현 데이터를 </a:t>
            </a:r>
            <a:r>
              <a:rPr lang="ko-KR" altLang="ko-KR" dirty="0" err="1"/>
              <a:t>latent</a:t>
            </a:r>
            <a:r>
              <a:rPr lang="ko-KR" altLang="ko-KR" dirty="0"/>
              <a:t> 공간으로 압축하지 않고, </a:t>
            </a:r>
            <a:endParaRPr lang="en-US" altLang="ko-KR" dirty="0"/>
          </a:p>
          <a:p>
            <a:pPr rtl="0"/>
            <a:r>
              <a:rPr lang="ko-KR" altLang="ko-KR" dirty="0"/>
              <a:t>유전자 발현 공간에서 직접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matching을</a:t>
            </a:r>
            <a:r>
              <a:rPr lang="ko-KR" altLang="ko-KR" dirty="0"/>
              <a:t> 하고, </a:t>
            </a:r>
            <a:r>
              <a:rPr lang="ko-KR" altLang="ko-KR" dirty="0" err="1"/>
              <a:t>velocity</a:t>
            </a:r>
            <a:r>
              <a:rPr lang="ko-KR" altLang="ko-KR" dirty="0"/>
              <a:t> </a:t>
            </a:r>
            <a:r>
              <a:rPr lang="ko-KR" altLang="ko-KR" dirty="0" err="1"/>
              <a:t>field를</a:t>
            </a:r>
            <a:r>
              <a:rPr lang="ko-KR" altLang="ko-KR" dirty="0"/>
              <a:t> </a:t>
            </a:r>
            <a:r>
              <a:rPr lang="ko-KR" altLang="ko-KR" dirty="0" err="1"/>
              <a:t>U</a:t>
            </a:r>
            <a:r>
              <a:rPr lang="ko-KR" altLang="ko-KR" dirty="0"/>
              <a:t>-Net으로 </a:t>
            </a:r>
            <a:r>
              <a:rPr lang="ko-KR" altLang="ko-KR" dirty="0" err="1"/>
              <a:t>파라미터화하며</a:t>
            </a:r>
            <a:r>
              <a:rPr lang="ko-KR" altLang="ko-KR" dirty="0"/>
              <a:t>, </a:t>
            </a:r>
            <a:endParaRPr lang="en-US" altLang="ko-KR" dirty="0"/>
          </a:p>
          <a:p>
            <a:pPr rtl="0"/>
            <a:r>
              <a:rPr lang="ko-KR" altLang="ko-KR" dirty="0"/>
              <a:t>이 전체를 </a:t>
            </a:r>
            <a:r>
              <a:rPr lang="ko-KR" altLang="ko-KR" dirty="0" err="1"/>
              <a:t>end-to-end로</a:t>
            </a:r>
            <a:r>
              <a:rPr lang="ko-KR" altLang="ko-KR" dirty="0"/>
              <a:t> 학습한다는 것이었죠.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그 결과 </a:t>
            </a:r>
            <a:r>
              <a:rPr lang="ko-KR" altLang="ko-KR" dirty="0" err="1"/>
              <a:t>MMD나</a:t>
            </a:r>
            <a:r>
              <a:rPr lang="ko-KR" altLang="ko-KR" dirty="0"/>
              <a:t> DEG </a:t>
            </a:r>
            <a:r>
              <a:rPr lang="ko-KR" altLang="ko-KR" dirty="0" err="1"/>
              <a:t>recall</a:t>
            </a:r>
            <a:r>
              <a:rPr lang="ko-KR" altLang="ko-KR" dirty="0"/>
              <a:t> 같은 분포 지표에서 강했고, 특히 다른 모델들이 못 잡는 </a:t>
            </a:r>
            <a:r>
              <a:rPr lang="ko-KR" altLang="ko-KR" dirty="0" err="1"/>
              <a:t>ground-truth</a:t>
            </a:r>
            <a:r>
              <a:rPr lang="ko-KR" altLang="ko-KR" dirty="0"/>
              <a:t> </a:t>
            </a:r>
            <a:r>
              <a:rPr lang="ko-KR" altLang="ko-KR" dirty="0" err="1"/>
              <a:t>DEG를</a:t>
            </a:r>
            <a:r>
              <a:rPr lang="ko-KR" altLang="ko-KR" dirty="0"/>
              <a:t> 유일하게 잡아냈습니다. </a:t>
            </a:r>
            <a:endParaRPr lang="en-US" altLang="ko-KR" dirty="0"/>
          </a:p>
          <a:p>
            <a:pPr rtl="0"/>
            <a:r>
              <a:rPr lang="ko-KR" altLang="ko-KR" dirty="0"/>
              <a:t>그리고 대규모 사전학습과 </a:t>
            </a:r>
            <a:r>
              <a:rPr lang="ko-KR" altLang="ko-KR" dirty="0" err="1"/>
              <a:t>finetuning으로</a:t>
            </a:r>
            <a:r>
              <a:rPr lang="ko-KR" altLang="ko-KR" dirty="0"/>
              <a:t> 스케일</a:t>
            </a:r>
            <a:r>
              <a:rPr lang="en-US" altLang="ko-KR" dirty="0"/>
              <a:t> </a:t>
            </a:r>
            <a:r>
              <a:rPr lang="ko-KR" altLang="ko-KR" dirty="0" err="1"/>
              <a:t>업해서</a:t>
            </a:r>
            <a:r>
              <a:rPr lang="ko-KR" altLang="ko-KR" dirty="0"/>
              <a:t>, ARC </a:t>
            </a:r>
            <a:r>
              <a:rPr lang="ko-KR" altLang="ko-KR" dirty="0" err="1"/>
              <a:t>Virtual</a:t>
            </a:r>
            <a:r>
              <a:rPr lang="ko-KR" altLang="ko-KR" dirty="0"/>
              <a:t> </a:t>
            </a:r>
            <a:r>
              <a:rPr lang="ko-KR" altLang="ko-KR" dirty="0" err="1"/>
              <a:t>Cell</a:t>
            </a:r>
            <a:r>
              <a:rPr lang="ko-KR" altLang="ko-KR" dirty="0"/>
              <a:t> </a:t>
            </a:r>
            <a:r>
              <a:rPr lang="ko-KR" altLang="ko-KR" dirty="0" err="1"/>
              <a:t>Challenge에서</a:t>
            </a:r>
            <a:r>
              <a:rPr lang="ko-KR" altLang="ko-KR" dirty="0"/>
              <a:t> 종합 1위를 달성했습니다.</a:t>
            </a:r>
            <a:endParaRPr lang="en-US" altLang="ko-KR" dirty="0"/>
          </a:p>
          <a:p>
            <a:pPr rtl="0"/>
            <a:endParaRPr lang="ko-KR" altLang="ko-KR" dirty="0"/>
          </a:p>
          <a:p>
            <a:pPr rtl="0"/>
            <a:r>
              <a:rPr lang="ko-KR" altLang="en-US" dirty="0"/>
              <a:t>다음으로</a:t>
            </a:r>
            <a:r>
              <a:rPr lang="en-US" altLang="ko-KR" dirty="0"/>
              <a:t>, </a:t>
            </a:r>
            <a:r>
              <a:rPr lang="ko-KR" altLang="ko-KR" dirty="0"/>
              <a:t>저자들이 스스로 인정한 열린 질문입니다. </a:t>
            </a:r>
            <a:endParaRPr lang="en-US" altLang="ko-KR" dirty="0"/>
          </a:p>
          <a:p>
            <a:pPr rtl="0"/>
            <a:r>
              <a:rPr lang="ko-KR" altLang="ko-KR" dirty="0"/>
              <a:t>앞에서 말씀드렸듯이 유전자 순서는 임의적인데, 왜 공간적 이웃 관계를 가정하는 </a:t>
            </a:r>
            <a:r>
              <a:rPr lang="ko-KR" altLang="ko-KR" dirty="0" err="1"/>
              <a:t>U</a:t>
            </a:r>
            <a:r>
              <a:rPr lang="ko-KR" altLang="ko-KR" dirty="0"/>
              <a:t>-Net이 이렇게 잘 되는지는 저자들도 아직 완전히 설명하지 못합니다. </a:t>
            </a:r>
            <a:endParaRPr lang="en-US" altLang="ko-KR" dirty="0"/>
          </a:p>
          <a:p>
            <a:pPr rtl="0"/>
            <a:r>
              <a:rPr lang="ko-KR" altLang="ko-KR" dirty="0"/>
              <a:t>이론적으로는 순서에 무관한 구조가 더 맞아야 하</a:t>
            </a:r>
            <a:r>
              <a:rPr lang="ko-KR" altLang="en-US" dirty="0"/>
              <a:t>기 때문입니다</a:t>
            </a:r>
            <a:r>
              <a:rPr lang="en-US" altLang="ko-KR" dirty="0"/>
              <a:t>.</a:t>
            </a:r>
          </a:p>
          <a:p>
            <a:pPr rtl="0"/>
            <a:endParaRPr lang="ko-KR" altLang="ko-KR" dirty="0"/>
          </a:p>
          <a:p>
            <a:pPr rtl="0"/>
            <a:r>
              <a:rPr lang="ko-KR" altLang="ko-KR" dirty="0"/>
              <a:t>그래서 </a:t>
            </a:r>
            <a:r>
              <a:rPr lang="ko-KR" altLang="ko-KR" dirty="0" err="1"/>
              <a:t>future</a:t>
            </a:r>
            <a:r>
              <a:rPr lang="ko-KR" altLang="ko-KR" dirty="0"/>
              <a:t> </a:t>
            </a:r>
            <a:r>
              <a:rPr lang="ko-KR" altLang="ko-KR" dirty="0" err="1"/>
              <a:t>work도</a:t>
            </a:r>
            <a:r>
              <a:rPr lang="ko-KR" altLang="ko-KR" dirty="0"/>
              <a:t> 그 방향입니다. </a:t>
            </a:r>
            <a:r>
              <a:rPr lang="ko-KR" altLang="ko-KR" dirty="0" err="1"/>
              <a:t>Perceiver</a:t>
            </a:r>
            <a:r>
              <a:rPr lang="ko-KR" altLang="ko-KR" dirty="0"/>
              <a:t> </a:t>
            </a:r>
            <a:r>
              <a:rPr lang="ko-KR" altLang="ko-KR" dirty="0" err="1"/>
              <a:t>IO나</a:t>
            </a:r>
            <a:r>
              <a:rPr lang="ko-KR" altLang="ko-KR" dirty="0"/>
              <a:t> </a:t>
            </a:r>
            <a:r>
              <a:rPr lang="ko-KR" altLang="ko-KR" dirty="0" err="1"/>
              <a:t>scLDM의</a:t>
            </a:r>
            <a:r>
              <a:rPr lang="ko-KR" altLang="ko-KR" dirty="0"/>
              <a:t> </a:t>
            </a:r>
            <a:r>
              <a:rPr lang="ko-KR" altLang="ko-KR" dirty="0" err="1"/>
              <a:t>cross-attention처럼</a:t>
            </a:r>
            <a:r>
              <a:rPr lang="ko-KR" altLang="ko-KR" dirty="0"/>
              <a:t> 순서에 무관한 아키텍처를 적용해보는 것, </a:t>
            </a:r>
            <a:endParaRPr lang="en-US" altLang="ko-KR" dirty="0"/>
          </a:p>
          <a:p>
            <a:pPr rtl="0"/>
            <a:r>
              <a:rPr lang="ko-KR" altLang="ko-KR" dirty="0"/>
              <a:t>그리고 Tahoe-100M 같은 초대규모 데이터로 </a:t>
            </a:r>
            <a:r>
              <a:rPr lang="ko-KR" altLang="ko-KR" dirty="0" err="1"/>
              <a:t>virtual</a:t>
            </a:r>
            <a:r>
              <a:rPr lang="ko-KR" altLang="ko-KR" dirty="0"/>
              <a:t> </a:t>
            </a:r>
            <a:r>
              <a:rPr lang="ko-KR" altLang="ko-KR" dirty="0" err="1"/>
              <a:t>cell을</a:t>
            </a:r>
            <a:r>
              <a:rPr lang="ko-KR" altLang="ko-KR" dirty="0"/>
              <a:t> 위한 생성 </a:t>
            </a:r>
            <a:r>
              <a:rPr lang="ko-KR" altLang="ko-KR" dirty="0" err="1"/>
              <a:t>foundation</a:t>
            </a:r>
            <a:r>
              <a:rPr lang="ko-KR" altLang="ko-KR" dirty="0"/>
              <a:t> </a:t>
            </a:r>
            <a:r>
              <a:rPr lang="ko-KR" altLang="ko-KR" dirty="0" err="1"/>
              <a:t>model을</a:t>
            </a:r>
            <a:r>
              <a:rPr lang="ko-KR" altLang="ko-KR" dirty="0"/>
              <a:t> 만드는 것이 다음 단계로 제시됩니다. </a:t>
            </a:r>
            <a:endParaRPr lang="en-US" altLang="ko-KR" dirty="0"/>
          </a:p>
          <a:p>
            <a:pPr rtl="0"/>
            <a:endParaRPr lang="en-US" altLang="ko-KR" dirty="0"/>
          </a:p>
          <a:p>
            <a:pPr rtl="0"/>
            <a:r>
              <a:rPr lang="ko-KR" altLang="ko-KR" dirty="0"/>
              <a:t>이상으로 발표를 마치겠습니다. 감사합니다.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31F23A-80A2-33CA-221B-F979DFC85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9FA25D-8B5C-4238-AE21-6A98DCD09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778" b="52222"/>
          <a:stretch/>
        </p:blipFill>
        <p:spPr>
          <a:xfrm>
            <a:off x="10357036" y="1277004"/>
            <a:ext cx="1774034" cy="5875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9D6E60-32D8-44AE-AB0F-283CEDA48E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82DB167-13A5-43F3-B36B-0CDE410A275D}"/>
              </a:ext>
            </a:extLst>
          </p:cNvPr>
          <p:cNvGrpSpPr/>
          <p:nvPr userDrawn="1"/>
        </p:nvGrpSpPr>
        <p:grpSpPr>
          <a:xfrm>
            <a:off x="0" y="1990197"/>
            <a:ext cx="12192000" cy="576001"/>
            <a:chOff x="0" y="962489"/>
            <a:chExt cx="12192000" cy="57600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4E74AD-1AA5-46BB-8322-9C7EDC995083}"/>
                </a:ext>
              </a:extLst>
            </p:cNvPr>
            <p:cNvSpPr/>
            <p:nvPr/>
          </p:nvSpPr>
          <p:spPr>
            <a:xfrm>
              <a:off x="0" y="962489"/>
              <a:ext cx="12192000" cy="576000"/>
            </a:xfrm>
            <a:prstGeom prst="rect">
              <a:avLst/>
            </a:prstGeom>
            <a:solidFill>
              <a:srgbClr val="B6AD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순서도: 수동 입력 10">
              <a:extLst>
                <a:ext uri="{FF2B5EF4-FFF2-40B4-BE49-F238E27FC236}">
                  <a16:creationId xmlns:a16="http://schemas.microsoft.com/office/drawing/2014/main" id="{DC116A19-34FD-4A81-83B2-F8FA913E77AB}"/>
                </a:ext>
              </a:extLst>
            </p:cNvPr>
            <p:cNvSpPr/>
            <p:nvPr/>
          </p:nvSpPr>
          <p:spPr>
            <a:xfrm rot="16200000">
              <a:off x="8142259" y="-2511250"/>
              <a:ext cx="576000" cy="7523480"/>
            </a:xfrm>
            <a:prstGeom prst="flowChartManualInpu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다리꼴 11">
              <a:extLst>
                <a:ext uri="{FF2B5EF4-FFF2-40B4-BE49-F238E27FC236}">
                  <a16:creationId xmlns:a16="http://schemas.microsoft.com/office/drawing/2014/main" id="{E5F1B31D-F11D-4599-AB72-F88D5E6D8BEF}"/>
                </a:ext>
              </a:extLst>
            </p:cNvPr>
            <p:cNvSpPr/>
            <p:nvPr/>
          </p:nvSpPr>
          <p:spPr>
            <a:xfrm flipV="1">
              <a:off x="2971800" y="962489"/>
              <a:ext cx="5898569" cy="576000"/>
            </a:xfrm>
            <a:prstGeom prst="trapezoid">
              <a:avLst>
                <a:gd name="adj" fmla="val 461893"/>
              </a:avLst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BB9E0AE0-0E32-4556-AC35-EC5B3E2B613C}"/>
                </a:ext>
              </a:extLst>
            </p:cNvPr>
            <p:cNvSpPr/>
            <p:nvPr/>
          </p:nvSpPr>
          <p:spPr>
            <a:xfrm flipV="1">
              <a:off x="1874190" y="962489"/>
              <a:ext cx="7645400" cy="576000"/>
            </a:xfrm>
            <a:prstGeom prst="trapezoid">
              <a:avLst>
                <a:gd name="adj" fmla="val 199026"/>
              </a:avLst>
            </a:prstGeom>
            <a:solidFill>
              <a:schemeClr val="bg2">
                <a:lumMod val="2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제목 16">
            <a:extLst>
              <a:ext uri="{FF2B5EF4-FFF2-40B4-BE49-F238E27FC236}">
                <a16:creationId xmlns:a16="http://schemas.microsoft.com/office/drawing/2014/main" id="{A498E85F-C449-490F-9B34-690FE3CF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835731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0A232D14-8ECF-4239-A4C6-8F9A883B5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417357"/>
            <a:ext cx="6035070" cy="449284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DFB987D4-36CD-43A5-ADE3-CF13E180A85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971280" y="5580996"/>
            <a:ext cx="2890550" cy="728921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9741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0AFB8-7DBA-4DDA-8F76-FBDA8454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BC196-9C0F-46AD-84B3-3153865C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873760"/>
            <a:ext cx="11211560" cy="5288280"/>
          </a:xfrm>
        </p:spPr>
        <p:txBody>
          <a:bodyPr>
            <a:normAutofit/>
          </a:bodyPr>
          <a:lstStyle>
            <a:lvl1pPr marL="228600" indent="-228600" latinLnBrk="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latinLnBrk="0">
              <a:buFont typeface="Arial" panose="020B0604020202020204" pitchFamily="34" charset="0"/>
              <a:buChar char="-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latinLnBrk="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1481C-3078-46F6-8804-0E32A640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75F29-7F17-4513-8BEB-F729820F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0DA928-59F6-425F-ACD7-D0A2218A4E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40080" cy="5327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C0ED519-8B83-451F-BD81-AD60B05989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EECB6-90F9-406D-9D2D-80F1EBBE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6E5B90-7D58-4F9F-95F1-BF81EB264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E1CC4-250B-44C6-AE04-C50AA56C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8EF33-34F1-45AD-B9C7-323DC75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BEACA-BE5D-4F3F-86F4-1411E8D1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0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83951-CB07-423F-BEF9-B652AC00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FF351-7FA0-4AF0-99FA-60991829E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FF4A-9993-4129-B7FB-386221CB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AE291B-AB10-4681-80E0-DF5D01B3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1F8802-AF22-4ECE-B826-6C8EE5F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678960-B8D6-44D3-A9A0-4639BC71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3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2F304-4C96-47F9-88C7-42AA27B1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C2429-FFBD-4AAA-A75F-1DD5CCFE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FE88-4CBE-4250-9AD5-467711BC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EE45A9-B2A2-4480-B16A-3561F4FA9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665AE3-E2D2-43A5-8D77-E6E455225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72C75A-9A7F-43C7-B2C2-58B3ECCC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01DE34-069B-4E6D-8DBC-281A3F12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F87894-DF56-4686-9736-FBEB29AF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89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C3D95-99A3-40F7-BEF5-F09EF16E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D1E87-6DD0-44FE-A3A4-85B20762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9B7BC8-E75D-4929-BD76-2D5548D9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FB8BC1-7577-4521-8B76-2EFD1E31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892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349000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2D7E8-F133-B84E-1A53-3018F2652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A90E77-B4B0-9F5F-5A3A-E575CDA1D0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5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bg>
      <p:bgPr>
        <a:solidFill>
          <a:srgbClr val="968C83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3BB6FD-239A-4A17-8D65-8497765295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A59459-0CD2-4A13-8A1D-D68CB6BF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E17100"/>
              </a:clrFrom>
              <a:clrTo>
                <a:srgbClr val="E171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56" r="3192"/>
          <a:stretch/>
        </p:blipFill>
        <p:spPr>
          <a:xfrm>
            <a:off x="10662920" y="6166389"/>
            <a:ext cx="1408219" cy="6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32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43BB7-8E53-459B-95DA-D010D9CE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A26810-5197-4C98-96D2-656368F7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EB874C-0905-4DAD-AFAB-E33CC0C25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5BEA3-AE99-4BCC-BCBB-FEE22D5A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D708B-769E-4524-BB40-A61778D6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5DCB11-D5B8-47B0-9CDC-1FBB1406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39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1DA44-422E-4186-BFA7-42FF3439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92D90F-CEB9-41CC-8528-263EC6B5D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2127A8-0C73-4E07-B4FC-DFCD4C59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5DA67-0BE1-4EEB-A0DD-5F719661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88384D-AD77-4D39-8CC4-864CD775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CBDDB-FE4E-4876-8894-0027D71D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03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D936A-4959-491A-A888-43BC4681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33953-FC1B-441E-82FE-ABDE01BB9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11DB9-C535-4882-A5A3-0A7E3FA7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53505-FA69-448E-BF5C-50A196EE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B0921-4A47-4FBE-ACB3-EAEF6309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0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B5B36E-4FA9-460D-BBA2-2DCCF0941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57C09-CEE6-4F12-A81D-D6E422C47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57D8A-2069-4B23-B2FD-C6830C8B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AB87E-62C5-46A7-832F-2980CAA6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59BB1-AFDC-42D8-B222-EC86F365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4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D0D27-28EE-BA44-88F3-F58F8D3E7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C13FC5-8AE2-201F-0094-456243E43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063C8-B98B-94B2-4EB6-AC74BE52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6E37-8900-454A-BFF3-7119BFEAE9EE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6B5AA-31A1-BE2E-A934-C60DB249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D26A8-53DE-8299-B597-F338F5B4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6F7B-FA5C-4243-8EEE-F974B0F288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0184614-8C2E-4551-AFB9-4D76656E5CC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BB8ECF-B0A7-4AE5-A841-02DDA6CC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AF375-8459-4DBE-99EA-2CF850365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995BF-7008-4D6C-B4BB-CECA627D5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5323B-F23F-4CC0-9431-F0FB661D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0B6474-34E9-4054-A96F-F452B81A0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93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31.png"/><Relationship Id="rId4" Type="http://schemas.openxmlformats.org/officeDocument/2006/relationships/image" Target="../media/image19.png"/><Relationship Id="rId9" Type="http://schemas.openxmlformats.org/officeDocument/2006/relationships/image" Target="../media/image3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564664"/>
            <a:ext cx="12192000" cy="2321372"/>
          </a:xfrm>
        </p:spPr>
        <p:txBody>
          <a:bodyPr anchor="t">
            <a:noAutofit/>
          </a:bodyPr>
          <a:lstStyle/>
          <a:p>
            <a:pPr algn="ctr"/>
            <a:r>
              <a:rPr lang="en" altLang="ko-KR" dirty="0">
                <a:effectLst/>
              </a:rPr>
              <a:t>PRiMeFlow</a:t>
            </a:r>
            <a:br>
              <a:rPr lang="en" altLang="ko-KR" dirty="0">
                <a:effectLst/>
              </a:rPr>
            </a:br>
            <a:r>
              <a:rPr lang="en" altLang="ko-KR" sz="3200" dirty="0">
                <a:effectLst/>
              </a:rPr>
              <a:t>Capturing complex expression heterogeneity in</a:t>
            </a:r>
            <a:br>
              <a:rPr lang="en" altLang="ko-KR" sz="3200" dirty="0">
                <a:effectLst/>
              </a:rPr>
            </a:br>
            <a:r>
              <a:rPr lang="en" altLang="ko-KR" sz="3200" dirty="0">
                <a:effectLst/>
              </a:rPr>
              <a:t>perturbation response modeling</a:t>
            </a:r>
            <a:endParaRPr lang="en" altLang="ko-KR" dirty="0">
              <a:effectLst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A4F9454-58B4-06D7-C2E1-F1992F64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329815"/>
            <a:ext cx="12131070" cy="449284"/>
          </a:xfrm>
        </p:spPr>
        <p:txBody>
          <a:bodyPr>
            <a:noAutofit/>
          </a:bodyPr>
          <a:lstStyle/>
          <a:p>
            <a:pPr algn="ctr"/>
            <a:r>
              <a:rPr lang="en-US" altLang="ko-KR" sz="2000" b="1" u="sng" dirty="0" err="1">
                <a:solidFill>
                  <a:schemeClr val="bg1">
                    <a:lumMod val="65000"/>
                  </a:schemeClr>
                </a:solidFill>
              </a:rPr>
              <a:t>Zichao</a:t>
            </a:r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</a:rPr>
              <a:t> Yan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, Yan Wu, Mica Xu Ji, Chaitra Agrahar, Esther </a:t>
            </a:r>
            <a:r>
              <a:rPr lang="en-US" altLang="ko-KR" sz="2000" dirty="0" err="1">
                <a:solidFill>
                  <a:schemeClr val="bg1">
                    <a:lumMod val="65000"/>
                  </a:schemeClr>
                </a:solidFill>
              </a:rPr>
              <a:t>Wershof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,</a:t>
            </a:r>
            <a:b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Marcel Nassar, Mehrshad </a:t>
            </a:r>
            <a:r>
              <a:rPr lang="en-US" altLang="ko-KR" sz="2000" dirty="0" err="1">
                <a:solidFill>
                  <a:schemeClr val="bg1">
                    <a:lumMod val="65000"/>
                  </a:schemeClr>
                </a:solidFill>
              </a:rPr>
              <a:t>Sadria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, Ridvan Eksi, Vladimir Trifonov,</a:t>
            </a:r>
          </a:p>
          <a:p>
            <a:pPr algn="ctr"/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Ignacio Ibarra, Telmo </a:t>
            </a:r>
            <a:r>
              <a:rPr lang="en-US" altLang="ko-KR" sz="2000" dirty="0" err="1">
                <a:solidFill>
                  <a:schemeClr val="bg1">
                    <a:lumMod val="65000"/>
                  </a:schemeClr>
                </a:solidFill>
              </a:rPr>
              <a:t>Felgueira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</a:rPr>
              <a:t>, Blazej Osinski, and </a:t>
            </a:r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</a:rPr>
              <a:t>Rory Stark</a:t>
            </a:r>
            <a:endParaRPr lang="ko-KR" altLang="en-US" sz="2000" b="1" u="sng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39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45C2-BA2E-B9B5-BCEA-1E61B93F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B398B291-AB94-D64B-FA10-0D176B69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/>
              <a:t>Author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41B6AF-9210-DAB3-E51F-A85CB109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400"/>
            <a:ext cx="6096000" cy="4597400"/>
          </a:xfrm>
          <a:prstGeom prst="rect">
            <a:avLst/>
          </a:prstGeom>
          <a:noFill/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7F6F319-2434-49A7-8E66-EEFC86C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9FAB96-515B-8E1D-D800-180C09F8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22400"/>
            <a:ext cx="6096000" cy="459740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47751DB-EE97-6F4C-3EE5-CE25564090F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C79694-7221-74FF-F620-2FF38DD62926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Zichao</a:t>
              </a:r>
              <a:r>
                <a:rPr kumimoji="1" lang="en-US" altLang="ko-KR" sz="20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Yan, Rory Stark</a:t>
              </a:r>
              <a:endParaRPr kumimoji="1" lang="ko-KR" alt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D93C15-1549-E1BF-A99B-CF0CDA241C52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163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D359-C879-8722-B1D6-816B7E47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6A04DA7-8CF6-0C6F-5865-7CB19A05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F1EC19D3-758B-D31E-B879-C0E89E4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0A0ADCB-F3A7-7794-6097-EEB27C93C9AD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1EB6DA-6EBF-14C8-1AFF-D0780E1068BC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definition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2C2B4B4-5A35-3936-577B-CFC6308768CB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9453C4E-D013-1BCD-2321-340B6CFC0095}"/>
              </a:ext>
            </a:extLst>
          </p:cNvPr>
          <p:cNvSpPr txBox="1"/>
          <p:nvPr/>
        </p:nvSpPr>
        <p:spPr>
          <a:xfrm>
            <a:off x="640079" y="1331191"/>
            <a:ext cx="11353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Predicting the effects of “perturbations” </a:t>
            </a:r>
            <a:r>
              <a:rPr lang="en-US" altLang="ko-KR" sz="2400" b="1" u="sng" dirty="0"/>
              <a:t>in-silico</a:t>
            </a:r>
            <a:r>
              <a:rPr lang="en-US" altLang="ko-KR" sz="2400" dirty="0"/>
              <a:t> on cell state 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- Identify drivers of cell behavior at scale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- Accelerate drug discovery</a:t>
            </a:r>
          </a:p>
          <a:p>
            <a:pPr lvl="1"/>
            <a:endParaRPr lang="en-US" altLang="ko-KR" sz="1200" dirty="0"/>
          </a:p>
          <a:p>
            <a:r>
              <a:rPr lang="en-US" altLang="ko-KR" sz="2400" b="1" u="sng" dirty="0"/>
              <a:t>Modeling challenges</a:t>
            </a:r>
            <a:r>
              <a:rPr lang="en-US" altLang="ko-KR" sz="2400" dirty="0"/>
              <a:t> remain due to …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- The</a:t>
            </a:r>
            <a:r>
              <a:rPr lang="ko-KR" altLang="en-US" sz="2000" dirty="0"/>
              <a:t> </a:t>
            </a:r>
            <a:r>
              <a:rPr lang="en-US" altLang="ko-KR" sz="2000" dirty="0"/>
              <a:t>inherent</a:t>
            </a:r>
            <a:r>
              <a:rPr lang="ko-KR" altLang="en-US" sz="2000" dirty="0"/>
              <a:t> </a:t>
            </a:r>
            <a:r>
              <a:rPr lang="en-US" altLang="ko-KR" sz="2000" dirty="0"/>
              <a:t>heterogeneity</a:t>
            </a:r>
            <a:r>
              <a:rPr lang="ko-KR" altLang="en-US" sz="2000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single</a:t>
            </a:r>
            <a:r>
              <a:rPr lang="ko-KR" altLang="en-US" sz="2000" dirty="0"/>
              <a:t> </a:t>
            </a:r>
            <a:r>
              <a:rPr lang="en-US" altLang="ko-KR" sz="2000" dirty="0"/>
              <a:t>cell</a:t>
            </a:r>
            <a:r>
              <a:rPr lang="ko-KR" altLang="en-US" sz="2000" dirty="0"/>
              <a:t> </a:t>
            </a:r>
            <a:r>
              <a:rPr lang="en-US" altLang="ko-KR" sz="2000" dirty="0"/>
              <a:t>gene</a:t>
            </a:r>
            <a:r>
              <a:rPr lang="ko-KR" altLang="en-US" sz="2000" dirty="0"/>
              <a:t> </a:t>
            </a:r>
            <a:r>
              <a:rPr lang="en-US" altLang="ko-KR" sz="2000" dirty="0"/>
              <a:t>expression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- The complex, latent gene dependencies</a:t>
            </a:r>
          </a:p>
          <a:p>
            <a:endParaRPr lang="en-US" altLang="ko-KR" sz="1600" dirty="0"/>
          </a:p>
          <a:p>
            <a:r>
              <a:rPr lang="en-US" altLang="ko-KR" sz="2400" dirty="0"/>
              <a:t>Perturbation space is </a:t>
            </a:r>
            <a:r>
              <a:rPr lang="en-US" altLang="ko-KR" sz="2400" b="1" u="sng" dirty="0"/>
              <a:t>massive</a:t>
            </a:r>
          </a:p>
          <a:p>
            <a:r>
              <a:rPr lang="en-US" altLang="ko-KR" sz="2400" dirty="0"/>
              <a:t>	</a:t>
            </a:r>
            <a:r>
              <a:rPr lang="en-US" altLang="ko-KR" sz="2000" dirty="0"/>
              <a:t>- depend on covariates (ex. cell type )</a:t>
            </a:r>
          </a:p>
          <a:p>
            <a:r>
              <a:rPr lang="en-US" altLang="ko-KR" sz="2000" dirty="0"/>
              <a:t>	- many key cell state shifts only occur in response to multiple perturbations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B34A8-9603-CA55-591A-2343617A0FDC}"/>
              </a:ext>
            </a:extLst>
          </p:cNvPr>
          <p:cNvSpPr txBox="1"/>
          <p:nvPr/>
        </p:nvSpPr>
        <p:spPr>
          <a:xfrm>
            <a:off x="1092879" y="5095459"/>
            <a:ext cx="10301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u="sng" dirty="0">
                <a:solidFill>
                  <a:srgbClr val="FF0000"/>
                </a:solidFill>
              </a:rPr>
              <a:t>→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We</a:t>
            </a:r>
            <a:r>
              <a:rPr lang="ko-KR" altLang="ko-KR" sz="2800" b="1" u="sng" dirty="0">
                <a:solidFill>
                  <a:srgbClr val="FF0000"/>
                </a:solidFill>
              </a:rPr>
              <a:t>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need</a:t>
            </a:r>
            <a:r>
              <a:rPr lang="ko-KR" altLang="ko-KR" sz="2800" b="1" u="sng" dirty="0">
                <a:solidFill>
                  <a:srgbClr val="FF0000"/>
                </a:solidFill>
              </a:rPr>
              <a:t>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a</a:t>
            </a:r>
            <a:r>
              <a:rPr lang="ko-KR" altLang="ko-KR" sz="2800" b="1" u="sng" dirty="0">
                <a:solidFill>
                  <a:srgbClr val="FF0000"/>
                </a:solidFill>
              </a:rPr>
              <a:t> ML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model</a:t>
            </a:r>
            <a:r>
              <a:rPr lang="ko-KR" altLang="ko-KR" sz="2800" b="1" u="sng" dirty="0">
                <a:solidFill>
                  <a:srgbClr val="FF0000"/>
                </a:solidFill>
              </a:rPr>
              <a:t>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predict</a:t>
            </a:r>
            <a:r>
              <a:rPr lang="ko-KR" altLang="ko-KR" sz="2800" b="1" u="sng" dirty="0">
                <a:solidFill>
                  <a:srgbClr val="FF0000"/>
                </a:solidFill>
              </a:rPr>
              <a:t>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counterfactual</a:t>
            </a:r>
            <a:r>
              <a:rPr lang="ko-KR" altLang="ko-KR" sz="2800" b="1" u="sng" dirty="0">
                <a:solidFill>
                  <a:srgbClr val="FF0000"/>
                </a:solidFill>
              </a:rPr>
              <a:t> </a:t>
            </a:r>
            <a:r>
              <a:rPr lang="ko-KR" altLang="ko-KR" sz="2800" b="1" u="sng" dirty="0" err="1">
                <a:solidFill>
                  <a:srgbClr val="FF0000"/>
                </a:solidFill>
              </a:rPr>
              <a:t>response</a:t>
            </a:r>
            <a:r>
              <a:rPr lang="en-US" altLang="ko-KR" sz="2800" b="1" u="sng" dirty="0">
                <a:solidFill>
                  <a:srgbClr val="FF0000"/>
                </a:solidFill>
              </a:rPr>
              <a:t>!</a:t>
            </a:r>
            <a:endParaRPr lang="ko-KR" alt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DA2BB-A640-9248-C0F5-53AED8483F51}"/>
              </a:ext>
            </a:extLst>
          </p:cNvPr>
          <p:cNvSpPr txBox="1"/>
          <p:nvPr/>
        </p:nvSpPr>
        <p:spPr>
          <a:xfrm>
            <a:off x="1" y="6146590"/>
            <a:ext cx="670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* counterfactual</a:t>
            </a:r>
            <a:r>
              <a:rPr lang="en-US" altLang="ko-KR" sz="1800" dirty="0"/>
              <a:t>: </a:t>
            </a:r>
            <a:r>
              <a:rPr lang="ko-KR" altLang="en-US" dirty="0"/>
              <a:t>만약 어떤 일이 일어나지 않았거나 달랐다면 어떻게 되었을까</a:t>
            </a:r>
            <a:r>
              <a:rPr lang="en-US" altLang="ko-KR" dirty="0"/>
              <a:t>..?  </a:t>
            </a:r>
            <a:r>
              <a:rPr lang="ko-KR" altLang="en-US" dirty="0"/>
              <a:t>하고 실제와 다른 상황을 상상하거나 가정</a:t>
            </a:r>
            <a:r>
              <a:rPr lang="ko-KR" altLang="ko-KR" sz="1800" dirty="0"/>
              <a:t> 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672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4F41-DA22-B3E2-B680-256054F7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4B3DDDC-C34C-95EA-62FF-142CE55E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2C8A2A4A-E9B6-9F79-DD03-DB36291F2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5882439-CC37-74F8-587C-B6F665F88C3E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9D19A2-49E8-C5DC-010B-5FA5C39E1D37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Background – </a:t>
              </a: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Perturbench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ko-KR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(Wu et al., 2024)</a:t>
              </a:r>
              <a:endParaRPr kumimoji="1" lang="ko-KR" altLang="en-US" sz="20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4EDED6E-017E-00F2-5BE9-7FCD08F369B1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005FF63-3F3B-CFD1-83A9-EC99D2D97611}"/>
              </a:ext>
            </a:extLst>
          </p:cNvPr>
          <p:cNvSpPr txBox="1"/>
          <p:nvPr/>
        </p:nvSpPr>
        <p:spPr>
          <a:xfrm>
            <a:off x="734755" y="1557163"/>
            <a:ext cx="104319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Its novel rank-based metrics</a:t>
            </a:r>
            <a:r>
              <a:rPr lang="ko-KR" altLang="en-US" sz="2000" dirty="0"/>
              <a:t> </a:t>
            </a:r>
            <a:r>
              <a:rPr lang="en-US" altLang="ko-KR" sz="2000" dirty="0"/>
              <a:t>have been widely adopted in the field </a:t>
            </a:r>
            <a:r>
              <a:rPr lang="en-US" altLang="ko-KR" sz="2000" b="1" dirty="0"/>
              <a:t>“ARC VCC” </a:t>
            </a:r>
            <a:r>
              <a:rPr lang="en-US" altLang="ko-KR" sz="2000" b="1" i="1" dirty="0"/>
              <a:t>(Annual Virtual Cell Challenge , </a:t>
            </a:r>
            <a:r>
              <a:rPr lang="en-US" altLang="ko-KR" sz="2000" b="1" i="1" dirty="0" err="1"/>
              <a:t>Roohani</a:t>
            </a:r>
            <a:r>
              <a:rPr lang="en-US" altLang="ko-KR" sz="2000" b="1" i="1" dirty="0"/>
              <a:t> et al. 2025)</a:t>
            </a:r>
          </a:p>
          <a:p>
            <a:endParaRPr lang="en-US" altLang="ko-KR" sz="2000" dirty="0"/>
          </a:p>
          <a:p>
            <a:r>
              <a:rPr lang="en-US" altLang="ko-KR" sz="2000" b="1" dirty="0"/>
              <a:t>Empirical result</a:t>
            </a:r>
            <a:r>
              <a:rPr lang="en-US" altLang="ko-KR" sz="2000" dirty="0"/>
              <a:t>: </a:t>
            </a:r>
            <a:r>
              <a:rPr lang="en-US" altLang="ko-KR" sz="2000" b="1" u="sng" dirty="0"/>
              <a:t>simpler model variants could outperform more complex versions!</a:t>
            </a:r>
          </a:p>
          <a:p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 1) ablating the adversarial loss from </a:t>
            </a:r>
            <a:r>
              <a:rPr lang="en-US" altLang="ko-KR" b="1" dirty="0"/>
              <a:t>CPA</a:t>
            </a:r>
            <a:r>
              <a:rPr lang="en-US" altLang="ko-KR" dirty="0"/>
              <a:t> </a:t>
            </a:r>
            <a:r>
              <a:rPr lang="en-US" altLang="ko-KR" b="1" i="1" dirty="0"/>
              <a:t>(</a:t>
            </a:r>
            <a:r>
              <a:rPr lang="en-US" altLang="ko-KR" b="1" i="1" dirty="0" err="1"/>
              <a:t>Lotfollahi</a:t>
            </a:r>
            <a:r>
              <a:rPr lang="en-US" altLang="ko-KR" b="1" i="1" dirty="0"/>
              <a:t> et al.,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 2) ablating the sparsity constraint from </a:t>
            </a:r>
            <a:r>
              <a:rPr lang="en-US" altLang="ko-KR" b="1" dirty="0"/>
              <a:t>SAMS-VAE</a:t>
            </a:r>
            <a:r>
              <a:rPr lang="en-US" altLang="ko-KR" dirty="0"/>
              <a:t> </a:t>
            </a:r>
            <a:r>
              <a:rPr lang="en-US" altLang="ko-KR" b="1" i="1" dirty="0"/>
              <a:t>(Bereket &amp; </a:t>
            </a:r>
            <a:r>
              <a:rPr lang="en-US" altLang="ko-KR" b="1" i="1" dirty="0" err="1"/>
              <a:t>Karaletsos</a:t>
            </a:r>
            <a:r>
              <a:rPr lang="en-US" altLang="ko-KR" b="1" i="1" dirty="0"/>
              <a:t>, 2023)</a:t>
            </a:r>
          </a:p>
          <a:p>
            <a:r>
              <a:rPr lang="en-US" altLang="ko-KR" b="1" dirty="0"/>
              <a:t>→ Improve</a:t>
            </a:r>
            <a:r>
              <a:rPr lang="ko-KR" altLang="en-US" b="1" dirty="0"/>
              <a:t> </a:t>
            </a:r>
            <a:r>
              <a:rPr lang="en-US" altLang="ko-KR" b="1" dirty="0"/>
              <a:t>covariate</a:t>
            </a:r>
            <a:r>
              <a:rPr lang="ko-KR" altLang="en-US" b="1" dirty="0"/>
              <a:t> </a:t>
            </a:r>
            <a:r>
              <a:rPr lang="en-US" altLang="ko-KR" b="1" dirty="0"/>
              <a:t>transfer task performance!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</a:p>
          <a:p>
            <a:r>
              <a:rPr lang="en-US" altLang="ko-KR" sz="2000" b="1" dirty="0"/>
              <a:t>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While strong inductive biases can be performant in specific test settings, simpler algorithms can generalize better in practice.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12AB2-0B5E-5264-0FAE-F688EB44A6BE}"/>
              </a:ext>
            </a:extLst>
          </p:cNvPr>
          <p:cNvSpPr txBox="1"/>
          <p:nvPr/>
        </p:nvSpPr>
        <p:spPr>
          <a:xfrm>
            <a:off x="0" y="6399768"/>
            <a:ext cx="93110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* ARC VCC(2025</a:t>
            </a:r>
            <a:r>
              <a:rPr lang="en-US" altLang="ko-KR" dirty="0"/>
              <a:t>): </a:t>
            </a:r>
            <a:r>
              <a:rPr lang="ko-KR" altLang="ko-KR" dirty="0" err="1"/>
              <a:t>first</a:t>
            </a:r>
            <a:r>
              <a:rPr lang="ko-KR" altLang="ko-KR" dirty="0"/>
              <a:t> </a:t>
            </a:r>
            <a:r>
              <a:rPr lang="ko-KR" altLang="ko-KR" dirty="0" err="1"/>
              <a:t>annual</a:t>
            </a:r>
            <a:r>
              <a:rPr lang="ko-KR" altLang="ko-KR" dirty="0"/>
              <a:t> </a:t>
            </a:r>
            <a:r>
              <a:rPr lang="ko-KR" altLang="ko-KR" dirty="0" err="1"/>
              <a:t>challenge</a:t>
            </a:r>
            <a:r>
              <a:rPr lang="ko-KR" altLang="ko-KR" dirty="0"/>
              <a:t> </a:t>
            </a:r>
            <a:r>
              <a:rPr lang="ko-KR" altLang="ko-KR" dirty="0" err="1"/>
              <a:t>using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PerturBench-style</a:t>
            </a:r>
            <a:r>
              <a:rPr lang="ko-KR" altLang="ko-KR" dirty="0"/>
              <a:t> </a:t>
            </a:r>
            <a:r>
              <a:rPr lang="ko-KR" altLang="ko-KR" dirty="0" err="1"/>
              <a:t>task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H1 </a:t>
            </a:r>
            <a:r>
              <a:rPr lang="ko-KR" altLang="ko-KR" dirty="0" err="1"/>
              <a:t>hESCs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69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D431-20E2-ADC0-EEA1-73122341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8F6A20F-CA69-3D05-2372-04807966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D302A88B-1BC9-838F-84C3-1055C9E8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461B283-1225-9CA3-698D-A1B286C0D692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90A2F1-D986-BE9B-50EB-528E656FF7AB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Background – Flow Matching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2BF9DB4-9380-CEFC-0228-17D80E6488C3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/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→ Generative model which transports a known source distribution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𝑠𝑖𝑚𝑝𝑙𝑒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𝐺𝑎𝑢𝑠𝑠𝑖𝑎𝑛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to the unknown data distribution(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blipFill>
                <a:blip r:embed="rId3"/>
                <a:stretch>
                  <a:fillRect l="-52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07C347E7-93BE-C4B5-A9FD-899AC724E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896" y="2048893"/>
            <a:ext cx="6763104" cy="4175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E9D30C-6F14-CF1D-9FD4-F6F3B988A16F}"/>
                  </a:ext>
                </a:extLst>
              </p:cNvPr>
              <p:cNvSpPr txBox="1"/>
              <p:nvPr/>
            </p:nvSpPr>
            <p:spPr>
              <a:xfrm>
                <a:off x="214900" y="2437815"/>
                <a:ext cx="5361476" cy="397031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dirty="0"/>
                  <a:t>: Direction &amp; Speed to move this point 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/>
                  <a:t>Inference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/>
                  <a:t>Pick a point from a Gaussian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/>
                  <a:t>Integrate with ODE along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/>
                  <a:t>generate a high-quality sample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/>
                  <a:t>Why generation?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/>
                  <a:t>Rather than simply predicting </a:t>
                </a:r>
                <a:r>
                  <a:rPr lang="ko-KR" altLang="ko-KR" dirty="0" err="1"/>
                  <a:t>one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mean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value</a:t>
                </a:r>
                <a:r>
                  <a:rPr lang="ko-KR" altLang="ko-KR" dirty="0"/>
                  <a:t>, </a:t>
                </a:r>
                <a:r>
                  <a:rPr lang="en-US" altLang="ko-KR" b="1" u="sng" dirty="0"/>
                  <a:t>It</a:t>
                </a:r>
                <a:r>
                  <a:rPr lang="ko-KR" altLang="ko-KR" b="1" u="sng" dirty="0"/>
                  <a:t> </a:t>
                </a:r>
                <a:r>
                  <a:rPr lang="ko-KR" altLang="ko-KR" b="1" u="sng" dirty="0" err="1"/>
                  <a:t>can</a:t>
                </a:r>
                <a:r>
                  <a:rPr lang="ko-KR" altLang="ko-KR" b="1" u="sng" dirty="0"/>
                  <a:t> </a:t>
                </a:r>
                <a:r>
                  <a:rPr lang="ko-KR" altLang="ko-KR" b="1" u="sng" dirty="0" err="1"/>
                  <a:t>reproduce</a:t>
                </a:r>
                <a:r>
                  <a:rPr lang="ko-KR" altLang="ko-KR" b="1" u="sng" dirty="0"/>
                  <a:t> </a:t>
                </a:r>
                <a:r>
                  <a:rPr lang="ko-KR" altLang="ko-KR" b="1" u="sng" dirty="0" err="1"/>
                  <a:t>the</a:t>
                </a:r>
                <a:r>
                  <a:rPr lang="ko-KR" altLang="ko-KR" b="1" u="sng" dirty="0"/>
                  <a:t> </a:t>
                </a:r>
                <a:r>
                  <a:rPr lang="ko-KR" altLang="ko-KR" b="1" u="sng" dirty="0" err="1"/>
                  <a:t>entire</a:t>
                </a:r>
                <a:r>
                  <a:rPr lang="ko-KR" altLang="ko-KR" b="1" u="sng" dirty="0"/>
                  <a:t> </a:t>
                </a:r>
                <a:r>
                  <a:rPr lang="ko-KR" altLang="ko-KR" b="1" u="sng" dirty="0" err="1"/>
                  <a:t>distribution</a:t>
                </a:r>
                <a:r>
                  <a:rPr lang="en-US" altLang="ko-KR" dirty="0"/>
                  <a:t>!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/>
                  <a:t>It can contain the </a:t>
                </a:r>
                <a:r>
                  <a:rPr lang="en-US" altLang="ko-KR" b="1" dirty="0"/>
                  <a:t>heterogeneity</a:t>
                </a:r>
                <a:r>
                  <a:rPr lang="en-US" altLang="ko-KR" dirty="0"/>
                  <a:t> of cells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E9D30C-6F14-CF1D-9FD4-F6F3B988A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00" y="2437815"/>
                <a:ext cx="5361476" cy="3970318"/>
              </a:xfrm>
              <a:prstGeom prst="rect">
                <a:avLst/>
              </a:prstGeom>
              <a:blipFill>
                <a:blip r:embed="rId5"/>
                <a:stretch>
                  <a:fillRect l="-1136" t="-9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035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65DF-2341-48FC-9709-3AE31041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4EAF76-42C7-4AA8-5F36-F0A820F3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23C4E03E-5302-33D5-9099-0B6D3C26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18800E6-D844-8EC7-34D8-0F46F87F0E18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8252C6-ED24-E80C-3905-48CA1CF44919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– Flow Matching’s trick</a:t>
              </a:r>
              <a:endParaRPr kumimoji="1" lang="ko-KR" alt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0D8A8A4-3872-37A5-2E94-A7D35D71ECDB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A884C6-1E4B-A2DE-373E-12CFA13B31A1}"/>
                  </a:ext>
                </a:extLst>
              </p:cNvPr>
              <p:cNvSpPr txBox="1"/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→ Generative model which transports a known source distribution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𝑠𝑖𝑚𝑝𝑙𝑒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𝐺𝑎𝑢𝑠𝑠𝑖𝑎𝑛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to the unknown data distribution(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blipFill>
                <a:blip r:embed="rId3"/>
                <a:stretch>
                  <a:fillRect l="-52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711373-EF6C-3D65-DC77-2BB69777B375}"/>
                  </a:ext>
                </a:extLst>
              </p:cNvPr>
              <p:cNvSpPr txBox="1"/>
              <p:nvPr/>
            </p:nvSpPr>
            <p:spPr>
              <a:xfrm>
                <a:off x="2998983" y="2593470"/>
                <a:ext cx="2363228" cy="278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dirty="0"/>
                  <a:t>*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711373-EF6C-3D65-DC77-2BB69777B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983" y="2593470"/>
                <a:ext cx="2363228" cy="278501"/>
              </a:xfrm>
              <a:prstGeom prst="rect">
                <a:avLst/>
              </a:prstGeom>
              <a:blipFill>
                <a:blip r:embed="rId4"/>
                <a:stretch>
                  <a:fillRect l="-6186" t="-28261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C1821E-BEA2-138D-9A8F-AE399439583F}"/>
                  </a:ext>
                </a:extLst>
              </p:cNvPr>
              <p:cNvSpPr txBox="1"/>
              <p:nvPr/>
            </p:nvSpPr>
            <p:spPr>
              <a:xfrm>
                <a:off x="3039186" y="3219015"/>
                <a:ext cx="2319966" cy="278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C1821E-BEA2-138D-9A8F-AE3994395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186" y="3219015"/>
                <a:ext cx="2319966" cy="278501"/>
              </a:xfrm>
              <a:prstGeom prst="rect">
                <a:avLst/>
              </a:prstGeom>
              <a:blipFill>
                <a:blip r:embed="rId5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F340C-9613-27CC-F795-9889CDEC3FBA}"/>
                  </a:ext>
                </a:extLst>
              </p:cNvPr>
              <p:cNvSpPr txBox="1"/>
              <p:nvPr/>
            </p:nvSpPr>
            <p:spPr>
              <a:xfrm>
                <a:off x="3060730" y="3844560"/>
                <a:ext cx="2296782" cy="5287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F340C-9613-27CC-F795-9889CDEC3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730" y="3844560"/>
                <a:ext cx="2296782" cy="5287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D408A344-CDBF-850B-AC70-783C386FCC82}"/>
              </a:ext>
            </a:extLst>
          </p:cNvPr>
          <p:cNvGrpSpPr/>
          <p:nvPr/>
        </p:nvGrpSpPr>
        <p:grpSpPr>
          <a:xfrm>
            <a:off x="5660571" y="2402855"/>
            <a:ext cx="3047999" cy="2198175"/>
            <a:chOff x="3323772" y="1940853"/>
            <a:chExt cx="2832462" cy="2186316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7927A196-B2FA-D104-EDA1-AC0AFDD357FE}"/>
                </a:ext>
              </a:extLst>
            </p:cNvPr>
            <p:cNvCxnSpPr/>
            <p:nvPr/>
          </p:nvCxnSpPr>
          <p:spPr>
            <a:xfrm>
              <a:off x="3759200" y="3756502"/>
              <a:ext cx="21285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DE6B6BC1-E8F1-4C3D-361C-E4307F8D4B00}"/>
                </a:ext>
              </a:extLst>
            </p:cNvPr>
            <p:cNvCxnSpPr>
              <a:cxnSpLocks/>
            </p:cNvCxnSpPr>
            <p:nvPr/>
          </p:nvCxnSpPr>
          <p:spPr>
            <a:xfrm>
              <a:off x="3759200" y="2276111"/>
              <a:ext cx="2058488" cy="12174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48FBCF0-5410-B30A-031B-5B0C3826C91E}"/>
                    </a:ext>
                  </a:extLst>
                </p:cNvPr>
                <p:cNvSpPr txBox="1"/>
                <p:nvPr/>
              </p:nvSpPr>
              <p:spPr>
                <a:xfrm>
                  <a:off x="3323772" y="1940853"/>
                  <a:ext cx="5370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48FBCF0-5410-B30A-031B-5B0C3826C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3772" y="1940853"/>
                  <a:ext cx="53702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77E58C-1D49-753F-B120-817FBDEC2DED}"/>
                    </a:ext>
                  </a:extLst>
                </p:cNvPr>
                <p:cNvSpPr txBox="1"/>
                <p:nvPr/>
              </p:nvSpPr>
              <p:spPr>
                <a:xfrm>
                  <a:off x="5558971" y="3006500"/>
                  <a:ext cx="5370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77E58C-1D49-753F-B120-817FBDEC2D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8971" y="3006500"/>
                  <a:ext cx="53702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1B470AB-099F-1DAB-130A-05E4C3057A19}"/>
                    </a:ext>
                  </a:extLst>
                </p:cNvPr>
                <p:cNvSpPr txBox="1"/>
                <p:nvPr/>
              </p:nvSpPr>
              <p:spPr>
                <a:xfrm>
                  <a:off x="3490685" y="3756502"/>
                  <a:ext cx="5370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1B470AB-099F-1DAB-130A-05E4C3057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685" y="3756502"/>
                  <a:ext cx="53702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97F7665-C6B8-BED2-BA1C-5ED43B7EB0FD}"/>
                    </a:ext>
                  </a:extLst>
                </p:cNvPr>
                <p:cNvSpPr txBox="1"/>
                <p:nvPr/>
              </p:nvSpPr>
              <p:spPr>
                <a:xfrm>
                  <a:off x="5619205" y="3757837"/>
                  <a:ext cx="53702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97F7665-C6B8-BED2-BA1C-5ED43B7EB0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205" y="3757837"/>
                  <a:ext cx="53702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8E662FD-971F-576E-FD1A-4CCA70702212}"/>
              </a:ext>
            </a:extLst>
          </p:cNvPr>
          <p:cNvSpPr/>
          <p:nvPr/>
        </p:nvSpPr>
        <p:spPr>
          <a:xfrm>
            <a:off x="4368799" y="3977108"/>
            <a:ext cx="895801" cy="371332"/>
          </a:xfrm>
          <a:prstGeom prst="rect">
            <a:avLst/>
          </a:prstGeom>
          <a:noFill/>
          <a:ln w="28575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04D7B7-B3A7-1447-80E0-689ED9F851A8}"/>
              </a:ext>
            </a:extLst>
          </p:cNvPr>
          <p:cNvSpPr txBox="1"/>
          <p:nvPr/>
        </p:nvSpPr>
        <p:spPr>
          <a:xfrm>
            <a:off x="3899951" y="4320227"/>
            <a:ext cx="1804513" cy="371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804DA"/>
                </a:solidFill>
              </a:rPr>
              <a:t>No</a:t>
            </a:r>
            <a:r>
              <a:rPr lang="ko-KR" altLang="en-US" dirty="0">
                <a:solidFill>
                  <a:srgbClr val="2804DA"/>
                </a:solidFill>
              </a:rPr>
              <a:t> </a:t>
            </a:r>
            <a:r>
              <a:rPr lang="en-US" altLang="ko-KR" dirty="0">
                <a:solidFill>
                  <a:srgbClr val="2804DA"/>
                </a:solidFill>
              </a:rPr>
              <a:t>time</a:t>
            </a:r>
            <a:r>
              <a:rPr lang="ko-KR" altLang="en-US" dirty="0">
                <a:solidFill>
                  <a:srgbClr val="2804DA"/>
                </a:solidFill>
              </a:rPr>
              <a:t> </a:t>
            </a:r>
            <a:r>
              <a:rPr lang="en-US" altLang="ko-KR" dirty="0">
                <a:solidFill>
                  <a:srgbClr val="2804DA"/>
                </a:solidFill>
              </a:rPr>
              <a:t>effect</a:t>
            </a:r>
            <a:endParaRPr lang="ko-KR" altLang="en-US" dirty="0">
              <a:solidFill>
                <a:srgbClr val="2804DA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7D1051-9E60-C3A3-3711-C2D9B542D4F0}"/>
              </a:ext>
            </a:extLst>
          </p:cNvPr>
          <p:cNvSpPr txBox="1"/>
          <p:nvPr/>
        </p:nvSpPr>
        <p:spPr>
          <a:xfrm>
            <a:off x="2591413" y="4951678"/>
            <a:ext cx="6716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* In real distribution, there are lots of (point)pairs like that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2915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80D3-9812-BE78-787A-480A2516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EA970E4-26A8-ADDB-3A0F-CC6891D2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F6BDB6E1-CFB5-CCDD-0AFA-47448C8DF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574C52-839C-5716-9F66-2CC8ABBB9E5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524A57-1F13-553C-B641-803B3BA66A8D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– Flow Matching’s trick</a:t>
              </a:r>
              <a:endParaRPr kumimoji="1" lang="ko-KR" alt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7094251-A923-5644-A88F-EF00773D26A0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A3C4AA-5B63-2219-ABD8-EAA9DE13E0E6}"/>
                  </a:ext>
                </a:extLst>
              </p:cNvPr>
              <p:cNvSpPr txBox="1"/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→ Generative model which transports a known source distribution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𝑠𝑖𝑚𝑝𝑙𝑒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𝐺𝑎𝑢𝑠𝑠𝑖𝑎𝑛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to the unknown data distribution(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blipFill>
                <a:blip r:embed="rId3"/>
                <a:stretch>
                  <a:fillRect l="-52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2EEEBD3-19F8-AD87-412B-085B23EE92A7}"/>
              </a:ext>
            </a:extLst>
          </p:cNvPr>
          <p:cNvCxnSpPr/>
          <p:nvPr/>
        </p:nvCxnSpPr>
        <p:spPr>
          <a:xfrm flipV="1">
            <a:off x="2191657" y="2931886"/>
            <a:ext cx="6502400" cy="1524000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83D84D8-0414-56B1-FF4A-80815FBE98B3}"/>
              </a:ext>
            </a:extLst>
          </p:cNvPr>
          <p:cNvCxnSpPr>
            <a:cxnSpLocks/>
          </p:cNvCxnSpPr>
          <p:nvPr/>
        </p:nvCxnSpPr>
        <p:spPr>
          <a:xfrm>
            <a:off x="2307771" y="2685143"/>
            <a:ext cx="7445829" cy="1313543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487C93-42EE-BE13-0E59-1A700608B5E7}"/>
              </a:ext>
            </a:extLst>
          </p:cNvPr>
          <p:cNvCxnSpPr>
            <a:cxnSpLocks/>
          </p:cNvCxnSpPr>
          <p:nvPr/>
        </p:nvCxnSpPr>
        <p:spPr>
          <a:xfrm flipV="1">
            <a:off x="2307771" y="2191452"/>
            <a:ext cx="7097486" cy="1807234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6E8DA71-88AE-6C58-0104-5EF290C9AE40}"/>
              </a:ext>
            </a:extLst>
          </p:cNvPr>
          <p:cNvCxnSpPr>
            <a:cxnSpLocks/>
          </p:cNvCxnSpPr>
          <p:nvPr/>
        </p:nvCxnSpPr>
        <p:spPr>
          <a:xfrm>
            <a:off x="2438400" y="3341914"/>
            <a:ext cx="6371771" cy="1113972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010C8B5-E274-5870-F297-0183F85EEC0F}"/>
              </a:ext>
            </a:extLst>
          </p:cNvPr>
          <p:cNvCxnSpPr>
            <a:cxnSpLocks/>
          </p:cNvCxnSpPr>
          <p:nvPr/>
        </p:nvCxnSpPr>
        <p:spPr>
          <a:xfrm>
            <a:off x="1524000" y="3465286"/>
            <a:ext cx="8476343" cy="1731034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42C89302-8D5E-74C9-0E34-1185EDBFF4EF}"/>
              </a:ext>
            </a:extLst>
          </p:cNvPr>
          <p:cNvSpPr/>
          <p:nvPr/>
        </p:nvSpPr>
        <p:spPr>
          <a:xfrm>
            <a:off x="2249715" y="2585358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228519E-5EFC-802A-B649-230E726E5C05}"/>
              </a:ext>
            </a:extLst>
          </p:cNvPr>
          <p:cNvSpPr/>
          <p:nvPr/>
        </p:nvSpPr>
        <p:spPr>
          <a:xfrm>
            <a:off x="2438400" y="3260272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B086D2C-9E39-22EE-299B-695EE31A05DF}"/>
              </a:ext>
            </a:extLst>
          </p:cNvPr>
          <p:cNvSpPr/>
          <p:nvPr/>
        </p:nvSpPr>
        <p:spPr>
          <a:xfrm>
            <a:off x="1502228" y="33854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DF1C25A-CEDB-EA1F-2A11-B6CD3802F20A}"/>
              </a:ext>
            </a:extLst>
          </p:cNvPr>
          <p:cNvSpPr/>
          <p:nvPr/>
        </p:nvSpPr>
        <p:spPr>
          <a:xfrm>
            <a:off x="2108199" y="39188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53EE5D6-31FC-9B10-A2A4-C35BB86A7E41}"/>
              </a:ext>
            </a:extLst>
          </p:cNvPr>
          <p:cNvSpPr/>
          <p:nvPr/>
        </p:nvSpPr>
        <p:spPr>
          <a:xfrm>
            <a:off x="2119086" y="4405086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D4444B5F-16D7-317B-0127-DA1CD6027461}"/>
              </a:ext>
            </a:extLst>
          </p:cNvPr>
          <p:cNvSpPr/>
          <p:nvPr/>
        </p:nvSpPr>
        <p:spPr>
          <a:xfrm>
            <a:off x="9416144" y="1870953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11DE3065-EB3F-8EA8-AA1C-E87116D24D36}"/>
              </a:ext>
            </a:extLst>
          </p:cNvPr>
          <p:cNvSpPr/>
          <p:nvPr/>
        </p:nvSpPr>
        <p:spPr>
          <a:xfrm>
            <a:off x="8708571" y="2665186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DA1F3A5A-A1DE-A84C-AE2C-8CA9C3D28738}"/>
              </a:ext>
            </a:extLst>
          </p:cNvPr>
          <p:cNvSpPr/>
          <p:nvPr/>
        </p:nvSpPr>
        <p:spPr>
          <a:xfrm>
            <a:off x="9775372" y="3831771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04649C36-5C03-D6F2-4F9D-37B47204772A}"/>
              </a:ext>
            </a:extLst>
          </p:cNvPr>
          <p:cNvSpPr/>
          <p:nvPr/>
        </p:nvSpPr>
        <p:spPr>
          <a:xfrm>
            <a:off x="8824686" y="4305300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B8296FF2-33BD-A561-7CE4-5B033335B9B4}"/>
              </a:ext>
            </a:extLst>
          </p:cNvPr>
          <p:cNvSpPr/>
          <p:nvPr/>
        </p:nvSpPr>
        <p:spPr>
          <a:xfrm>
            <a:off x="10000343" y="5118305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023963-70B2-C626-BE6C-865190F64730}"/>
              </a:ext>
            </a:extLst>
          </p:cNvPr>
          <p:cNvSpPr txBox="1"/>
          <p:nvPr/>
        </p:nvSpPr>
        <p:spPr>
          <a:xfrm>
            <a:off x="2191657" y="223222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ABD59F-122F-E258-FA1B-6FFBAEA94A08}"/>
              </a:ext>
            </a:extLst>
          </p:cNvPr>
          <p:cNvSpPr txBox="1"/>
          <p:nvPr/>
        </p:nvSpPr>
        <p:spPr>
          <a:xfrm>
            <a:off x="9920515" y="3616197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F7598B-8A8F-9BE7-0703-0D5D29CDBB75}"/>
              </a:ext>
            </a:extLst>
          </p:cNvPr>
          <p:cNvSpPr txBox="1"/>
          <p:nvPr/>
        </p:nvSpPr>
        <p:spPr>
          <a:xfrm>
            <a:off x="2351314" y="2941180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9F19D4-9BF4-F35E-2C87-D3EFC6DDC1FA}"/>
              </a:ext>
            </a:extLst>
          </p:cNvPr>
          <p:cNvSpPr txBox="1"/>
          <p:nvPr/>
        </p:nvSpPr>
        <p:spPr>
          <a:xfrm>
            <a:off x="8969829" y="4136572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841B68-67B7-67C9-4385-44AFD98E3ECE}"/>
              </a:ext>
            </a:extLst>
          </p:cNvPr>
          <p:cNvSpPr txBox="1"/>
          <p:nvPr/>
        </p:nvSpPr>
        <p:spPr>
          <a:xfrm>
            <a:off x="1378857" y="303776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7A8743-97BE-7910-013E-0955A7904285}"/>
              </a:ext>
            </a:extLst>
          </p:cNvPr>
          <p:cNvSpPr txBox="1"/>
          <p:nvPr/>
        </p:nvSpPr>
        <p:spPr>
          <a:xfrm>
            <a:off x="10210800" y="497220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A8CB33-76A6-A9EE-0A92-BD8F24B0B215}"/>
              </a:ext>
            </a:extLst>
          </p:cNvPr>
          <p:cNvSpPr txBox="1"/>
          <p:nvPr/>
        </p:nvSpPr>
        <p:spPr>
          <a:xfrm>
            <a:off x="1756228" y="3801253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0A72ED-9D90-D662-9EB4-5E1B1F4F729E}"/>
              </a:ext>
            </a:extLst>
          </p:cNvPr>
          <p:cNvSpPr txBox="1"/>
          <p:nvPr/>
        </p:nvSpPr>
        <p:spPr>
          <a:xfrm>
            <a:off x="9612085" y="165848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8CF77C-64F9-7863-E736-E2DE68DB2E4A}"/>
              </a:ext>
            </a:extLst>
          </p:cNvPr>
          <p:cNvSpPr txBox="1"/>
          <p:nvPr/>
        </p:nvSpPr>
        <p:spPr>
          <a:xfrm>
            <a:off x="1756227" y="444434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6AF4C2-FA09-6583-03E6-C14852F32C03}"/>
              </a:ext>
            </a:extLst>
          </p:cNvPr>
          <p:cNvSpPr txBox="1"/>
          <p:nvPr/>
        </p:nvSpPr>
        <p:spPr>
          <a:xfrm>
            <a:off x="8904512" y="259539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9FD3D7-F0F4-8D0E-327C-E5B09CB06843}"/>
              </a:ext>
            </a:extLst>
          </p:cNvPr>
          <p:cNvSpPr txBox="1"/>
          <p:nvPr/>
        </p:nvSpPr>
        <p:spPr>
          <a:xfrm>
            <a:off x="936171" y="2117338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Ex)</a:t>
            </a:r>
            <a:endParaRPr lang="ko-KR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0DB67-A863-2C2B-8313-6CAE51541D3A}"/>
                  </a:ext>
                </a:extLst>
              </p:cNvPr>
              <p:cNvSpPr txBox="1"/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0DB67-A863-2C2B-8313-6CAE51541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blipFill>
                <a:blip r:embed="rId4"/>
                <a:stretch>
                  <a:fillRect l="-5556" r="-185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19B193-F1E6-E2D7-1558-D01A0A1EC183}"/>
                  </a:ext>
                </a:extLst>
              </p:cNvPr>
              <p:cNvSpPr txBox="1"/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019B193-F1E6-E2D7-1558-D01A0A1EC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blipFill>
                <a:blip r:embed="rId5"/>
                <a:stretch>
                  <a:fillRect l="-5455" r="-1818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6CA8305-9CFC-D278-1FA5-D73D41586FD8}"/>
                  </a:ext>
                </a:extLst>
              </p:cNvPr>
              <p:cNvSpPr txBox="1"/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6CA8305-9CFC-D278-1FA5-D73D41586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blipFill>
                <a:blip r:embed="rId6"/>
                <a:stretch>
                  <a:fillRect l="-5556" r="-370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5C0BEC-F6A4-3758-608F-E85E3FDB9B4D}"/>
                  </a:ext>
                </a:extLst>
              </p:cNvPr>
              <p:cNvSpPr txBox="1"/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15C0BEC-F6A4-3758-608F-E85E3FDB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blipFill>
                <a:blip r:embed="rId7"/>
                <a:stretch>
                  <a:fillRect l="-5556" r="-185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2B01F52-BA31-3478-5CD3-2EDBEE722F69}"/>
                  </a:ext>
                </a:extLst>
              </p:cNvPr>
              <p:cNvSpPr txBox="1"/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2B01F52-BA31-3478-5CD3-2EDBEE722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blipFill>
                <a:blip r:embed="rId8"/>
                <a:stretch>
                  <a:fillRect l="-5556" r="-3704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직사각형 82">
            <a:extLst>
              <a:ext uri="{FF2B5EF4-FFF2-40B4-BE49-F238E27FC236}">
                <a16:creationId xmlns:a16="http://schemas.microsoft.com/office/drawing/2014/main" id="{4746A98E-F4DD-C85F-677F-686A723AC033}"/>
              </a:ext>
            </a:extLst>
          </p:cNvPr>
          <p:cNvSpPr/>
          <p:nvPr/>
        </p:nvSpPr>
        <p:spPr>
          <a:xfrm>
            <a:off x="1378857" y="2117338"/>
            <a:ext cx="1810701" cy="3162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9201DAF-BAE4-3268-1FF0-C231E95D7376}"/>
              </a:ext>
            </a:extLst>
          </p:cNvPr>
          <p:cNvSpPr/>
          <p:nvPr/>
        </p:nvSpPr>
        <p:spPr>
          <a:xfrm>
            <a:off x="8579736" y="1456443"/>
            <a:ext cx="2169749" cy="4103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8889FC-6CBC-E327-C34F-0C29B163FE32}"/>
              </a:ext>
            </a:extLst>
          </p:cNvPr>
          <p:cNvSpPr txBox="1"/>
          <p:nvPr/>
        </p:nvSpPr>
        <p:spPr>
          <a:xfrm>
            <a:off x="1718149" y="5411103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noise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380BCD2-0318-BC04-7ABD-BD90618FCD5D}"/>
              </a:ext>
            </a:extLst>
          </p:cNvPr>
          <p:cNvSpPr txBox="1"/>
          <p:nvPr/>
        </p:nvSpPr>
        <p:spPr>
          <a:xfrm>
            <a:off x="9114971" y="5633736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data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201C35-EA15-E182-E64C-01E3C56869DF}"/>
              </a:ext>
            </a:extLst>
          </p:cNvPr>
          <p:cNvSpPr txBox="1"/>
          <p:nvPr/>
        </p:nvSpPr>
        <p:spPr>
          <a:xfrm>
            <a:off x="3211330" y="4795269"/>
            <a:ext cx="5290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804DA"/>
                </a:solidFill>
              </a:rPr>
              <a:t>Training a neural network to estimate the individual linear velocity, we can ultimately obtain the truly desired marginal velocity field</a:t>
            </a:r>
            <a:endParaRPr lang="ko-KR" altLang="en-US" dirty="0">
              <a:solidFill>
                <a:srgbClr val="2804D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E1590B-6BA2-C834-ECC9-126E76A66414}"/>
                  </a:ext>
                </a:extLst>
              </p:cNvPr>
              <p:cNvSpPr txBox="1"/>
              <p:nvPr/>
            </p:nvSpPr>
            <p:spPr>
              <a:xfrm>
                <a:off x="771768" y="5955125"/>
                <a:ext cx="102652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24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ko-KR" sz="2400" b="1" i="0" dirty="0" smtClean="0">
                        <a:latin typeface="Cambria Math" panose="02040503050406030204" pitchFamily="18" charset="0"/>
                      </a:rPr>
                      <m:t>  (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b="1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) →</m:t>
                        </m:r>
                      </m:e>
                    </m:nary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proper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weights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through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training</m:t>
                    </m:r>
                  </m:oMath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E1590B-6BA2-C834-ECC9-126E76A6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68" y="5955125"/>
                <a:ext cx="10265229" cy="461665"/>
              </a:xfrm>
              <a:prstGeom prst="rect">
                <a:avLst/>
              </a:prstGeom>
              <a:blipFill>
                <a:blip r:embed="rId9"/>
                <a:stretch>
                  <a:fillRect t="-128947" b="-196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84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DB18-0A80-A6BB-C45A-60BCC63C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A3FD79B-0BE1-C101-5D0C-AF52DBBD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DA56DA3B-5AC1-39C4-9E25-FC83BA88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A16891E-C40A-4E57-8D5E-AC70F69C4BB0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F1BB9A-8269-C999-CCFF-8756990EECA7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– Flow Matching’s trick</a:t>
              </a:r>
              <a:endParaRPr kumimoji="1" lang="ko-KR" alt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9AE4BA2-68C0-D111-419D-3A9AEB21733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10C30-35CC-4770-6C76-720B924FC0D5}"/>
                  </a:ext>
                </a:extLst>
              </p:cNvPr>
              <p:cNvSpPr txBox="1"/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→ Generative model which transports a known source distribution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𝑠𝑖𝑚𝑝𝑙𝑒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𝐺𝑎𝑢𝑠𝑠𝑖𝑎𝑛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to the unknown data distribution(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blipFill>
                <a:blip r:embed="rId3"/>
                <a:stretch>
                  <a:fillRect l="-52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E9A400D-5A6F-8A4E-F619-40D93CE8C1CB}"/>
              </a:ext>
            </a:extLst>
          </p:cNvPr>
          <p:cNvCxnSpPr/>
          <p:nvPr/>
        </p:nvCxnSpPr>
        <p:spPr>
          <a:xfrm flipV="1">
            <a:off x="2191657" y="2931886"/>
            <a:ext cx="6502400" cy="152400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A22F0A2-788E-B515-E96E-49FD0F80BD0B}"/>
              </a:ext>
            </a:extLst>
          </p:cNvPr>
          <p:cNvCxnSpPr>
            <a:cxnSpLocks/>
          </p:cNvCxnSpPr>
          <p:nvPr/>
        </p:nvCxnSpPr>
        <p:spPr>
          <a:xfrm>
            <a:off x="2307771" y="2685143"/>
            <a:ext cx="7445829" cy="1313543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043181A-F836-9A80-C936-BF9FE385A1F1}"/>
              </a:ext>
            </a:extLst>
          </p:cNvPr>
          <p:cNvCxnSpPr>
            <a:cxnSpLocks/>
          </p:cNvCxnSpPr>
          <p:nvPr/>
        </p:nvCxnSpPr>
        <p:spPr>
          <a:xfrm flipV="1">
            <a:off x="2307771" y="2191452"/>
            <a:ext cx="7097486" cy="1807234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708EB2B-B9FF-427E-D896-FD4199903794}"/>
              </a:ext>
            </a:extLst>
          </p:cNvPr>
          <p:cNvCxnSpPr>
            <a:cxnSpLocks/>
          </p:cNvCxnSpPr>
          <p:nvPr/>
        </p:nvCxnSpPr>
        <p:spPr>
          <a:xfrm>
            <a:off x="2438400" y="3341914"/>
            <a:ext cx="6371771" cy="1113972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9963FE-7CB5-2FDC-E5CB-798CBA8EEA35}"/>
              </a:ext>
            </a:extLst>
          </p:cNvPr>
          <p:cNvCxnSpPr>
            <a:cxnSpLocks/>
          </p:cNvCxnSpPr>
          <p:nvPr/>
        </p:nvCxnSpPr>
        <p:spPr>
          <a:xfrm>
            <a:off x="1524000" y="3465286"/>
            <a:ext cx="8476343" cy="1731034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AF24FBD4-4620-A774-BCD3-A9F387520A34}"/>
              </a:ext>
            </a:extLst>
          </p:cNvPr>
          <p:cNvSpPr/>
          <p:nvPr/>
        </p:nvSpPr>
        <p:spPr>
          <a:xfrm>
            <a:off x="2249715" y="2585358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3A3291E-DFF9-795D-D683-87889979D9FD}"/>
              </a:ext>
            </a:extLst>
          </p:cNvPr>
          <p:cNvSpPr/>
          <p:nvPr/>
        </p:nvSpPr>
        <p:spPr>
          <a:xfrm>
            <a:off x="2438400" y="3260272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A5085AA-FF74-F208-F28C-064A4E82E55D}"/>
              </a:ext>
            </a:extLst>
          </p:cNvPr>
          <p:cNvSpPr/>
          <p:nvPr/>
        </p:nvSpPr>
        <p:spPr>
          <a:xfrm>
            <a:off x="1502228" y="33854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738AEDE-3535-8022-42A1-665AA20B9CEE}"/>
              </a:ext>
            </a:extLst>
          </p:cNvPr>
          <p:cNvSpPr/>
          <p:nvPr/>
        </p:nvSpPr>
        <p:spPr>
          <a:xfrm>
            <a:off x="2108199" y="39188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31A4E75-8287-8E44-9408-03F3DC2205E7}"/>
              </a:ext>
            </a:extLst>
          </p:cNvPr>
          <p:cNvSpPr/>
          <p:nvPr/>
        </p:nvSpPr>
        <p:spPr>
          <a:xfrm>
            <a:off x="2119086" y="4405086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09C623AE-0169-9857-2C41-B2F04279D7DB}"/>
              </a:ext>
            </a:extLst>
          </p:cNvPr>
          <p:cNvSpPr/>
          <p:nvPr/>
        </p:nvSpPr>
        <p:spPr>
          <a:xfrm>
            <a:off x="9416144" y="1870953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E453997A-737E-51F7-BE99-D414EACCE3AD}"/>
              </a:ext>
            </a:extLst>
          </p:cNvPr>
          <p:cNvSpPr/>
          <p:nvPr/>
        </p:nvSpPr>
        <p:spPr>
          <a:xfrm>
            <a:off x="8708571" y="2665186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E717E1FC-C249-F9AE-D22E-8E659F9A56D2}"/>
              </a:ext>
            </a:extLst>
          </p:cNvPr>
          <p:cNvSpPr/>
          <p:nvPr/>
        </p:nvSpPr>
        <p:spPr>
          <a:xfrm>
            <a:off x="9775372" y="3831771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089D0896-AC4C-1BA8-9AB7-8865A2D488D0}"/>
              </a:ext>
            </a:extLst>
          </p:cNvPr>
          <p:cNvSpPr/>
          <p:nvPr/>
        </p:nvSpPr>
        <p:spPr>
          <a:xfrm>
            <a:off x="8824686" y="4305300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C6AF8525-C6C2-0E24-5948-0B9E8760F2E3}"/>
              </a:ext>
            </a:extLst>
          </p:cNvPr>
          <p:cNvSpPr/>
          <p:nvPr/>
        </p:nvSpPr>
        <p:spPr>
          <a:xfrm>
            <a:off x="10000343" y="5118305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8CB75A-9095-97CE-B3AC-E708F7085BC9}"/>
              </a:ext>
            </a:extLst>
          </p:cNvPr>
          <p:cNvSpPr txBox="1"/>
          <p:nvPr/>
        </p:nvSpPr>
        <p:spPr>
          <a:xfrm>
            <a:off x="2191657" y="223222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A167EF-8618-B72F-34C3-EBAB60D465DA}"/>
              </a:ext>
            </a:extLst>
          </p:cNvPr>
          <p:cNvSpPr txBox="1"/>
          <p:nvPr/>
        </p:nvSpPr>
        <p:spPr>
          <a:xfrm>
            <a:off x="9920515" y="3616197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495D0A-E79C-3B54-2319-6788BAB52BF0}"/>
              </a:ext>
            </a:extLst>
          </p:cNvPr>
          <p:cNvSpPr txBox="1"/>
          <p:nvPr/>
        </p:nvSpPr>
        <p:spPr>
          <a:xfrm>
            <a:off x="2351314" y="2941180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672508-6943-C714-D490-160547EE9D01}"/>
              </a:ext>
            </a:extLst>
          </p:cNvPr>
          <p:cNvSpPr txBox="1"/>
          <p:nvPr/>
        </p:nvSpPr>
        <p:spPr>
          <a:xfrm>
            <a:off x="8969829" y="4136572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1C600E-2EA7-E751-BC5D-4B2AF39F8221}"/>
              </a:ext>
            </a:extLst>
          </p:cNvPr>
          <p:cNvSpPr txBox="1"/>
          <p:nvPr/>
        </p:nvSpPr>
        <p:spPr>
          <a:xfrm>
            <a:off x="1378857" y="303776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EAB1D1-3747-C23B-D4DB-B465E8036039}"/>
              </a:ext>
            </a:extLst>
          </p:cNvPr>
          <p:cNvSpPr txBox="1"/>
          <p:nvPr/>
        </p:nvSpPr>
        <p:spPr>
          <a:xfrm>
            <a:off x="10210800" y="497220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46D63F-FB8A-4533-3443-A305393639C1}"/>
              </a:ext>
            </a:extLst>
          </p:cNvPr>
          <p:cNvSpPr txBox="1"/>
          <p:nvPr/>
        </p:nvSpPr>
        <p:spPr>
          <a:xfrm>
            <a:off x="1756228" y="3801253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DA87AE-0234-7263-8BAC-9493C2A60232}"/>
              </a:ext>
            </a:extLst>
          </p:cNvPr>
          <p:cNvSpPr txBox="1"/>
          <p:nvPr/>
        </p:nvSpPr>
        <p:spPr>
          <a:xfrm>
            <a:off x="9612085" y="165848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436359-81F8-CDE9-2BBE-CBB48EBE0AA8}"/>
              </a:ext>
            </a:extLst>
          </p:cNvPr>
          <p:cNvSpPr txBox="1"/>
          <p:nvPr/>
        </p:nvSpPr>
        <p:spPr>
          <a:xfrm>
            <a:off x="1756227" y="444434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8A04EC-911E-387A-965F-30E6F45303DB}"/>
              </a:ext>
            </a:extLst>
          </p:cNvPr>
          <p:cNvSpPr txBox="1"/>
          <p:nvPr/>
        </p:nvSpPr>
        <p:spPr>
          <a:xfrm>
            <a:off x="8904512" y="259539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512F3E-0ADF-7733-B35E-2CD882C67722}"/>
              </a:ext>
            </a:extLst>
          </p:cNvPr>
          <p:cNvSpPr txBox="1"/>
          <p:nvPr/>
        </p:nvSpPr>
        <p:spPr>
          <a:xfrm>
            <a:off x="936171" y="2117338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Ex)</a:t>
            </a:r>
            <a:endParaRPr lang="ko-KR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B689395-25CD-C716-EE58-6F85C52C5637}"/>
                  </a:ext>
                </a:extLst>
              </p:cNvPr>
              <p:cNvSpPr txBox="1"/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B689395-25CD-C716-EE58-6F85C52C5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blipFill>
                <a:blip r:embed="rId4"/>
                <a:stretch>
                  <a:fillRect l="-5556" r="-185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4F4D67A-3C81-E8E0-FA6F-2C03546F9AF6}"/>
                  </a:ext>
                </a:extLst>
              </p:cNvPr>
              <p:cNvSpPr txBox="1"/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4F4D67A-3C81-E8E0-FA6F-2C03546F9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blipFill>
                <a:blip r:embed="rId5"/>
                <a:stretch>
                  <a:fillRect l="-5455" r="-1818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FCFD3E7-D89C-7316-D996-856C44E12566}"/>
                  </a:ext>
                </a:extLst>
              </p:cNvPr>
              <p:cNvSpPr txBox="1"/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FCFD3E7-D89C-7316-D996-856C44E12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blipFill>
                <a:blip r:embed="rId6"/>
                <a:stretch>
                  <a:fillRect l="-5556" r="-370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0885155-DB3D-38CF-5454-AC79E1281B66}"/>
                  </a:ext>
                </a:extLst>
              </p:cNvPr>
              <p:cNvSpPr txBox="1"/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0885155-DB3D-38CF-5454-AC79E128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blipFill>
                <a:blip r:embed="rId7"/>
                <a:stretch>
                  <a:fillRect l="-5556" r="-185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617C865-932C-C93D-E096-7385DF2D385B}"/>
                  </a:ext>
                </a:extLst>
              </p:cNvPr>
              <p:cNvSpPr txBox="1"/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accent1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617C865-932C-C93D-E096-7385DF2D3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blipFill>
                <a:blip r:embed="rId8"/>
                <a:stretch>
                  <a:fillRect l="-5556" r="-3704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직사각형 82">
            <a:extLst>
              <a:ext uri="{FF2B5EF4-FFF2-40B4-BE49-F238E27FC236}">
                <a16:creationId xmlns:a16="http://schemas.microsoft.com/office/drawing/2014/main" id="{9492AF52-5B05-0E83-9123-65259A6B27D4}"/>
              </a:ext>
            </a:extLst>
          </p:cNvPr>
          <p:cNvSpPr/>
          <p:nvPr/>
        </p:nvSpPr>
        <p:spPr>
          <a:xfrm>
            <a:off x="1378857" y="2117338"/>
            <a:ext cx="1810701" cy="3162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8E6B82-2953-06B1-EF60-D8A6D7195773}"/>
              </a:ext>
            </a:extLst>
          </p:cNvPr>
          <p:cNvSpPr/>
          <p:nvPr/>
        </p:nvSpPr>
        <p:spPr>
          <a:xfrm>
            <a:off x="8604231" y="1456443"/>
            <a:ext cx="2145254" cy="4103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990847-A752-C0B1-B325-1EB20989A788}"/>
              </a:ext>
            </a:extLst>
          </p:cNvPr>
          <p:cNvSpPr txBox="1"/>
          <p:nvPr/>
        </p:nvSpPr>
        <p:spPr>
          <a:xfrm>
            <a:off x="1718149" y="5411103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noise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570E49-22D1-2EBA-BFA3-357C10AA335C}"/>
              </a:ext>
            </a:extLst>
          </p:cNvPr>
          <p:cNvSpPr txBox="1"/>
          <p:nvPr/>
        </p:nvSpPr>
        <p:spPr>
          <a:xfrm>
            <a:off x="9114971" y="5633736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data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A10A757-A931-2F0E-81B7-F0BD079EC06E}"/>
              </a:ext>
            </a:extLst>
          </p:cNvPr>
          <p:cNvSpPr txBox="1"/>
          <p:nvPr/>
        </p:nvSpPr>
        <p:spPr>
          <a:xfrm>
            <a:off x="3519714" y="4949438"/>
            <a:ext cx="467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Probably</a:t>
            </a:r>
            <a:r>
              <a:rPr lang="ko-KR" altLang="en-US" b="1" dirty="0">
                <a:solidFill>
                  <a:srgbClr val="00B050"/>
                </a:solidFill>
              </a:rPr>
              <a:t> </a:t>
            </a:r>
            <a:r>
              <a:rPr lang="en-US" altLang="ko-KR" b="1" dirty="0">
                <a:solidFill>
                  <a:srgbClr val="00B050"/>
                </a:solidFill>
              </a:rPr>
              <a:t>weighted</a:t>
            </a:r>
            <a:r>
              <a:rPr lang="ko-KR" altLang="en-US" b="1" dirty="0">
                <a:solidFill>
                  <a:srgbClr val="00B050"/>
                </a:solidFill>
              </a:rPr>
              <a:t> </a:t>
            </a:r>
            <a:r>
              <a:rPr lang="en-US" altLang="ko-KR" b="1" dirty="0">
                <a:solidFill>
                  <a:srgbClr val="00B050"/>
                </a:solidFill>
              </a:rPr>
              <a:t>mean</a:t>
            </a:r>
            <a:br>
              <a:rPr lang="en-US" altLang="ko-KR" dirty="0">
                <a:solidFill>
                  <a:srgbClr val="00B050"/>
                </a:solidFill>
              </a:rPr>
            </a:br>
            <a:r>
              <a:rPr lang="en-US" altLang="ko-KR" dirty="0">
                <a:solidFill>
                  <a:srgbClr val="00B050"/>
                </a:solidFill>
              </a:rPr>
              <a:t>curves become relatively </a:t>
            </a:r>
            <a:r>
              <a:rPr lang="en-US" altLang="ko-KR" b="1" u="sng" dirty="0">
                <a:solidFill>
                  <a:srgbClr val="00B050"/>
                </a:solidFill>
              </a:rPr>
              <a:t>smoother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BA5C209-9D34-BD8E-9B2D-67CACE85FAC2}"/>
                  </a:ext>
                </a:extLst>
              </p:cNvPr>
              <p:cNvSpPr txBox="1"/>
              <p:nvPr/>
            </p:nvSpPr>
            <p:spPr>
              <a:xfrm>
                <a:off x="771768" y="5955125"/>
                <a:ext cx="102652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24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4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ko-KR" sz="2400" b="1" i="0" dirty="0" smtClean="0">
                        <a:latin typeface="Cambria Math" panose="02040503050406030204" pitchFamily="18" charset="0"/>
                      </a:rPr>
                      <m:t>  (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b="1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ko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) →</m:t>
                        </m:r>
                      </m:e>
                    </m:nary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proper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weights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through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</a:rPr>
                      <m:t>training</m:t>
                    </m:r>
                  </m:oMath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BA5C209-9D34-BD8E-9B2D-67CACE85F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68" y="5955125"/>
                <a:ext cx="10265229" cy="461665"/>
              </a:xfrm>
              <a:prstGeom prst="rect">
                <a:avLst/>
              </a:prstGeom>
              <a:blipFill>
                <a:blip r:embed="rId9"/>
                <a:stretch>
                  <a:fillRect t="-128947" b="-196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149A1D6A-6D75-71C7-580B-D7176B94648D}"/>
              </a:ext>
            </a:extLst>
          </p:cNvPr>
          <p:cNvCxnSpPr>
            <a:stCxn id="29" idx="6"/>
            <a:endCxn id="47" idx="2"/>
          </p:cNvCxnSpPr>
          <p:nvPr/>
        </p:nvCxnSpPr>
        <p:spPr>
          <a:xfrm>
            <a:off x="2438400" y="2665187"/>
            <a:ext cx="7336972" cy="1413327"/>
          </a:xfrm>
          <a:prstGeom prst="curvedConnector4">
            <a:avLst>
              <a:gd name="adj1" fmla="val 50000"/>
              <a:gd name="adj2" fmla="val 11617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6EE89580-4F0B-FB57-EF8E-2FDFF104405D}"/>
              </a:ext>
            </a:extLst>
          </p:cNvPr>
          <p:cNvCxnSpPr>
            <a:cxnSpLocks/>
            <a:stCxn id="36" idx="6"/>
            <a:endCxn id="49" idx="0"/>
          </p:cNvCxnSpPr>
          <p:nvPr/>
        </p:nvCxnSpPr>
        <p:spPr>
          <a:xfrm>
            <a:off x="2627085" y="3340101"/>
            <a:ext cx="6320973" cy="965199"/>
          </a:xfrm>
          <a:prstGeom prst="curved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2E712800-3AF4-3BAA-4DD5-778266A3B9AD}"/>
              </a:ext>
            </a:extLst>
          </p:cNvPr>
          <p:cNvCxnSpPr>
            <a:cxnSpLocks/>
            <a:stCxn id="38" idx="6"/>
            <a:endCxn id="51" idx="0"/>
          </p:cNvCxnSpPr>
          <p:nvPr/>
        </p:nvCxnSpPr>
        <p:spPr>
          <a:xfrm>
            <a:off x="1690913" y="3465286"/>
            <a:ext cx="8432802" cy="1653019"/>
          </a:xfrm>
          <a:prstGeom prst="curvedConnector2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DF40651-311B-216C-29BF-25CC797A2FF6}"/>
              </a:ext>
            </a:extLst>
          </p:cNvPr>
          <p:cNvCxnSpPr>
            <a:cxnSpLocks/>
            <a:stCxn id="40" idx="5"/>
            <a:endCxn id="43" idx="3"/>
          </p:cNvCxnSpPr>
          <p:nvPr/>
        </p:nvCxnSpPr>
        <p:spPr>
          <a:xfrm rot="5400000" flipH="1" flipV="1">
            <a:off x="4935665" y="-548717"/>
            <a:ext cx="1937437" cy="7270264"/>
          </a:xfrm>
          <a:prstGeom prst="curvedConnector3">
            <a:avLst>
              <a:gd name="adj1" fmla="val -1300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7D9E768E-95CB-90A4-5D5A-C51D64A8D7C0}"/>
              </a:ext>
            </a:extLst>
          </p:cNvPr>
          <p:cNvCxnSpPr>
            <a:cxnSpLocks/>
            <a:stCxn id="42" idx="5"/>
          </p:cNvCxnSpPr>
          <p:nvPr/>
        </p:nvCxnSpPr>
        <p:spPr>
          <a:xfrm rot="5400000" flipH="1" flipV="1">
            <a:off x="4682360" y="529663"/>
            <a:ext cx="1609478" cy="6413920"/>
          </a:xfrm>
          <a:prstGeom prst="curvedConnector4">
            <a:avLst>
              <a:gd name="adj1" fmla="val -14203"/>
              <a:gd name="adj2" fmla="val 5021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46DF5172-E802-4BFA-25EC-21243B13AE59}"/>
              </a:ext>
            </a:extLst>
          </p:cNvPr>
          <p:cNvCxnSpPr>
            <a:cxnSpLocks/>
            <a:stCxn id="38" idx="6"/>
            <a:endCxn id="51" idx="0"/>
          </p:cNvCxnSpPr>
          <p:nvPr/>
        </p:nvCxnSpPr>
        <p:spPr>
          <a:xfrm>
            <a:off x="1690913" y="3465286"/>
            <a:ext cx="8432802" cy="1653019"/>
          </a:xfrm>
          <a:prstGeom prst="curved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72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B05F-3F75-0E56-4B72-54D14BB4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DA17691-459B-EAFF-3310-76AD13AD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7BC5CCF3-A666-27B6-607A-3BD3D056C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13F730E-0E74-58F7-89E4-FFC1864E49F0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7AC15F-22A6-F017-C59D-2F7F053C89A3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– Flow Matching’s trick</a:t>
              </a:r>
              <a:endParaRPr kumimoji="1" lang="ko-KR" alt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159DE6B-279C-2CAD-9577-D6CB5F66AEB9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698755-BA96-2E65-C376-AE29ED0D696E}"/>
                  </a:ext>
                </a:extLst>
              </p:cNvPr>
              <p:cNvSpPr txBox="1"/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→ Generative model which transports a known source distribution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𝑠𝑖𝑚𝑝𝑙𝑒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𝐺𝑎𝑢𝑠𝑠𝑖𝑎𝑛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to the unknown data distribution(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F3609C-A21E-78B2-2C93-21D7AFBCC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4" y="1298378"/>
                <a:ext cx="10557313" cy="646331"/>
              </a:xfrm>
              <a:prstGeom prst="rect">
                <a:avLst/>
              </a:prstGeom>
              <a:blipFill>
                <a:blip r:embed="rId3"/>
                <a:stretch>
                  <a:fillRect l="-520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D360C48-A9E1-140C-BC91-D3F8D191062A}"/>
              </a:ext>
            </a:extLst>
          </p:cNvPr>
          <p:cNvCxnSpPr/>
          <p:nvPr/>
        </p:nvCxnSpPr>
        <p:spPr>
          <a:xfrm flipV="1">
            <a:off x="2191657" y="2931886"/>
            <a:ext cx="6502400" cy="1524000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6A457E4-0CD9-3CD6-9FF7-A7E0E469ED8F}"/>
              </a:ext>
            </a:extLst>
          </p:cNvPr>
          <p:cNvCxnSpPr>
            <a:cxnSpLocks/>
          </p:cNvCxnSpPr>
          <p:nvPr/>
        </p:nvCxnSpPr>
        <p:spPr>
          <a:xfrm>
            <a:off x="2307771" y="2685143"/>
            <a:ext cx="7445829" cy="1313543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7AF9E4D-1DCE-16A4-95A1-D60C7EF8DBE0}"/>
              </a:ext>
            </a:extLst>
          </p:cNvPr>
          <p:cNvCxnSpPr>
            <a:cxnSpLocks/>
          </p:cNvCxnSpPr>
          <p:nvPr/>
        </p:nvCxnSpPr>
        <p:spPr>
          <a:xfrm flipV="1">
            <a:off x="2307771" y="2191452"/>
            <a:ext cx="7097486" cy="1807234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10F57E2-18AC-409F-5D7A-22AB3BCC70C0}"/>
              </a:ext>
            </a:extLst>
          </p:cNvPr>
          <p:cNvCxnSpPr>
            <a:cxnSpLocks/>
          </p:cNvCxnSpPr>
          <p:nvPr/>
        </p:nvCxnSpPr>
        <p:spPr>
          <a:xfrm>
            <a:off x="2438400" y="3341914"/>
            <a:ext cx="6371771" cy="1113972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B9A68E-ED1E-B819-2C43-C1A9229CB49D}"/>
              </a:ext>
            </a:extLst>
          </p:cNvPr>
          <p:cNvCxnSpPr>
            <a:cxnSpLocks/>
          </p:cNvCxnSpPr>
          <p:nvPr/>
        </p:nvCxnSpPr>
        <p:spPr>
          <a:xfrm>
            <a:off x="1524000" y="3465286"/>
            <a:ext cx="8476343" cy="1731034"/>
          </a:xfrm>
          <a:prstGeom prst="straightConnector1">
            <a:avLst/>
          </a:prstGeom>
          <a:ln w="12700">
            <a:solidFill>
              <a:srgbClr val="2804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C7470843-0288-E244-93BC-3AFC4DF76EF7}"/>
              </a:ext>
            </a:extLst>
          </p:cNvPr>
          <p:cNvSpPr/>
          <p:nvPr/>
        </p:nvSpPr>
        <p:spPr>
          <a:xfrm>
            <a:off x="2249715" y="2585358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E1CB263-163F-3A91-38A5-E3BB72C1B9ED}"/>
              </a:ext>
            </a:extLst>
          </p:cNvPr>
          <p:cNvSpPr/>
          <p:nvPr/>
        </p:nvSpPr>
        <p:spPr>
          <a:xfrm>
            <a:off x="2438400" y="3260272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448C6D2-9673-294F-D752-A042E7601863}"/>
              </a:ext>
            </a:extLst>
          </p:cNvPr>
          <p:cNvSpPr/>
          <p:nvPr/>
        </p:nvSpPr>
        <p:spPr>
          <a:xfrm>
            <a:off x="1502228" y="33854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E2442B0-D20F-84C1-DE88-E2F57A1E9D32}"/>
              </a:ext>
            </a:extLst>
          </p:cNvPr>
          <p:cNvSpPr/>
          <p:nvPr/>
        </p:nvSpPr>
        <p:spPr>
          <a:xfrm>
            <a:off x="2108199" y="3918857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5580D2B-BCE5-D750-C81A-8C947CCBC4E0}"/>
              </a:ext>
            </a:extLst>
          </p:cNvPr>
          <p:cNvSpPr/>
          <p:nvPr/>
        </p:nvSpPr>
        <p:spPr>
          <a:xfrm>
            <a:off x="2119086" y="4405086"/>
            <a:ext cx="188685" cy="1596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0DE128DA-4CC2-9175-CC79-85C020BC5846}"/>
              </a:ext>
            </a:extLst>
          </p:cNvPr>
          <p:cNvSpPr/>
          <p:nvPr/>
        </p:nvSpPr>
        <p:spPr>
          <a:xfrm>
            <a:off x="9416144" y="1870953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E41B1AEC-5E23-E6E7-B9F5-027917A976B1}"/>
              </a:ext>
            </a:extLst>
          </p:cNvPr>
          <p:cNvSpPr/>
          <p:nvPr/>
        </p:nvSpPr>
        <p:spPr>
          <a:xfrm>
            <a:off x="8708571" y="2665186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이등변 삼각형 46">
            <a:extLst>
              <a:ext uri="{FF2B5EF4-FFF2-40B4-BE49-F238E27FC236}">
                <a16:creationId xmlns:a16="http://schemas.microsoft.com/office/drawing/2014/main" id="{9132A8A6-833B-3849-77B0-E83EAC44818B}"/>
              </a:ext>
            </a:extLst>
          </p:cNvPr>
          <p:cNvSpPr/>
          <p:nvPr/>
        </p:nvSpPr>
        <p:spPr>
          <a:xfrm>
            <a:off x="9775372" y="3831771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972B50B2-7BA6-50B1-F6CD-3301F6645257}"/>
              </a:ext>
            </a:extLst>
          </p:cNvPr>
          <p:cNvSpPr/>
          <p:nvPr/>
        </p:nvSpPr>
        <p:spPr>
          <a:xfrm>
            <a:off x="8824686" y="4305300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41B0BDF6-CEAD-68D1-D086-58C354F0251A}"/>
              </a:ext>
            </a:extLst>
          </p:cNvPr>
          <p:cNvSpPr/>
          <p:nvPr/>
        </p:nvSpPr>
        <p:spPr>
          <a:xfrm>
            <a:off x="10000343" y="5118305"/>
            <a:ext cx="246743" cy="24674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FB7101-944E-22EB-1B02-5CA447F0E792}"/>
              </a:ext>
            </a:extLst>
          </p:cNvPr>
          <p:cNvSpPr txBox="1"/>
          <p:nvPr/>
        </p:nvSpPr>
        <p:spPr>
          <a:xfrm>
            <a:off x="2191657" y="223222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174A09-99F5-2374-9041-D1C486B4BF48}"/>
              </a:ext>
            </a:extLst>
          </p:cNvPr>
          <p:cNvSpPr txBox="1"/>
          <p:nvPr/>
        </p:nvSpPr>
        <p:spPr>
          <a:xfrm>
            <a:off x="9920515" y="3616197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AF4659-FCD8-501A-12DF-254A34D235E1}"/>
              </a:ext>
            </a:extLst>
          </p:cNvPr>
          <p:cNvSpPr txBox="1"/>
          <p:nvPr/>
        </p:nvSpPr>
        <p:spPr>
          <a:xfrm>
            <a:off x="2351314" y="2941180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6EEF18-BE9D-4BCB-2FE7-A2953359FC22}"/>
              </a:ext>
            </a:extLst>
          </p:cNvPr>
          <p:cNvSpPr txBox="1"/>
          <p:nvPr/>
        </p:nvSpPr>
        <p:spPr>
          <a:xfrm>
            <a:off x="8969829" y="4136572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AE0742-9896-DE72-6898-DC6CC2F5EB6F}"/>
              </a:ext>
            </a:extLst>
          </p:cNvPr>
          <p:cNvSpPr txBox="1"/>
          <p:nvPr/>
        </p:nvSpPr>
        <p:spPr>
          <a:xfrm>
            <a:off x="1378857" y="303776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935EA5-CAB0-5899-57B0-E90F267FC37F}"/>
              </a:ext>
            </a:extLst>
          </p:cNvPr>
          <p:cNvSpPr txBox="1"/>
          <p:nvPr/>
        </p:nvSpPr>
        <p:spPr>
          <a:xfrm>
            <a:off x="10210800" y="4972204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74E62B-3B39-855B-02A6-F1E562AA4F96}"/>
              </a:ext>
            </a:extLst>
          </p:cNvPr>
          <p:cNvSpPr txBox="1"/>
          <p:nvPr/>
        </p:nvSpPr>
        <p:spPr>
          <a:xfrm>
            <a:off x="1756228" y="3801253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24C1D1-4F53-EBE2-E07E-961BE7578B16}"/>
              </a:ext>
            </a:extLst>
          </p:cNvPr>
          <p:cNvSpPr txBox="1"/>
          <p:nvPr/>
        </p:nvSpPr>
        <p:spPr>
          <a:xfrm>
            <a:off x="9612085" y="1658485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1E1840-E968-3F4C-6CB5-FBE23640DCC4}"/>
              </a:ext>
            </a:extLst>
          </p:cNvPr>
          <p:cNvSpPr txBox="1"/>
          <p:nvPr/>
        </p:nvSpPr>
        <p:spPr>
          <a:xfrm>
            <a:off x="1756227" y="444434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C0C5DE-4947-23EA-531C-D325F4C1877C}"/>
              </a:ext>
            </a:extLst>
          </p:cNvPr>
          <p:cNvSpPr txBox="1"/>
          <p:nvPr/>
        </p:nvSpPr>
        <p:spPr>
          <a:xfrm>
            <a:off x="8904512" y="2595399"/>
            <a:ext cx="290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A0AEB4-2E66-18A8-6DE5-12BAA9540206}"/>
              </a:ext>
            </a:extLst>
          </p:cNvPr>
          <p:cNvSpPr txBox="1"/>
          <p:nvPr/>
        </p:nvSpPr>
        <p:spPr>
          <a:xfrm>
            <a:off x="936171" y="2117338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Ex)</a:t>
            </a:r>
            <a:endParaRPr lang="ko-KR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ACF566B-8682-1375-FFC9-2083ADC0A2C6}"/>
                  </a:ext>
                </a:extLst>
              </p:cNvPr>
              <p:cNvSpPr txBox="1"/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ACF566B-8682-1375-FFC9-2083ADC0A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200" y="2705474"/>
                <a:ext cx="330154" cy="276999"/>
              </a:xfrm>
              <a:prstGeom prst="rect">
                <a:avLst/>
              </a:prstGeom>
              <a:blipFill>
                <a:blip r:embed="rId4"/>
                <a:stretch>
                  <a:fillRect l="-5556" r="-185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62D7FA-257B-9CCF-25DC-F20F2DAC1EDB}"/>
                  </a:ext>
                </a:extLst>
              </p:cNvPr>
              <p:cNvSpPr txBox="1"/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62D7FA-257B-9CCF-25DC-F20F2DAC1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801" y="3660662"/>
                <a:ext cx="330155" cy="276999"/>
              </a:xfrm>
              <a:prstGeom prst="rect">
                <a:avLst/>
              </a:prstGeom>
              <a:blipFill>
                <a:blip r:embed="rId5"/>
                <a:stretch>
                  <a:fillRect l="-5455" r="-1818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0E599DF-6BD3-9441-D41D-5F7BAB7EEA46}"/>
                  </a:ext>
                </a:extLst>
              </p:cNvPr>
              <p:cNvSpPr txBox="1"/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0E599DF-6BD3-9441-D41D-5F7BAB7E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647" y="4063386"/>
                <a:ext cx="330155" cy="276999"/>
              </a:xfrm>
              <a:prstGeom prst="rect">
                <a:avLst/>
              </a:prstGeom>
              <a:blipFill>
                <a:blip r:embed="rId6"/>
                <a:stretch>
                  <a:fillRect l="-5556" r="-370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299CE34-BBDF-73D5-5262-1A810D3444F4}"/>
                  </a:ext>
                </a:extLst>
              </p:cNvPr>
              <p:cNvSpPr txBox="1"/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299CE34-BBDF-73D5-5262-1A810D344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629" y="2452321"/>
                <a:ext cx="330155" cy="276999"/>
              </a:xfrm>
              <a:prstGeom prst="rect">
                <a:avLst/>
              </a:prstGeom>
              <a:blipFill>
                <a:blip r:embed="rId7"/>
                <a:stretch>
                  <a:fillRect l="-5556" r="-185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A69C9EC-F273-55B2-4080-3D0FEE757B3E}"/>
                  </a:ext>
                </a:extLst>
              </p:cNvPr>
              <p:cNvSpPr txBox="1"/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2804DA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ko-KR" altLang="en-US" b="1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A69C9EC-F273-55B2-4080-3D0FEE75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60" y="2962142"/>
                <a:ext cx="330155" cy="276999"/>
              </a:xfrm>
              <a:prstGeom prst="rect">
                <a:avLst/>
              </a:prstGeom>
              <a:blipFill>
                <a:blip r:embed="rId8"/>
                <a:stretch>
                  <a:fillRect l="-5556" r="-3704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직사각형 82">
            <a:extLst>
              <a:ext uri="{FF2B5EF4-FFF2-40B4-BE49-F238E27FC236}">
                <a16:creationId xmlns:a16="http://schemas.microsoft.com/office/drawing/2014/main" id="{1FC1412C-4F3E-AB8A-630D-CC628F0A061D}"/>
              </a:ext>
            </a:extLst>
          </p:cNvPr>
          <p:cNvSpPr/>
          <p:nvPr/>
        </p:nvSpPr>
        <p:spPr>
          <a:xfrm>
            <a:off x="1378857" y="2117338"/>
            <a:ext cx="1810701" cy="31626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D845713-B139-D3E7-B30A-7F3FA46E20FF}"/>
              </a:ext>
            </a:extLst>
          </p:cNvPr>
          <p:cNvSpPr/>
          <p:nvPr/>
        </p:nvSpPr>
        <p:spPr>
          <a:xfrm>
            <a:off x="8579736" y="1456443"/>
            <a:ext cx="2169749" cy="4103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14AD04-E45D-07BC-40CB-8BAC24FE94B1}"/>
              </a:ext>
            </a:extLst>
          </p:cNvPr>
          <p:cNvSpPr txBox="1"/>
          <p:nvPr/>
        </p:nvSpPr>
        <p:spPr>
          <a:xfrm>
            <a:off x="1718149" y="5411103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noise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9FE14FF-28A3-A969-C401-A5DDA74711A1}"/>
              </a:ext>
            </a:extLst>
          </p:cNvPr>
          <p:cNvSpPr txBox="1"/>
          <p:nvPr/>
        </p:nvSpPr>
        <p:spPr>
          <a:xfrm>
            <a:off x="9114971" y="5633736"/>
            <a:ext cx="11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data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5D28CE-73DD-E1E0-5D5E-70E3E4AF2E91}"/>
              </a:ext>
            </a:extLst>
          </p:cNvPr>
          <p:cNvCxnSpPr/>
          <p:nvPr/>
        </p:nvCxnSpPr>
        <p:spPr>
          <a:xfrm>
            <a:off x="6022501" y="2080111"/>
            <a:ext cx="0" cy="344228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4138551-650C-0BFA-EC08-37F45DE80317}"/>
              </a:ext>
            </a:extLst>
          </p:cNvPr>
          <p:cNvCxnSpPr>
            <a:cxnSpLocks/>
          </p:cNvCxnSpPr>
          <p:nvPr/>
        </p:nvCxnSpPr>
        <p:spPr>
          <a:xfrm flipV="1">
            <a:off x="6030057" y="4313552"/>
            <a:ext cx="730965" cy="652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DDC69C-8D34-0F4C-6D0C-1A3D179BF72C}"/>
                  </a:ext>
                </a:extLst>
              </p:cNvPr>
              <p:cNvSpPr txBox="1"/>
              <p:nvPr/>
            </p:nvSpPr>
            <p:spPr>
              <a:xfrm>
                <a:off x="5941301" y="5564401"/>
                <a:ext cx="1787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ko-KR" altLang="en-US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DDC69C-8D34-0F4C-6D0C-1A3D179B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301" y="5564401"/>
                <a:ext cx="178767" cy="276999"/>
              </a:xfrm>
              <a:prstGeom prst="rect">
                <a:avLst/>
              </a:prstGeom>
              <a:blipFill>
                <a:blip r:embed="rId9"/>
                <a:stretch>
                  <a:fillRect l="-20690" r="-20690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5859719-2F9F-15C6-917D-DF33E06D382A}"/>
                  </a:ext>
                </a:extLst>
              </p:cNvPr>
              <p:cNvSpPr txBox="1"/>
              <p:nvPr/>
            </p:nvSpPr>
            <p:spPr>
              <a:xfrm>
                <a:off x="2725943" y="6053313"/>
                <a:ext cx="6564085" cy="50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𝑭𝑴</m:t>
                        </m:r>
                      </m:sub>
                    </m:sSub>
                    <m:r>
                      <a:rPr lang="en-US" altLang="ko-KR" sz="23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ko-KR" altLang="en-US" sz="23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300" b="1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sSub>
                          <m:sSubPr>
                            <m:ctrlPr>
                              <a:rPr lang="en-US" altLang="ko-KR" sz="23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3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ko-KR" sz="23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ko-KR" altLang="en-US" sz="2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300" b="1" i="1">
                            <a:latin typeface="Cambria Math" panose="02040503050406030204" pitchFamily="18" charset="0"/>
                          </a:rPr>
                          <m:t>∥</m:t>
                        </m:r>
                        <m:sSubSup>
                          <m:sSubSupPr>
                            <m:ctrlPr>
                              <a:rPr lang="en-US" altLang="ko-KR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ko-KR" altLang="en-US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p>
                        </m:sSubSup>
                        <m:d>
                          <m:dPr>
                            <m:ctrlPr>
                              <a:rPr lang="en-US" altLang="ko-KR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3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ko-KR" sz="23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3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3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300" b="1" i="1">
                                <a:solidFill>
                                  <a:srgbClr val="2804D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300" b="1" i="1">
                                <a:solidFill>
                                  <a:srgbClr val="2804DA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2300" b="1" i="1">
                                <a:solidFill>
                                  <a:srgbClr val="2804DA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sz="2300" b="1" i="1">
                            <a:solidFill>
                              <a:srgbClr val="2804D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300" b="1" i="1">
                            <a:solidFill>
                              <a:srgbClr val="2804DA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sz="2300" b="1" i="1">
                            <a:solidFill>
                              <a:srgbClr val="2804DA"/>
                            </a:solidFill>
                            <a:latin typeface="Cambria Math" panose="02040503050406030204" pitchFamily="18" charset="0"/>
                          </a:rPr>
                          <m:t>)∥</m:t>
                        </m:r>
                      </m:e>
                      <m:sup>
                        <m:r>
                          <a:rPr lang="en-US" altLang="ko-KR" sz="23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 sz="2300" b="1" dirty="0"/>
                  <a:t> </a:t>
                </a:r>
                <a:r>
                  <a:rPr lang="en-US" altLang="ko-KR" sz="2300" b="1" dirty="0"/>
                  <a:t>~ minimize</a:t>
                </a:r>
                <a:endParaRPr lang="ko-KR" altLang="en-US" sz="23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5859719-2F9F-15C6-917D-DF33E06D3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943" y="6053313"/>
                <a:ext cx="6564085" cy="500202"/>
              </a:xfrm>
              <a:prstGeom prst="rect">
                <a:avLst/>
              </a:prstGeom>
              <a:blipFill>
                <a:blip r:embed="rId10"/>
                <a:stretch>
                  <a:fillRect t="-7317" b="-182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11318EE5-854D-C324-3179-0162BE5AA9F3}"/>
              </a:ext>
            </a:extLst>
          </p:cNvPr>
          <p:cNvCxnSpPr/>
          <p:nvPr/>
        </p:nvCxnSpPr>
        <p:spPr>
          <a:xfrm>
            <a:off x="2438400" y="2665187"/>
            <a:ext cx="7336972" cy="1413327"/>
          </a:xfrm>
          <a:prstGeom prst="curvedConnector4">
            <a:avLst>
              <a:gd name="adj1" fmla="val 50000"/>
              <a:gd name="adj2" fmla="val 116175"/>
            </a:avLst>
          </a:prstGeom>
          <a:ln w="28575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03CA27E5-F6BC-77BE-A680-217D8401FBB7}"/>
              </a:ext>
            </a:extLst>
          </p:cNvPr>
          <p:cNvCxnSpPr>
            <a:cxnSpLocks/>
          </p:cNvCxnSpPr>
          <p:nvPr/>
        </p:nvCxnSpPr>
        <p:spPr>
          <a:xfrm>
            <a:off x="2627085" y="3340101"/>
            <a:ext cx="6320973" cy="965199"/>
          </a:xfrm>
          <a:prstGeom prst="curvedConnector2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1622C872-BBA4-4995-EC89-4528C92605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35665" y="-548717"/>
            <a:ext cx="1937437" cy="7270264"/>
          </a:xfrm>
          <a:prstGeom prst="curvedConnector3">
            <a:avLst>
              <a:gd name="adj1" fmla="val -13006"/>
            </a:avLst>
          </a:prstGeom>
          <a:ln w="28575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C40AF4ED-346A-0F6E-F9F4-A3F75359D05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82360" y="529663"/>
            <a:ext cx="1609478" cy="6413920"/>
          </a:xfrm>
          <a:prstGeom prst="curvedConnector4">
            <a:avLst>
              <a:gd name="adj1" fmla="val -14203"/>
              <a:gd name="adj2" fmla="val 50215"/>
            </a:avLst>
          </a:prstGeom>
          <a:ln w="28575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5C0A40D6-B62E-8DD7-0211-47BF39FF65CA}"/>
              </a:ext>
            </a:extLst>
          </p:cNvPr>
          <p:cNvCxnSpPr>
            <a:cxnSpLocks/>
          </p:cNvCxnSpPr>
          <p:nvPr/>
        </p:nvCxnSpPr>
        <p:spPr>
          <a:xfrm>
            <a:off x="1690913" y="3465286"/>
            <a:ext cx="8432802" cy="1653019"/>
          </a:xfrm>
          <a:prstGeom prst="curvedConnector2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7668CF-0404-4700-CC23-123E0753567E}"/>
              </a:ext>
            </a:extLst>
          </p:cNvPr>
          <p:cNvCxnSpPr>
            <a:cxnSpLocks/>
          </p:cNvCxnSpPr>
          <p:nvPr/>
        </p:nvCxnSpPr>
        <p:spPr>
          <a:xfrm>
            <a:off x="6032173" y="3523291"/>
            <a:ext cx="842087" cy="285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AF98BB3-209B-0D52-F87B-FCAEDB3CD5CA}"/>
              </a:ext>
            </a:extLst>
          </p:cNvPr>
          <p:cNvCxnSpPr>
            <a:cxnSpLocks/>
          </p:cNvCxnSpPr>
          <p:nvPr/>
        </p:nvCxnSpPr>
        <p:spPr>
          <a:xfrm>
            <a:off x="6010031" y="3743046"/>
            <a:ext cx="986345" cy="8641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CADE773-340A-678F-9D2A-A0A51C7F99C8}"/>
              </a:ext>
            </a:extLst>
          </p:cNvPr>
          <p:cNvCxnSpPr>
            <a:cxnSpLocks/>
          </p:cNvCxnSpPr>
          <p:nvPr/>
        </p:nvCxnSpPr>
        <p:spPr>
          <a:xfrm flipV="1">
            <a:off x="6050134" y="3114804"/>
            <a:ext cx="471294" cy="25817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46A29C-8BDF-DE83-D0F0-5D1817CB94D1}"/>
              </a:ext>
            </a:extLst>
          </p:cNvPr>
          <p:cNvCxnSpPr>
            <a:cxnSpLocks/>
          </p:cNvCxnSpPr>
          <p:nvPr/>
        </p:nvCxnSpPr>
        <p:spPr>
          <a:xfrm>
            <a:off x="6022499" y="3322166"/>
            <a:ext cx="368300" cy="33443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08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A784-B1A1-DF5F-4AD6-490DC8F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84D8A2C-E269-66B0-9887-1AF14624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D0697D07-DC0B-2AFF-FC05-2FD7356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AA236A-FE4F-666B-160A-BCC62612FFDB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8DD946-18E8-7CDA-1426-EC0BEF5B7ACF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Background – Why “Conditional” Flow Matching..?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93687B4-4F81-1CB9-62EA-D72E41E25A57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DEDFB6E-8390-D16D-16F5-87AFD6CBB668}"/>
              </a:ext>
            </a:extLst>
          </p:cNvPr>
          <p:cNvGrpSpPr/>
          <p:nvPr/>
        </p:nvGrpSpPr>
        <p:grpSpPr>
          <a:xfrm>
            <a:off x="734753" y="2995173"/>
            <a:ext cx="10557313" cy="974898"/>
            <a:chOff x="734754" y="3376704"/>
            <a:chExt cx="10557313" cy="9748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E8BE0F-8B2B-28B5-DE8D-611420D6B7C8}"/>
                </a:ext>
              </a:extLst>
            </p:cNvPr>
            <p:cNvSpPr txBox="1"/>
            <p:nvPr/>
          </p:nvSpPr>
          <p:spPr>
            <a:xfrm>
              <a:off x="734754" y="3376704"/>
              <a:ext cx="1055731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Solution</a:t>
              </a:r>
              <a:r>
                <a:rPr lang="en-US" altLang="ko-KR" dirty="0"/>
                <a:t>: Change it conditionally, it becomes tractable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84E1D6-1CDD-B3C7-9873-3BD3D2447560}"/>
                    </a:ext>
                  </a:extLst>
                </p:cNvPr>
                <p:cNvSpPr txBox="1"/>
                <p:nvPr/>
              </p:nvSpPr>
              <p:spPr>
                <a:xfrm>
                  <a:off x="734754" y="3879165"/>
                  <a:ext cx="1918294" cy="4724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84E1D6-1CDD-B3C7-9873-3BD3D2447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754" y="3879165"/>
                  <a:ext cx="1918294" cy="472437"/>
                </a:xfrm>
                <a:prstGeom prst="rect">
                  <a:avLst/>
                </a:prstGeom>
                <a:blipFill>
                  <a:blip r:embed="rId3"/>
                  <a:stretch>
                    <a:fillRect b="-129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2A0706-EFB7-5861-AF57-050275AC158C}"/>
                    </a:ext>
                  </a:extLst>
                </p:cNvPr>
                <p:cNvSpPr txBox="1"/>
                <p:nvPr/>
              </p:nvSpPr>
              <p:spPr>
                <a:xfrm>
                  <a:off x="2535864" y="3925994"/>
                  <a:ext cx="5494414" cy="32553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𝐶𝐹𝑀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)∥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62A0706-EFB7-5861-AF57-050275AC1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5864" y="3925994"/>
                  <a:ext cx="5494414" cy="325538"/>
                </a:xfrm>
                <a:prstGeom prst="rect">
                  <a:avLst/>
                </a:prstGeom>
                <a:blipFill>
                  <a:blip r:embed="rId4"/>
                  <a:stretch>
                    <a:fillRect b="-222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175479E-060B-6CEC-ECC6-E1A389EC4AE8}"/>
              </a:ext>
            </a:extLst>
          </p:cNvPr>
          <p:cNvGrpSpPr/>
          <p:nvPr/>
        </p:nvGrpSpPr>
        <p:grpSpPr>
          <a:xfrm>
            <a:off x="734754" y="1298378"/>
            <a:ext cx="10557313" cy="1263737"/>
            <a:chOff x="734754" y="1298378"/>
            <a:chExt cx="10557313" cy="126373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8E0CD8-DEB5-A983-CA75-38DBC1D906C6}"/>
                </a:ext>
              </a:extLst>
            </p:cNvPr>
            <p:cNvSpPr txBox="1"/>
            <p:nvPr/>
          </p:nvSpPr>
          <p:spPr>
            <a:xfrm>
              <a:off x="734754" y="1298378"/>
              <a:ext cx="10557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Limitation</a:t>
              </a:r>
              <a:r>
                <a:rPr lang="en-US" altLang="ko-KR" dirty="0"/>
                <a:t>: Ideal</a:t>
              </a:r>
              <a:r>
                <a:rPr lang="ko-KR" altLang="en-US" dirty="0"/>
                <a:t> </a:t>
              </a:r>
              <a:r>
                <a:rPr lang="en-US" altLang="ko-KR" dirty="0"/>
                <a:t>goals are impossible to calculate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5EAC9E2-3962-AE6A-FC03-F291B6BAAE9A}"/>
                    </a:ext>
                  </a:extLst>
                </p:cNvPr>
                <p:cNvSpPr txBox="1"/>
                <p:nvPr/>
              </p:nvSpPr>
              <p:spPr>
                <a:xfrm>
                  <a:off x="734754" y="1835569"/>
                  <a:ext cx="3602220" cy="7265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5EAC9E2-3962-AE6A-FC03-F291B6BAA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754" y="1835569"/>
                  <a:ext cx="3602220" cy="72654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C0F021B-1377-1A07-7B5C-FAF3AE34C4B3}"/>
                    </a:ext>
                  </a:extLst>
                </p:cNvPr>
                <p:cNvSpPr txBox="1"/>
                <p:nvPr/>
              </p:nvSpPr>
              <p:spPr>
                <a:xfrm>
                  <a:off x="3643594" y="1983829"/>
                  <a:ext cx="5494414" cy="3255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𝐹𝑀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)∥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C0F021B-1377-1A07-7B5C-FAF3AE34C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594" y="1983829"/>
                  <a:ext cx="5494414" cy="325538"/>
                </a:xfrm>
                <a:prstGeom prst="rect">
                  <a:avLst/>
                </a:prstGeom>
                <a:blipFill>
                  <a:blip r:embed="rId6"/>
                  <a:stretch>
                    <a:fillRect b="-203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BBD3473-CE4B-4EFC-FC17-21DB4BDC4930}"/>
              </a:ext>
            </a:extLst>
          </p:cNvPr>
          <p:cNvGrpSpPr/>
          <p:nvPr/>
        </p:nvGrpSpPr>
        <p:grpSpPr>
          <a:xfrm>
            <a:off x="687417" y="4691968"/>
            <a:ext cx="10659686" cy="1251897"/>
            <a:chOff x="734754" y="5024523"/>
            <a:chExt cx="10659686" cy="125189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0656E9-C078-B012-EFE5-EF8000B94750}"/>
                </a:ext>
              </a:extLst>
            </p:cNvPr>
            <p:cNvSpPr txBox="1"/>
            <p:nvPr/>
          </p:nvSpPr>
          <p:spPr>
            <a:xfrm>
              <a:off x="734754" y="5024523"/>
              <a:ext cx="1055731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 dirty="0"/>
                <a:t>Decisive </a:t>
              </a:r>
              <a:r>
                <a:rPr lang="ko-KR" altLang="ko-KR" b="1" dirty="0" err="1"/>
                <a:t>basis</a:t>
              </a:r>
              <a:r>
                <a:rPr lang="en-US" altLang="ko-KR" dirty="0"/>
                <a:t> </a:t>
              </a:r>
              <a:r>
                <a:rPr lang="en-US" altLang="ko-KR" b="1" i="1" dirty="0"/>
                <a:t>(Lipman et al., 2022</a:t>
              </a:r>
              <a:r>
                <a:rPr lang="en-US" altLang="ko-KR" b="1" dirty="0"/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E43B2D4-D67C-4547-592E-E285D3153B40}"/>
                    </a:ext>
                  </a:extLst>
                </p:cNvPr>
                <p:cNvSpPr txBox="1"/>
                <p:nvPr/>
              </p:nvSpPr>
              <p:spPr>
                <a:xfrm>
                  <a:off x="4816698" y="5070689"/>
                  <a:ext cx="17859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i="1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𝐹𝑀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i="1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𝐶𝐹𝑀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E43B2D4-D67C-4547-592E-E285D3153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6698" y="5070689"/>
                  <a:ext cx="17859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06" b="-1956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055D83-B5A6-BE39-11B5-309BBE13C661}"/>
                </a:ext>
              </a:extLst>
            </p:cNvPr>
            <p:cNvSpPr txBox="1"/>
            <p:nvPr/>
          </p:nvSpPr>
          <p:spPr>
            <a:xfrm>
              <a:off x="734754" y="5630089"/>
              <a:ext cx="1065968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ko-KR" b="1" u="sng" dirty="0" err="1"/>
                <a:t>Even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if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the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computable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conditional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loss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is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minimized</a:t>
              </a:r>
              <a:r>
                <a:rPr lang="ko-KR" altLang="ko-KR" b="1" u="sng" dirty="0"/>
                <a:t>, </a:t>
              </a:r>
              <a:r>
                <a:rPr lang="ko-KR" altLang="ko-KR" b="1" u="sng" dirty="0" err="1"/>
                <a:t>the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gradient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is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the</a:t>
              </a:r>
              <a:r>
                <a:rPr lang="ko-KR" altLang="ko-KR" b="1" u="sng" dirty="0"/>
                <a:t> </a:t>
              </a:r>
              <a:r>
                <a:rPr lang="ko-KR" altLang="ko-KR" b="1" u="sng" dirty="0" err="1"/>
                <a:t>same</a:t>
              </a:r>
              <a:r>
                <a:rPr lang="en-US" altLang="ko-KR" b="1" u="sng" dirty="0"/>
                <a:t> as the original problem</a:t>
              </a:r>
              <a:endParaRPr lang="ko-KR" altLang="en-US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25325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ECBD-73D3-B60A-9269-68582F2C3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A24D940-1C31-1202-8BD9-ECE580FE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954E13B9-A83F-9498-B323-8D315780F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F3A051F-BFBC-AF0A-61FD-490F86072055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E5243E-CDA6-4E79-23FA-D807E782EE00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PRiMeFlow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3EA3E00-4C95-DFCF-B403-974A7A7A41D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D3C442B-345F-A176-50B6-0E6E102393DC}"/>
              </a:ext>
            </a:extLst>
          </p:cNvPr>
          <p:cNvSpPr txBox="1"/>
          <p:nvPr/>
        </p:nvSpPr>
        <p:spPr>
          <a:xfrm>
            <a:off x="734755" y="1844298"/>
            <a:ext cx="1043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A3032-E0E5-D976-1B4B-BAF1DDEB358C}"/>
              </a:ext>
            </a:extLst>
          </p:cNvPr>
          <p:cNvSpPr txBox="1"/>
          <p:nvPr/>
        </p:nvSpPr>
        <p:spPr>
          <a:xfrm>
            <a:off x="734755" y="1567299"/>
            <a:ext cx="107224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u="sng" dirty="0"/>
              <a:t>The first of its kin</a:t>
            </a:r>
            <a:r>
              <a:rPr lang="en-US" altLang="ko-KR" b="1" u="sng" dirty="0"/>
              <a:t>d to apply end-to-end learning principles to flow matching for perturbation response modeling</a:t>
            </a:r>
          </a:p>
          <a:p>
            <a:endParaRPr lang="en-US" altLang="ko-KR" dirty="0"/>
          </a:p>
          <a:p>
            <a:r>
              <a:rPr lang="en-US" altLang="ko-KR" dirty="0"/>
              <a:t>Eliminating the need for </a:t>
            </a:r>
            <a:r>
              <a:rPr lang="ko-KR" altLang="ko-KR" dirty="0" err="1"/>
              <a:t>fixed</a:t>
            </a:r>
            <a:r>
              <a:rPr lang="ko-KR" altLang="ko-KR" dirty="0"/>
              <a:t> </a:t>
            </a:r>
            <a:r>
              <a:rPr lang="ko-KR" altLang="ko-KR" dirty="0" err="1"/>
              <a:t>pre</a:t>
            </a:r>
            <a:r>
              <a:rPr lang="en-US" altLang="ko-KR" dirty="0"/>
              <a:t>trained</a:t>
            </a:r>
            <a:r>
              <a:rPr lang="ko-KR" altLang="ko-KR" dirty="0"/>
              <a:t> </a:t>
            </a:r>
            <a:r>
              <a:rPr lang="ko-KR" altLang="ko-KR" dirty="0" err="1"/>
              <a:t>latent</a:t>
            </a:r>
            <a:r>
              <a:rPr lang="ko-KR" altLang="ko-KR" dirty="0"/>
              <a:t> </a:t>
            </a:r>
            <a:r>
              <a:rPr lang="ko-KR" altLang="ko-KR" dirty="0" err="1"/>
              <a:t>embedding</a:t>
            </a:r>
            <a:r>
              <a:rPr lang="en-US" altLang="ko-KR" dirty="0"/>
              <a:t> </a:t>
            </a:r>
            <a:r>
              <a:rPr lang="ko-KR" altLang="ko-KR" dirty="0" err="1"/>
              <a:t>selected</a:t>
            </a:r>
            <a:r>
              <a:rPr lang="ko-KR" altLang="ko-KR" dirty="0"/>
              <a:t> </a:t>
            </a:r>
            <a:r>
              <a:rPr lang="ko-KR" altLang="ko-KR" dirty="0" err="1"/>
              <a:t>from</a:t>
            </a:r>
            <a:r>
              <a:rPr lang="ko-KR" altLang="ko-KR" dirty="0"/>
              <a:t> PCA </a:t>
            </a:r>
            <a:r>
              <a:rPr lang="en-US" altLang="ko-KR" dirty="0"/>
              <a:t>/ single-cell</a:t>
            </a:r>
            <a:r>
              <a:rPr lang="ko-KR" altLang="ko-KR" dirty="0"/>
              <a:t> </a:t>
            </a:r>
            <a:r>
              <a:rPr lang="ko-KR" altLang="ko-KR" dirty="0" err="1"/>
              <a:t>foundation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en-US" altLang="ko-KR" dirty="0"/>
              <a:t> </a:t>
            </a:r>
            <a:r>
              <a:rPr lang="en-US" altLang="ko-KR" b="1" i="1" dirty="0"/>
              <a:t>(Klein et al., Palla et al., 2025)</a:t>
            </a:r>
            <a:endParaRPr lang="ko-KR" altLang="en-US" b="1" i="1" dirty="0"/>
          </a:p>
          <a:p>
            <a:endParaRPr lang="en-US" altLang="ko-KR" dirty="0"/>
          </a:p>
          <a:p>
            <a:r>
              <a:rPr lang="en-US" altLang="ko-KR" b="1" dirty="0"/>
              <a:t>[PCA / single-cell foundation model]</a:t>
            </a:r>
          </a:p>
          <a:p>
            <a:pPr lvl="1"/>
            <a:r>
              <a:rPr lang="en-US" altLang="ko-KR" b="1" dirty="0">
                <a:solidFill>
                  <a:srgbClr val="006C31"/>
                </a:solidFill>
              </a:rPr>
              <a:t>Strength(+)</a:t>
            </a:r>
          </a:p>
          <a:p>
            <a:pPr lvl="1"/>
            <a:r>
              <a:rPr lang="en-US" altLang="ko-KR" dirty="0">
                <a:solidFill>
                  <a:srgbClr val="006C31"/>
                </a:solidFill>
              </a:rPr>
              <a:t>- Compress expression profiles into more tractable lower-dimensional spaces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Limitation(-)</a:t>
            </a:r>
          </a:p>
          <a:p>
            <a:pPr marL="742950" lvl="1" indent="-285750">
              <a:buFontTx/>
              <a:buChar char="-"/>
            </a:pPr>
            <a:r>
              <a:rPr lang="en-US" altLang="ko-KR" dirty="0">
                <a:solidFill>
                  <a:srgbClr val="FF0000"/>
                </a:solidFill>
              </a:rPr>
              <a:t>Risk losing critical biological signals for accurate downstream prediction</a:t>
            </a:r>
          </a:p>
          <a:p>
            <a:pPr marL="742950" lvl="1" indent="-285750">
              <a:buFontTx/>
              <a:buChar char="-"/>
            </a:pPr>
            <a:r>
              <a:rPr lang="en-US" altLang="ko-KR" dirty="0">
                <a:solidFill>
                  <a:srgbClr val="FF0000"/>
                </a:solidFill>
              </a:rPr>
              <a:t>Error accumulation in the multi-stage inference pipeline</a:t>
            </a:r>
          </a:p>
          <a:p>
            <a:pPr marL="742950" lvl="1" indent="-285750">
              <a:buFontTx/>
              <a:buChar char="-"/>
            </a:pPr>
            <a:endParaRPr lang="en-US" altLang="ko-KR" dirty="0"/>
          </a:p>
          <a:p>
            <a:r>
              <a:rPr lang="en-US" altLang="ko-KR" b="1" dirty="0"/>
              <a:t>[</a:t>
            </a:r>
            <a:r>
              <a:rPr lang="en-US" altLang="ko-KR" b="1" dirty="0" err="1"/>
              <a:t>PRiMeFlow</a:t>
            </a:r>
            <a:r>
              <a:rPr lang="en-US" altLang="ko-KR" b="1" dirty="0"/>
              <a:t>]</a:t>
            </a:r>
            <a:endParaRPr lang="en-US" altLang="ko-KR" dirty="0"/>
          </a:p>
          <a:p>
            <a:pPr lvl="1"/>
            <a:r>
              <a:rPr lang="en-US" altLang="ko-KR" dirty="0"/>
              <a:t>directly </a:t>
            </a:r>
            <a:r>
              <a:rPr lang="en-US" altLang="ko-KR" b="1" u="sng" dirty="0"/>
              <a:t>operates in the gene expression space</a:t>
            </a:r>
            <a:r>
              <a:rPr lang="en-US" altLang="ko-KR" dirty="0"/>
              <a:t> and </a:t>
            </a:r>
            <a:r>
              <a:rPr lang="en-US" altLang="ko-KR" b="1" u="sng" dirty="0"/>
              <a:t>employs a U-Net architecture to parameterize the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70511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A216-E912-5786-57F2-0585471C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52989EA-9EB1-BBC5-2EE3-7DA7B45A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70A37BF-2F50-41DA-93AE-68AB3A5DB358}" type="slidenum">
              <a:rPr lang="en-US" altLang="en-US" smtClean="0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21" name="제목 6">
            <a:extLst>
              <a:ext uri="{FF2B5EF4-FFF2-40B4-BE49-F238E27FC236}">
                <a16:creationId xmlns:a16="http://schemas.microsoft.com/office/drawing/2014/main" id="{ED089B86-5521-8719-A5B4-5529DDF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sz="3200"/>
              <a:t>Introduction</a:t>
            </a:r>
            <a:endParaRPr lang="en-US" altLang="ko-KR" sz="3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3601752-6DB7-A76D-DD1F-1777DA63945E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EC041D-3B3D-156B-D01C-EE17850D5D1F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Contribution (Total: 4)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4997203-E4B3-B77B-2B47-EF1A62F38B65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2B426B-720A-5EAB-C1B4-FE1BBB6B0DB7}"/>
              </a:ext>
            </a:extLst>
          </p:cNvPr>
          <p:cNvSpPr txBox="1"/>
          <p:nvPr/>
        </p:nvSpPr>
        <p:spPr>
          <a:xfrm>
            <a:off x="734755" y="1844298"/>
            <a:ext cx="1043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E98C6-CB25-77AB-F524-241FC2963C11}"/>
              </a:ext>
            </a:extLst>
          </p:cNvPr>
          <p:cNvSpPr txBox="1"/>
          <p:nvPr/>
        </p:nvSpPr>
        <p:spPr>
          <a:xfrm>
            <a:off x="734755" y="1567299"/>
            <a:ext cx="107224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Simple design</a:t>
            </a:r>
            <a:r>
              <a:rPr lang="ko-KR" altLang="en-US" dirty="0"/>
              <a:t> </a:t>
            </a:r>
            <a:r>
              <a:rPr lang="en-US" altLang="ko-KR" dirty="0"/>
              <a:t>of </a:t>
            </a:r>
            <a:r>
              <a:rPr lang="en-US" altLang="ko-KR" b="1" dirty="0"/>
              <a:t>end-to-end flow matching for perturbation modeling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Demonstrate </a:t>
            </a:r>
            <a:r>
              <a:rPr lang="en-US" altLang="ko-KR" b="1" dirty="0" err="1"/>
              <a:t>PRiMeFlow’s</a:t>
            </a:r>
            <a:r>
              <a:rPr lang="en-US" altLang="ko-KR" b="1" dirty="0"/>
              <a:t> superior distribution-fitting capabilities</a:t>
            </a:r>
            <a:r>
              <a:rPr lang="en-US" altLang="ko-KR" dirty="0"/>
              <a:t> through extensive experiments within </a:t>
            </a:r>
            <a:r>
              <a:rPr lang="en-US" altLang="ko-KR" dirty="0" err="1"/>
              <a:t>perturBench</a:t>
            </a:r>
            <a:r>
              <a:rPr lang="en-US" altLang="ko-KR" dirty="0"/>
              <a:t> against a wide array of baselines. </a:t>
            </a:r>
            <a:r>
              <a:rPr lang="en-US" altLang="ko-KR" b="1" dirty="0"/>
              <a:t>(Especially, DEGs recall)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Through ablation studies, </a:t>
            </a:r>
            <a:r>
              <a:rPr lang="en-US" altLang="ko-KR" b="1" dirty="0"/>
              <a:t>validate their core design choices.</a:t>
            </a:r>
          </a:p>
          <a:p>
            <a:pPr marL="800100" lvl="1" indent="-342900">
              <a:buAutoNum type="arabicPeriod"/>
            </a:pPr>
            <a:r>
              <a:rPr lang="en-US" altLang="ko-KR" b="1" dirty="0"/>
              <a:t>Parameterizing the velocity field in the gene expression space</a:t>
            </a:r>
            <a:r>
              <a:rPr lang="en-US" altLang="ko-KR" dirty="0"/>
              <a:t> (rather than the latent space)</a:t>
            </a:r>
          </a:p>
          <a:p>
            <a:pPr marL="800100" lvl="1" indent="-342900">
              <a:buAutoNum type="arabicPeriod"/>
            </a:pPr>
            <a:r>
              <a:rPr lang="en-US" altLang="ko-KR" b="1" dirty="0"/>
              <a:t>Using a U-Net over an MLP</a:t>
            </a:r>
          </a:p>
          <a:p>
            <a:pPr marL="800100" lvl="1" indent="-342900">
              <a:buAutoNum type="arabicPeriod"/>
            </a:pPr>
            <a:r>
              <a:rPr lang="en-US" altLang="ko-KR" b="1" dirty="0"/>
              <a:t>Training with independent coupling instead of OT(optimal transport) based coupling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Scaling up through the pretraining-finetuning strategy ~ </a:t>
            </a:r>
            <a:r>
              <a:rPr lang="en-US" altLang="ko-KR" b="1" dirty="0"/>
              <a:t>Demonstrate the outstanding performance on the H1 </a:t>
            </a:r>
            <a:r>
              <a:rPr lang="en-US" altLang="ko-KR" b="1" dirty="0" err="1"/>
              <a:t>hESCs</a:t>
            </a:r>
            <a:r>
              <a:rPr lang="en-US" altLang="ko-KR" b="1" dirty="0"/>
              <a:t>(H1 human embryonic stem cells) </a:t>
            </a:r>
            <a:r>
              <a:rPr lang="en-US" altLang="ko-KR" dirty="0"/>
              <a:t>from ARC VCC</a:t>
            </a:r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69A0F-5C7C-C60D-A8B8-E4459F0BB99E}"/>
              </a:ext>
            </a:extLst>
          </p:cNvPr>
          <p:cNvSpPr txBox="1"/>
          <p:nvPr/>
        </p:nvSpPr>
        <p:spPr>
          <a:xfrm>
            <a:off x="0" y="6414780"/>
            <a:ext cx="9740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* DEG</a:t>
            </a:r>
            <a:r>
              <a:rPr lang="en-US" altLang="ko-KR" dirty="0"/>
              <a:t>: </a:t>
            </a:r>
            <a:r>
              <a:rPr lang="ko-KR" altLang="en-US" dirty="0"/>
              <a:t>차등 발현 유전자 </a:t>
            </a:r>
            <a:r>
              <a:rPr lang="en-US" altLang="ko-KR" dirty="0"/>
              <a:t>| perturbation </a:t>
            </a:r>
            <a:r>
              <a:rPr lang="ko-KR" altLang="en-US" dirty="0"/>
              <a:t>후 </a:t>
            </a:r>
            <a:r>
              <a:rPr lang="en-US" altLang="ko-KR" dirty="0"/>
              <a:t>expression</a:t>
            </a:r>
            <a:r>
              <a:rPr lang="ko-KR" altLang="en-US" dirty="0"/>
              <a:t>이 유의미하게 변한 </a:t>
            </a:r>
            <a:r>
              <a:rPr lang="en-US" altLang="ko-KR" dirty="0"/>
              <a:t>gene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09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681B-641B-056D-E8CF-3B2AEE92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B94F6-BD40-CCA3-D982-0A4A698F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596F3-397E-8CA2-7143-324C747A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A7F9B3-7A10-3C7A-74BA-6D294D9AC57E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D597C9-4BF9-6F1E-CECE-1B63572E43A8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Overview &amp; setup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5AA8611-4E64-B9EF-1977-3678A5406991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75D11EF-4C6C-8731-B004-58EA3A9D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4" t="8516" r="2981" b="3889"/>
          <a:stretch>
            <a:fillRect/>
          </a:stretch>
        </p:blipFill>
        <p:spPr>
          <a:xfrm>
            <a:off x="303115" y="1350187"/>
            <a:ext cx="6681885" cy="37003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79065290-FBE9-1B3C-0365-71021D2F7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7863564"/>
                  </p:ext>
                </p:extLst>
              </p:nvPr>
            </p:nvGraphicFramePr>
            <p:xfrm>
              <a:off x="7164485" y="1350187"/>
              <a:ext cx="4724400" cy="2865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3389750969"/>
                        </a:ext>
                      </a:extLst>
                    </a:gridCol>
                    <a:gridCol w="2362200">
                      <a:extLst>
                        <a:ext uri="{9D8B030D-6E8A-4147-A177-3AD203B41FA5}">
                          <a16:colId xmlns:a16="http://schemas.microsoft.com/office/drawing/2014/main" val="1429362228"/>
                        </a:ext>
                      </a:extLst>
                    </a:gridCol>
                  </a:tblGrid>
                  <a:tr h="18775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name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formula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47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Perturb-seq data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50" dirty="0"/>
                            <a:t>(set of log1p normalized gene expression profiles)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𝒳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{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ℝ</m:t>
                                        </m:r>
                                      </m:e>
                                      <m:sup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85438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Identity of the genes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𝒢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{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3035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Each cell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𝒞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{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61880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Condition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({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91010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Plurality of</a:t>
                          </a:r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perturbations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{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2896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79065290-FBE9-1B3C-0365-71021D2F7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7863564"/>
                  </p:ext>
                </p:extLst>
              </p:nvPr>
            </p:nvGraphicFramePr>
            <p:xfrm>
              <a:off x="7164485" y="1350187"/>
              <a:ext cx="4724400" cy="2865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3389750969"/>
                        </a:ext>
                      </a:extLst>
                    </a:gridCol>
                    <a:gridCol w="2362200">
                      <a:extLst>
                        <a:ext uri="{9D8B030D-6E8A-4147-A177-3AD203B41FA5}">
                          <a16:colId xmlns:a16="http://schemas.microsoft.com/office/drawing/2014/main" val="142936222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name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formula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4786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Perturb-seq data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50" dirty="0"/>
                            <a:t>(set of log1p normalized gene expression profiles)</a:t>
                          </a:r>
                          <a:endParaRPr lang="ko-KR" altLang="en-US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57522" r="-1031" b="-2769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8543815"/>
                      </a:ext>
                    </a:extLst>
                  </a:tr>
                  <a:tr h="39776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Identity of the genes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273846" r="-1031" b="-38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3035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Each cell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398361" r="-1031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6188089"/>
                      </a:ext>
                    </a:extLst>
                  </a:tr>
                  <a:tr h="40481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Condition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453731" r="-1031" b="-179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910108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Plurality of</a:t>
                          </a:r>
                          <a:r>
                            <a:rPr lang="ko-KR" altLang="en-US" dirty="0"/>
                            <a:t> </a:t>
                          </a:r>
                          <a:r>
                            <a:rPr lang="en-US" altLang="ko-KR" dirty="0"/>
                            <a:t>perturbations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258" t="-353333" r="-1031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2896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BB6225-02F4-B39D-707F-AED826D86646}"/>
                  </a:ext>
                </a:extLst>
              </p:cNvPr>
              <p:cNvSpPr txBox="1"/>
              <p:nvPr/>
            </p:nvSpPr>
            <p:spPr>
              <a:xfrm>
                <a:off x="7164484" y="4280297"/>
                <a:ext cx="4724399" cy="1504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number of perturbations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dirty="0"/>
                  <a:t> = number of gene expressions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covariate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 ~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b="1" u="sng" dirty="0">
                    <a:solidFill>
                      <a:srgbClr val="FF0000"/>
                    </a:solidFill>
                  </a:rPr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b="1" i="1" u="sng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u="sng" dirty="0">
                    <a:solidFill>
                      <a:srgbClr val="FF0000"/>
                    </a:solidFill>
                  </a:rPr>
                  <a:t> = 0 : control cell</a:t>
                </a:r>
                <a:endParaRPr lang="ko-KR" altLang="en-US" b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BBB6225-02F4-B39D-707F-AED826D86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484" y="4280297"/>
                <a:ext cx="4724399" cy="1504514"/>
              </a:xfrm>
              <a:prstGeom prst="rect">
                <a:avLst/>
              </a:prstGeom>
              <a:blipFill>
                <a:blip r:embed="rId5"/>
                <a:stretch>
                  <a:fillRect l="-1032" t="-2024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933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5F6F-A84D-1052-CE6D-F0033D60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E4ABA-0D41-C9BD-861C-A7929405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54606-C3CE-79B9-944E-1460E183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0C384B-3B34-75F0-4FA4-AEED79FFD81E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4CA222-4CA4-5F64-B9C9-8C1AAB63F2EB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Direct flow matching in gene expression space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A2EF72F-A85A-3DDB-D81F-046F1E2E2091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FF24AA-594E-5D95-EAF1-DDB491850EE7}"/>
                  </a:ext>
                </a:extLst>
              </p:cNvPr>
              <p:cNvSpPr txBox="1"/>
              <p:nvPr/>
            </p:nvSpPr>
            <p:spPr>
              <a:xfrm>
                <a:off x="706443" y="1587500"/>
                <a:ext cx="10627360" cy="3986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b="1" dirty="0"/>
                  <a:t>Design Philosophy</a:t>
                </a:r>
              </a:p>
              <a:p>
                <a:pPr marL="342900" indent="-342900">
                  <a:buAutoNum type="arabicPeriod"/>
                </a:pPr>
                <a:endParaRPr lang="en-US" altLang="ko-KR" b="1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/>
                  <a:t>Parameterize Velocity field(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p>
                    </m:sSub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b="1" dirty="0"/>
                  <a:t>in gene expression space </a:t>
                </a:r>
                <a:r>
                  <a:rPr lang="en-US" altLang="ko-KR" dirty="0"/>
                  <a:t>(not latent space)</a:t>
                </a:r>
              </a:p>
              <a:p>
                <a:pPr lvl="1"/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en-US" altLang="ko-KR" b="1" dirty="0">
                    <a:solidFill>
                      <a:srgbClr val="0070C0"/>
                    </a:solidFill>
                  </a:rPr>
                  <a:t>Why?</a:t>
                </a:r>
              </a:p>
              <a:p>
                <a:pPr marL="342900" indent="-342900">
                  <a:buAutoNum type="arabicPeriod"/>
                </a:pPr>
                <a:endParaRPr lang="en-US" altLang="ko-KR" b="1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solidFill>
                      <a:srgbClr val="0070C0"/>
                    </a:solidFill>
                  </a:rPr>
                  <a:t>Heterogeneity</a:t>
                </a:r>
                <a:r>
                  <a:rPr lang="en-US" altLang="ko-KR" dirty="0">
                    <a:solidFill>
                      <a:srgbClr val="0070C0"/>
                    </a:solidFill>
                  </a:rPr>
                  <a:t>: Not only inter-conditions, but also intra-conditions, each cell reacts differently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solidFill>
                      <a:srgbClr val="0070C0"/>
                    </a:solidFill>
                  </a:rPr>
                  <a:t>Complex interactions</a:t>
                </a:r>
                <a:r>
                  <a:rPr lang="ko-KR" alt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ko-KR" b="1" dirty="0">
                    <a:solidFill>
                      <a:srgbClr val="0070C0"/>
                    </a:solidFill>
                  </a:rPr>
                  <a:t>between genes</a:t>
                </a:r>
                <a:r>
                  <a:rPr lang="en-US" altLang="ko-KR" dirty="0">
                    <a:solidFill>
                      <a:srgbClr val="0070C0"/>
                    </a:solidFill>
                  </a:rPr>
                  <a:t>: The genes are entangled in one another</a:t>
                </a:r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en-US" altLang="ko-KR" b="1" dirty="0"/>
                  <a:t>Tradeoff</a:t>
                </a:r>
              </a:p>
              <a:p>
                <a:pPr marL="342900" indent="-342900">
                  <a:buAutoNum type="arabicPeriod"/>
                </a:pPr>
                <a:endParaRPr lang="en-US" altLang="ko-KR" b="1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/>
                  <a:t>Cost</a:t>
                </a:r>
                <a:r>
                  <a:rPr lang="en-US" altLang="ko-KR" dirty="0"/>
                  <a:t>: Exposes the velocity field to the full complexity in the raw gene expression data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/>
                  <a:t>Opportunity</a:t>
                </a:r>
                <a:r>
                  <a:rPr lang="en-US" altLang="ko-KR" dirty="0"/>
                  <a:t>: To learn dynamics that directly govern the transition of expression profiles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FF24AA-594E-5D95-EAF1-DDB491850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43" y="1587500"/>
                <a:ext cx="10627360" cy="3986604"/>
              </a:xfrm>
              <a:prstGeom prst="rect">
                <a:avLst/>
              </a:prstGeom>
              <a:blipFill>
                <a:blip r:embed="rId3"/>
                <a:stretch>
                  <a:fillRect l="-631" t="-1376" b="-18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016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37E8-987C-00B5-6761-39F52C21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EC323-1C95-1449-68ED-343FC4B5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4D91D-687D-88D3-32F7-4F711598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11F02D7-B671-587A-1FA9-B4C090E35EC0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C0A4AC-BDA3-FF6D-90E1-03E6FB5DB7DA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Velocity field I/O</a:t>
              </a:r>
              <a:endParaRPr lang="en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C78B1E-E740-6B0F-5EEF-166FAF208700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349CB0-D8A7-8748-F782-F5CD797E3728}"/>
                  </a:ext>
                </a:extLst>
              </p:cNvPr>
              <p:cNvSpPr txBox="1"/>
              <p:nvPr/>
            </p:nvSpPr>
            <p:spPr>
              <a:xfrm>
                <a:off x="850900" y="1397000"/>
                <a:ext cx="10284460" cy="318484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[Input]</a:t>
                </a:r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en-US" altLang="ko-KR" b="1" dirty="0">
                    <a:solidFill>
                      <a:srgbClr val="FF0000"/>
                    </a:solidFill>
                  </a:rPr>
                  <a:t>Expression profile(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FF0000"/>
                    </a:solidFill>
                  </a:rPr>
                  <a:t>) + gene identities(</a:t>
                </a:r>
                <a14:m>
                  <m:oMath xmlns:m="http://schemas.openxmlformats.org/officeDocument/2006/math">
                    <m:r>
                      <a:rPr lang="ko-KR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𝓖</m:t>
                    </m:r>
                  </m:oMath>
                </a14:m>
                <a:r>
                  <a:rPr lang="en-US" altLang="ko-KR" b="1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: Sinusoidally encoded to add a feature dimension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en-US" altLang="ko-KR" dirty="0"/>
                  <a:t>: Included to ingest biological interpretation in the first dimension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endParaRPr lang="en-US" altLang="ko-KR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en-US" altLang="ko-KR" b="1" dirty="0">
                    <a:solidFill>
                      <a:srgbClr val="00B050"/>
                    </a:solidFill>
                  </a:rPr>
                  <a:t>Condition(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B050"/>
                    </a:solidFill>
                  </a:rPr>
                  <a:t>) = perturbations + covariate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)=[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𝑂𝑛𝑒𝐻𝑜𝑡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𝑂𝑛𝑒𝐻𝑜𝑡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𝑐𝑜𝑣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endParaRPr lang="en-US" altLang="ko-KR" dirty="0"/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en-US" altLang="ko-KR" b="1" dirty="0">
                    <a:solidFill>
                      <a:srgbClr val="00B0F0"/>
                    </a:solidFill>
                  </a:rPr>
                  <a:t>Time(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b="1" dirty="0">
                    <a:solidFill>
                      <a:srgbClr val="00B0F0"/>
                    </a:solidFill>
                  </a:rPr>
                  <a:t>)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/>
                  <a:t>Sinusoidal encoding: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𝐸𝑛𝑐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349CB0-D8A7-8748-F782-F5CD797E3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1397000"/>
                <a:ext cx="10284460" cy="3184846"/>
              </a:xfrm>
              <a:prstGeom prst="rect">
                <a:avLst/>
              </a:prstGeom>
              <a:blipFill>
                <a:blip r:embed="rId3"/>
                <a:stretch>
                  <a:fillRect l="-652" t="-956" b="-24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8B04CA-5C97-F9D8-E2DF-EA27985E9E77}"/>
                  </a:ext>
                </a:extLst>
              </p:cNvPr>
              <p:cNvSpPr txBox="1"/>
              <p:nvPr/>
            </p:nvSpPr>
            <p:spPr>
              <a:xfrm>
                <a:off x="850900" y="4626007"/>
                <a:ext cx="10284460" cy="6726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[Output]</a:t>
                </a:r>
              </a:p>
              <a:p>
                <a:r>
                  <a:rPr lang="en-US" altLang="ko-KR" dirty="0"/>
                  <a:t>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𝐸𝑛𝑐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𝑚𝑏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𝒢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𝐸𝑛𝑐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𝐸𝑛𝑐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ko-KR" dirty="0"/>
                  <a:t> // U-Net…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8B04CA-5C97-F9D8-E2DF-EA27985E9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4626007"/>
                <a:ext cx="10284460" cy="672620"/>
              </a:xfrm>
              <a:prstGeom prst="rect">
                <a:avLst/>
              </a:prstGeom>
              <a:blipFill>
                <a:blip r:embed="rId4"/>
                <a:stretch>
                  <a:fillRect l="-533" t="-5455" b="-1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7C85A5E-0076-01E2-EB07-7CF9E88394B0}"/>
              </a:ext>
            </a:extLst>
          </p:cNvPr>
          <p:cNvCxnSpPr/>
          <p:nvPr/>
        </p:nvCxnSpPr>
        <p:spPr>
          <a:xfrm>
            <a:off x="2076450" y="5298627"/>
            <a:ext cx="17716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57E5550-2374-D5D9-12BA-DECB7C872F1D}"/>
              </a:ext>
            </a:extLst>
          </p:cNvPr>
          <p:cNvCxnSpPr>
            <a:cxnSpLocks/>
          </p:cNvCxnSpPr>
          <p:nvPr/>
        </p:nvCxnSpPr>
        <p:spPr>
          <a:xfrm>
            <a:off x="3962400" y="5298627"/>
            <a:ext cx="714375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D0738D9-F80C-5D4E-C981-5F215D88234F}"/>
              </a:ext>
            </a:extLst>
          </p:cNvPr>
          <p:cNvCxnSpPr>
            <a:cxnSpLocks/>
          </p:cNvCxnSpPr>
          <p:nvPr/>
        </p:nvCxnSpPr>
        <p:spPr>
          <a:xfrm>
            <a:off x="4791075" y="5298627"/>
            <a:ext cx="71437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434FD2-C043-73B8-CCA5-FC5CF5C3A3C8}"/>
              </a:ext>
            </a:extLst>
          </p:cNvPr>
          <p:cNvSpPr txBox="1"/>
          <p:nvPr/>
        </p:nvSpPr>
        <p:spPr>
          <a:xfrm>
            <a:off x="8105775" y="4048125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009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970E-5652-AEFD-C642-A1875799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6F244-3373-1977-7C4A-2540E4DD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3546BE-C9D2-78C7-0038-62F4B8A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271F8F7-93F3-B3BC-2DDB-06DEC598161C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BFB44D-51A7-E6B1-8331-FF7CF76A6935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Velocity field – Condition encoding – Calculation method</a:t>
              </a:r>
              <a:endParaRPr lang="en" altLang="ko-K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A3EA7F-7B1F-D99C-F0BD-F7A37BD822A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AA5F81-15A1-2637-C34E-E54C6574DD62}"/>
                  </a:ext>
                </a:extLst>
              </p:cNvPr>
              <p:cNvSpPr txBox="1"/>
              <p:nvPr/>
            </p:nvSpPr>
            <p:spPr>
              <a:xfrm>
                <a:off x="850900" y="1157249"/>
                <a:ext cx="10284460" cy="681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00B050"/>
                    </a:solidFill>
                  </a:rPr>
                  <a:t>Condition(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B050"/>
                    </a:solidFill>
                  </a:rPr>
                  <a:t>) = perturbations + covariate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)=[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𝑂𝑛𝑒𝐻𝑜𝑡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𝑂𝑛𝑒𝐻𝑜𝑡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𝑐𝑜𝑣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AA5F81-15A1-2637-C34E-E54C6574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1157249"/>
                <a:ext cx="10284460" cy="681982"/>
              </a:xfrm>
              <a:prstGeom prst="rect">
                <a:avLst/>
              </a:prstGeom>
              <a:blipFill>
                <a:blip r:embed="rId3"/>
                <a:stretch>
                  <a:fillRect l="-533" t="-21429" b="-98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FDD2E34-758E-2F13-6C10-9EB10F453F67}"/>
              </a:ext>
            </a:extLst>
          </p:cNvPr>
          <p:cNvSpPr txBox="1"/>
          <p:nvPr/>
        </p:nvSpPr>
        <p:spPr>
          <a:xfrm>
            <a:off x="8105775" y="4048125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78067A-2E89-223E-98C0-A2751DD91C60}"/>
              </a:ext>
            </a:extLst>
          </p:cNvPr>
          <p:cNvSpPr/>
          <p:nvPr/>
        </p:nvSpPr>
        <p:spPr>
          <a:xfrm>
            <a:off x="4455886" y="1466716"/>
            <a:ext cx="188685" cy="340991"/>
          </a:xfrm>
          <a:prstGeom prst="ellipse">
            <a:avLst/>
          </a:prstGeom>
          <a:noFill/>
          <a:ln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682DE-4A93-09F3-88EA-24B44D2BBF3B}"/>
              </a:ext>
            </a:extLst>
          </p:cNvPr>
          <p:cNvSpPr txBox="1"/>
          <p:nvPr/>
        </p:nvSpPr>
        <p:spPr>
          <a:xfrm>
            <a:off x="4114799" y="1764788"/>
            <a:ext cx="8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rgbClr val="2804DA"/>
                </a:solidFill>
              </a:rPr>
              <a:t>concat</a:t>
            </a:r>
            <a:endParaRPr lang="ko-KR" altLang="en-US" dirty="0">
              <a:solidFill>
                <a:srgbClr val="2804D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D08CE-4251-CF25-5573-38DB8E5D4BB1}"/>
                  </a:ext>
                </a:extLst>
              </p:cNvPr>
              <p:cNvSpPr txBox="1"/>
              <p:nvPr/>
            </p:nvSpPr>
            <p:spPr>
              <a:xfrm>
                <a:off x="850900" y="2024417"/>
                <a:ext cx="9824358" cy="2052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1. gene</a:t>
                </a:r>
              </a:p>
              <a:p>
                <a:r>
                  <a:rPr lang="en-US" altLang="ko-KR" dirty="0"/>
                  <a:t>	gene = [TP53, MYC, KRAS, EGFR, BRCA1]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𝑝𝑒𝑟𝑡𝑠</m:t>
                        </m:r>
                      </m:sub>
                    </m:sSub>
                  </m:oMath>
                </a14:m>
                <a:r>
                  <a:rPr lang="en-US" altLang="ko-KR" dirty="0"/>
                  <a:t>(perturbation </a:t>
                </a:r>
                <a:r>
                  <a:rPr lang="ko-KR" altLang="en-US" dirty="0"/>
                  <a:t>후보 개수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 5</a:t>
                </a:r>
              </a:p>
              <a:p>
                <a:endParaRPr lang="en-US" altLang="ko-KR" dirty="0"/>
              </a:p>
              <a:p>
                <a:r>
                  <a:rPr lang="en-US" altLang="ko-KR" b="1" dirty="0"/>
                  <a:t>2. Covariates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(cell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type)</a:t>
                </a:r>
              </a:p>
              <a:p>
                <a:r>
                  <a:rPr lang="en-US" altLang="ko-KR" dirty="0"/>
                  <a:t>	covariates = [K562, A549, MCF7]</a:t>
                </a:r>
              </a:p>
              <a:p>
                <a:endParaRPr lang="en-US" altLang="ko-KR" dirty="0"/>
              </a:p>
              <a:p>
                <a:r>
                  <a:rPr lang="en-US" altLang="ko-KR" b="1" dirty="0"/>
                  <a:t>3. Cells (1 ~ 3) 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8D08CE-4251-CF25-5573-38DB8E5D4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2024417"/>
                <a:ext cx="9824358" cy="2052741"/>
              </a:xfrm>
              <a:prstGeom prst="rect">
                <a:avLst/>
              </a:prstGeom>
              <a:blipFill>
                <a:blip r:embed="rId4"/>
                <a:stretch>
                  <a:fillRect l="-559" t="-1484" b="-35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3AFCACE-8F3C-74FD-57DF-92FEDF4B045B}"/>
              </a:ext>
            </a:extLst>
          </p:cNvPr>
          <p:cNvSpPr/>
          <p:nvPr/>
        </p:nvSpPr>
        <p:spPr>
          <a:xfrm>
            <a:off x="1453924" y="4232791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Cell1 (Single)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{MYC};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[1]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A549;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1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287151-C2A6-723B-E73E-A541A4416A44}"/>
              </a:ext>
            </a:extLst>
          </p:cNvPr>
          <p:cNvSpPr/>
          <p:nvPr/>
        </p:nvSpPr>
        <p:spPr>
          <a:xfrm>
            <a:off x="8469087" y="4232791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Cell3 (control)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 }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MCF7;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 =2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56E77AC-62A0-EDCC-2AED-295AE93D4771}"/>
              </a:ext>
            </a:extLst>
          </p:cNvPr>
          <p:cNvSpPr/>
          <p:nvPr/>
        </p:nvSpPr>
        <p:spPr>
          <a:xfrm>
            <a:off x="4943929" y="4232791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Cell2 (combo)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{TP53, KRAS};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[0, 2]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K562;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0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2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B9FF-7FDD-F567-CBD1-2786494D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9338876-9B0A-78B6-DF4F-A04700D21004}"/>
              </a:ext>
            </a:extLst>
          </p:cNvPr>
          <p:cNvCxnSpPr>
            <a:stCxn id="17" idx="0"/>
          </p:cNvCxnSpPr>
          <p:nvPr/>
        </p:nvCxnSpPr>
        <p:spPr>
          <a:xfrm flipV="1">
            <a:off x="6047014" y="1949454"/>
            <a:ext cx="1680935" cy="215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99A7E65-6F32-2259-4AC2-01752E94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5CAB4F-976E-067D-BF6A-BD78E07C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17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DF6190E-DEEE-F4D0-FC8D-B7D85B659261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96A923-4027-2A62-30DB-AA6989E29A89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Velocity field – Condition encoding – Calculation method</a:t>
              </a:r>
              <a:endParaRPr lang="en" altLang="ko-K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7551AF-B473-2C87-C7A3-E6B461C2E4A6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34B317-ABA3-F386-5FFE-D5ECA4180E1E}"/>
                  </a:ext>
                </a:extLst>
              </p:cNvPr>
              <p:cNvSpPr txBox="1"/>
              <p:nvPr/>
            </p:nvSpPr>
            <p:spPr>
              <a:xfrm>
                <a:off x="850900" y="1157249"/>
                <a:ext cx="10284460" cy="681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00B050"/>
                    </a:solidFill>
                  </a:rPr>
                  <a:t>Condition(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B050"/>
                    </a:solidFill>
                  </a:rPr>
                  <a:t>) = perturbations + covariate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)=[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𝑂𝑛𝑒𝐻𝑜𝑡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𝑂𝑛𝑒𝐻𝑜𝑡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𝑐𝑜𝑣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34B317-ABA3-F386-5FFE-D5ECA4180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1157249"/>
                <a:ext cx="10284460" cy="681982"/>
              </a:xfrm>
              <a:prstGeom prst="rect">
                <a:avLst/>
              </a:prstGeom>
              <a:blipFill>
                <a:blip r:embed="rId3"/>
                <a:stretch>
                  <a:fillRect l="-533" t="-21429" b="-98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4F1652-1967-8D9F-257B-A5223AE774A6}"/>
              </a:ext>
            </a:extLst>
          </p:cNvPr>
          <p:cNvSpPr txBox="1"/>
          <p:nvPr/>
        </p:nvSpPr>
        <p:spPr>
          <a:xfrm>
            <a:off x="8105775" y="2446770"/>
            <a:ext cx="185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4809221-3D5F-3680-C851-0B8BDF780D60}"/>
              </a:ext>
            </a:extLst>
          </p:cNvPr>
          <p:cNvSpPr/>
          <p:nvPr/>
        </p:nvSpPr>
        <p:spPr>
          <a:xfrm>
            <a:off x="4455886" y="1466716"/>
            <a:ext cx="188685" cy="340991"/>
          </a:xfrm>
          <a:prstGeom prst="ellipse">
            <a:avLst/>
          </a:prstGeom>
          <a:noFill/>
          <a:ln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A9C30-F54A-8D5D-342C-7D2B325A8DDF}"/>
              </a:ext>
            </a:extLst>
          </p:cNvPr>
          <p:cNvSpPr txBox="1"/>
          <p:nvPr/>
        </p:nvSpPr>
        <p:spPr>
          <a:xfrm>
            <a:off x="4042227" y="1764788"/>
            <a:ext cx="101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u="sng" dirty="0" err="1">
                <a:solidFill>
                  <a:srgbClr val="2804DA"/>
                </a:solidFill>
              </a:rPr>
              <a:t>concat</a:t>
            </a:r>
            <a:endParaRPr lang="ko-KR" altLang="en-US" b="1" u="sng" dirty="0">
              <a:solidFill>
                <a:srgbClr val="2804D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E3882-8920-CCB1-8B0A-A6B3F04CE1D3}"/>
              </a:ext>
            </a:extLst>
          </p:cNvPr>
          <p:cNvSpPr txBox="1"/>
          <p:nvPr/>
        </p:nvSpPr>
        <p:spPr>
          <a:xfrm>
            <a:off x="850900" y="2134120"/>
            <a:ext cx="982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4. Eash Cell’s state after OneHot encoding </a:t>
            </a:r>
            <a:endParaRPr lang="ko-KR" altLang="en-US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4BCF5D-9B5B-BC6D-1D60-185AF21476E1}"/>
              </a:ext>
            </a:extLst>
          </p:cNvPr>
          <p:cNvSpPr/>
          <p:nvPr/>
        </p:nvSpPr>
        <p:spPr>
          <a:xfrm>
            <a:off x="1453924" y="2631436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Cell1 (Single)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{MYC};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[1]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A549;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1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E7D10D2-37F0-FDF5-94ED-0E700E2757D2}"/>
              </a:ext>
            </a:extLst>
          </p:cNvPr>
          <p:cNvSpPr/>
          <p:nvPr/>
        </p:nvSpPr>
        <p:spPr>
          <a:xfrm>
            <a:off x="8469087" y="2631436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Cell3 (control)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 }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MCF7;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 =2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8A544BA-053F-745B-0402-601944BD474A}"/>
              </a:ext>
            </a:extLst>
          </p:cNvPr>
          <p:cNvSpPr/>
          <p:nvPr/>
        </p:nvSpPr>
        <p:spPr>
          <a:xfrm>
            <a:off x="4943929" y="2631436"/>
            <a:ext cx="2206171" cy="1283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Cell2 (combo)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Pert = {TP53, KRAS};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[0, 2]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Cov = K562; </a:t>
            </a:r>
            <a:r>
              <a:rPr lang="en-US" altLang="ko-KR" sz="1400" dirty="0" err="1">
                <a:solidFill>
                  <a:schemeClr val="tx1"/>
                </a:solidFill>
              </a:rPr>
              <a:t>idx</a:t>
            </a:r>
            <a:r>
              <a:rPr lang="en-US" altLang="ko-KR" sz="1400" dirty="0">
                <a:solidFill>
                  <a:schemeClr val="tx1"/>
                </a:solidFill>
              </a:rPr>
              <a:t> = 0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71610-4BBE-1D17-E564-2679F081EC05}"/>
              </a:ext>
            </a:extLst>
          </p:cNvPr>
          <p:cNvSpPr txBox="1"/>
          <p:nvPr/>
        </p:nvSpPr>
        <p:spPr>
          <a:xfrm>
            <a:off x="1453923" y="4107540"/>
            <a:ext cx="2206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Pert = [0, 1, 0, 0, 0]</a:t>
            </a:r>
          </a:p>
          <a:p>
            <a:r>
              <a:rPr lang="en-US" altLang="ko-KR" dirty="0"/>
              <a:t>Cov = [0, 1, 0]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221D4-04B0-1854-F51D-AEBB01C7A36F}"/>
              </a:ext>
            </a:extLst>
          </p:cNvPr>
          <p:cNvSpPr txBox="1"/>
          <p:nvPr/>
        </p:nvSpPr>
        <p:spPr>
          <a:xfrm>
            <a:off x="8469087" y="4049746"/>
            <a:ext cx="2206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Pert = [0, 0, 0, 0, 0]</a:t>
            </a:r>
          </a:p>
          <a:p>
            <a:r>
              <a:rPr lang="en-US" altLang="ko-KR" dirty="0"/>
              <a:t>Cov = [0, 0, 1]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A3605-F2D2-ADB2-DB2D-D58DFB77E7A1}"/>
              </a:ext>
            </a:extLst>
          </p:cNvPr>
          <p:cNvSpPr txBox="1"/>
          <p:nvPr/>
        </p:nvSpPr>
        <p:spPr>
          <a:xfrm>
            <a:off x="4943928" y="4107540"/>
            <a:ext cx="2206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Pert = [1, 0, 1, 0, 0]</a:t>
            </a:r>
          </a:p>
          <a:p>
            <a:r>
              <a:rPr lang="en-US" altLang="ko-KR" dirty="0"/>
              <a:t>Cov = [1, 0, 0]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83954-AA6E-2934-83BB-6805613A6C20}"/>
              </a:ext>
            </a:extLst>
          </p:cNvPr>
          <p:cNvSpPr txBox="1"/>
          <p:nvPr/>
        </p:nvSpPr>
        <p:spPr>
          <a:xfrm>
            <a:off x="1068614" y="5149486"/>
            <a:ext cx="326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Enc = [0, 1, 0, 0, 0, 0, 1, 0]</a:t>
            </a:r>
            <a:endParaRPr lang="ko-KR" alt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BF6AD0-965B-FCDE-841D-9B4A3CDED04C}"/>
              </a:ext>
            </a:extLst>
          </p:cNvPr>
          <p:cNvSpPr txBox="1"/>
          <p:nvPr/>
        </p:nvSpPr>
        <p:spPr>
          <a:xfrm>
            <a:off x="4464050" y="5146401"/>
            <a:ext cx="326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Enc = [1, 0, 1, 0, 0, 1, 0, 0]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0481D7-6734-99AE-FAD0-0573E382DAC6}"/>
              </a:ext>
            </a:extLst>
          </p:cNvPr>
          <p:cNvSpPr txBox="1"/>
          <p:nvPr/>
        </p:nvSpPr>
        <p:spPr>
          <a:xfrm>
            <a:off x="7940222" y="5146401"/>
            <a:ext cx="326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Enc = [0, 0, 0, 0, 0, 0, 0, 1]</a:t>
            </a:r>
            <a:endParaRPr lang="ko-KR" alt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14AC9D-EA5F-2932-5A22-B140BE5EDD06}"/>
              </a:ext>
            </a:extLst>
          </p:cNvPr>
          <p:cNvSpPr txBox="1"/>
          <p:nvPr/>
        </p:nvSpPr>
        <p:spPr>
          <a:xfrm>
            <a:off x="7206345" y="1495178"/>
            <a:ext cx="318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FF0000"/>
                </a:solidFill>
              </a:rPr>
              <a:t>[1, 0, </a:t>
            </a:r>
            <a:r>
              <a:rPr lang="en-US" altLang="ko-KR" dirty="0">
                <a:solidFill>
                  <a:srgbClr val="FF0000"/>
                </a:solidFill>
              </a:rPr>
              <a:t>0, 0, 0] + [0, 0, 1, 0, 0]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187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8611-A4A5-A504-C945-7D067C32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E038-0F0A-EADB-F187-4042745F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30582-8A7A-3839-ECCB-CE8384CD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18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1764AF-1185-1A8D-3A3C-8C779B1CBCCB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0F6122-E99A-FA06-FE40-54BA7641FBDE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Why U-Net..?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01CFCE0-7FEB-13B3-D8DB-0EE04C0FE994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5E4D4B-394A-6202-CE9B-72B151465F1D}"/>
                  </a:ext>
                </a:extLst>
              </p:cNvPr>
              <p:cNvSpPr txBox="1"/>
              <p:nvPr/>
            </p:nvSpPr>
            <p:spPr>
              <a:xfrm>
                <a:off x="687416" y="1368842"/>
                <a:ext cx="11047383" cy="39866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ko-KR" b="1" dirty="0"/>
                  <a:t>① Implementation</a:t>
                </a:r>
                <a:endParaRPr lang="ko-KR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/>
                  <a:t>Velocity field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ko-KR" dirty="0"/>
                  <a:t> parameterized with </a:t>
                </a:r>
                <a:r>
                  <a:rPr lang="ko-KR" altLang="ko-KR" dirty="0" err="1"/>
                  <a:t>a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U</a:t>
                </a:r>
                <a:r>
                  <a:rPr lang="ko-KR" altLang="ko-KR" dirty="0"/>
                  <a:t>-Net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 err="1"/>
                  <a:t>Based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on</a:t>
                </a:r>
                <a:r>
                  <a:rPr lang="ko-KR" altLang="ko-KR" dirty="0"/>
                  <a:t> </a:t>
                </a:r>
                <a:r>
                  <a:rPr lang="ko-KR" altLang="ko-KR" b="1" dirty="0" err="1"/>
                  <a:t>OpenAI's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guided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diffusion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library</a:t>
                </a:r>
                <a:r>
                  <a:rPr lang="ko-KR" altLang="ko-KR" b="1" dirty="0"/>
                  <a:t> </a:t>
                </a:r>
                <a:r>
                  <a:rPr lang="ko-KR" altLang="ko-KR" b="1" i="1" dirty="0"/>
                  <a:t>(</a:t>
                </a:r>
                <a:r>
                  <a:rPr lang="ko-KR" altLang="ko-KR" b="1" i="1" dirty="0" err="1"/>
                  <a:t>Dhariwal</a:t>
                </a:r>
                <a:r>
                  <a:rPr lang="ko-KR" altLang="ko-KR" b="1" i="1" dirty="0"/>
                  <a:t> &amp; </a:t>
                </a:r>
                <a:r>
                  <a:rPr lang="ko-KR" altLang="ko-KR" b="1" i="1" dirty="0" err="1"/>
                  <a:t>Nichol</a:t>
                </a:r>
                <a:r>
                  <a:rPr lang="ko-KR" altLang="ko-KR" b="1" i="1" dirty="0"/>
                  <a:t>, 2021)</a:t>
                </a:r>
                <a:endParaRPr lang="en-US" altLang="ko-KR" b="1" i="1" dirty="0"/>
              </a:p>
              <a:p>
                <a:endParaRPr lang="ko-KR" altLang="ko-KR" dirty="0"/>
              </a:p>
              <a:p>
                <a:pPr>
                  <a:buNone/>
                </a:pPr>
                <a:r>
                  <a:rPr lang="ko-KR" altLang="ko-KR" b="1" dirty="0"/>
                  <a:t>② </a:t>
                </a:r>
                <a:r>
                  <a:rPr lang="ko-KR" altLang="ko-KR" b="1" dirty="0" err="1"/>
                  <a:t>Theoretical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dilemma</a:t>
                </a:r>
                <a:endParaRPr lang="ko-KR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 err="1"/>
                  <a:t>U-Nets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capture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spatial</a:t>
                </a:r>
                <a:r>
                  <a:rPr lang="ko-KR" altLang="ko-KR" dirty="0"/>
                  <a:t>/</a:t>
                </a:r>
                <a:r>
                  <a:rPr lang="ko-KR" altLang="ko-KR" dirty="0" err="1"/>
                  <a:t>neighbor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structure</a:t>
                </a:r>
                <a:r>
                  <a:rPr lang="ko-KR" altLang="ko-KR" dirty="0"/>
                  <a:t> (</a:t>
                </a:r>
                <a:r>
                  <a:rPr lang="ko-KR" altLang="ko-KR" dirty="0" err="1"/>
                  <a:t>e.g</a:t>
                </a:r>
                <a:r>
                  <a:rPr lang="ko-KR" altLang="ko-KR" dirty="0"/>
                  <a:t>., </a:t>
                </a:r>
                <a:r>
                  <a:rPr lang="ko-KR" altLang="ko-KR" dirty="0" err="1"/>
                  <a:t>adjacent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pixels</a:t>
                </a:r>
                <a:r>
                  <a:rPr lang="ko-KR" altLang="ko-KR" dirty="0"/>
                  <a:t>)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b="1" dirty="0" err="1"/>
                  <a:t>But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gene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ordering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is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arbitrary</a:t>
                </a:r>
                <a:r>
                  <a:rPr lang="ko-KR" altLang="ko-KR" b="1" dirty="0"/>
                  <a:t> </a:t>
                </a:r>
                <a:r>
                  <a:rPr lang="ko-KR" altLang="ko-KR" dirty="0"/>
                  <a:t>→ </a:t>
                </a:r>
                <a:r>
                  <a:rPr lang="ko-KR" altLang="ko-KR" dirty="0" err="1"/>
                  <a:t>assumption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breaks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b="1" dirty="0" err="1"/>
                  <a:t>Permutation-invariant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architecture</a:t>
                </a:r>
                <a:r>
                  <a:rPr lang="ko-KR" altLang="ko-KR" b="1" dirty="0"/>
                  <a:t> (</a:t>
                </a:r>
                <a:r>
                  <a:rPr lang="ko-KR" altLang="ko-KR" b="1" dirty="0" err="1"/>
                  <a:t>e.g</a:t>
                </a:r>
                <a:r>
                  <a:rPr lang="ko-KR" altLang="ko-KR" b="1" dirty="0"/>
                  <a:t>., </a:t>
                </a:r>
                <a:r>
                  <a:rPr lang="ko-KR" altLang="ko-KR" b="1" dirty="0" err="1"/>
                  <a:t>Transformer</a:t>
                </a:r>
                <a:r>
                  <a:rPr lang="ko-KR" altLang="ko-KR" b="1" dirty="0"/>
                  <a:t>) </a:t>
                </a:r>
                <a:r>
                  <a:rPr lang="ko-KR" altLang="ko-KR" b="1" dirty="0" err="1"/>
                  <a:t>theoretically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better</a:t>
                </a:r>
                <a:endParaRPr lang="en-US" altLang="ko-KR" b="1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ko-KR" altLang="ko-KR" dirty="0"/>
              </a:p>
              <a:p>
                <a:pPr>
                  <a:buNone/>
                </a:pPr>
                <a:r>
                  <a:rPr lang="ko-KR" altLang="ko-KR" b="1" dirty="0"/>
                  <a:t>③ </a:t>
                </a:r>
                <a:r>
                  <a:rPr lang="ko-KR" altLang="ko-KR" b="1" dirty="0" err="1"/>
                  <a:t>Why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U</a:t>
                </a:r>
                <a:r>
                  <a:rPr lang="ko-KR" altLang="ko-KR" b="1" dirty="0"/>
                  <a:t>-Net </a:t>
                </a:r>
                <a:r>
                  <a:rPr lang="ko-KR" altLang="ko-KR" b="1" dirty="0" err="1"/>
                  <a:t>anyway</a:t>
                </a:r>
                <a:endParaRPr lang="ko-KR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 err="1"/>
                  <a:t>Parameter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efficient</a:t>
                </a:r>
                <a:r>
                  <a:rPr lang="ko-KR" altLang="ko-KR" dirty="0"/>
                  <a:t> (</a:t>
                </a:r>
                <a:r>
                  <a:rPr lang="ko-KR" altLang="ko-KR" dirty="0" err="1"/>
                  <a:t>vs</a:t>
                </a:r>
                <a:r>
                  <a:rPr lang="ko-KR" altLang="ko-KR" dirty="0"/>
                  <a:t>. </a:t>
                </a:r>
                <a:r>
                  <a:rPr lang="ko-KR" altLang="ko-KR" dirty="0" err="1"/>
                  <a:t>Transformer</a:t>
                </a:r>
                <a:r>
                  <a:rPr lang="ko-KR" altLang="ko-KR" dirty="0"/>
                  <a:t>)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 err="1"/>
                  <a:t>Much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lower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compute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dirty="0" err="1"/>
                  <a:t>Empirically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outperforms</a:t>
                </a:r>
                <a:r>
                  <a:rPr lang="ko-KR" altLang="ko-KR" dirty="0"/>
                  <a:t> MLP (→ </a:t>
                </a:r>
                <a:r>
                  <a:rPr lang="ko-KR" altLang="ko-KR" dirty="0" err="1"/>
                  <a:t>see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Results</a:t>
                </a:r>
                <a:r>
                  <a:rPr lang="ko-KR" altLang="ko-KR" dirty="0"/>
                  <a:t>)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ko-KR" altLang="ko-KR" b="1" dirty="0" err="1">
                    <a:solidFill>
                      <a:srgbClr val="2804DA"/>
                    </a:solidFill>
                  </a:rPr>
                  <a:t>Why</a:t>
                </a:r>
                <a:r>
                  <a:rPr lang="ko-KR" altLang="ko-KR" b="1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b="1" dirty="0" err="1">
                    <a:solidFill>
                      <a:srgbClr val="2804DA"/>
                    </a:solidFill>
                  </a:rPr>
                  <a:t>it</a:t>
                </a:r>
                <a:r>
                  <a:rPr lang="ko-KR" altLang="ko-KR" b="1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b="1" dirty="0" err="1">
                    <a:solidFill>
                      <a:srgbClr val="2804DA"/>
                    </a:solidFill>
                  </a:rPr>
                  <a:t>works</a:t>
                </a:r>
                <a:r>
                  <a:rPr lang="ko-KR" altLang="ko-KR" b="1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b="1" dirty="0" err="1">
                    <a:solidFill>
                      <a:srgbClr val="2804DA"/>
                    </a:solidFill>
                  </a:rPr>
                  <a:t>so</a:t>
                </a:r>
                <a:r>
                  <a:rPr lang="ko-KR" altLang="ko-KR" b="1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b="1" dirty="0" err="1">
                    <a:solidFill>
                      <a:srgbClr val="2804DA"/>
                    </a:solidFill>
                  </a:rPr>
                  <a:t>well</a:t>
                </a:r>
                <a:r>
                  <a:rPr lang="en-US" altLang="ko-KR" b="1" dirty="0">
                    <a:solidFill>
                      <a:srgbClr val="2804DA"/>
                    </a:solidFill>
                  </a:rPr>
                  <a:t>?</a:t>
                </a:r>
                <a:r>
                  <a:rPr lang="ko-KR" altLang="ko-KR" dirty="0">
                    <a:solidFill>
                      <a:srgbClr val="2804DA"/>
                    </a:solidFill>
                  </a:rPr>
                  <a:t>: </a:t>
                </a:r>
                <a:r>
                  <a:rPr lang="ko-KR" altLang="ko-KR" dirty="0" err="1">
                    <a:solidFill>
                      <a:srgbClr val="2804DA"/>
                    </a:solidFill>
                  </a:rPr>
                  <a:t>still</a:t>
                </a:r>
                <a:r>
                  <a:rPr lang="ko-KR" altLang="ko-KR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dirty="0" err="1">
                    <a:solidFill>
                      <a:srgbClr val="2804DA"/>
                    </a:solidFill>
                  </a:rPr>
                  <a:t>an</a:t>
                </a:r>
                <a:r>
                  <a:rPr lang="ko-KR" altLang="ko-KR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dirty="0" err="1">
                    <a:solidFill>
                      <a:srgbClr val="2804DA"/>
                    </a:solidFill>
                  </a:rPr>
                  <a:t>open</a:t>
                </a:r>
                <a:r>
                  <a:rPr lang="ko-KR" altLang="ko-KR" dirty="0">
                    <a:solidFill>
                      <a:srgbClr val="2804DA"/>
                    </a:solidFill>
                  </a:rPr>
                  <a:t> </a:t>
                </a:r>
                <a:r>
                  <a:rPr lang="ko-KR" altLang="ko-KR" dirty="0" err="1">
                    <a:solidFill>
                      <a:srgbClr val="2804DA"/>
                    </a:solidFill>
                  </a:rPr>
                  <a:t>question</a:t>
                </a:r>
                <a:endParaRPr lang="ko-KR" altLang="ko-KR" dirty="0">
                  <a:solidFill>
                    <a:srgbClr val="2804DA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5E4D4B-394A-6202-CE9B-72B15146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16" y="1368842"/>
                <a:ext cx="11047383" cy="3986604"/>
              </a:xfrm>
              <a:prstGeom prst="rect">
                <a:avLst/>
              </a:prstGeom>
              <a:blipFill>
                <a:blip r:embed="rId3"/>
                <a:stretch>
                  <a:fillRect l="-497" t="-917" b="-18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64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51B5-8BDB-1BE4-4028-99C0B891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ECB22-6FEF-D072-42A6-0B6104EA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D77522-709F-567D-A153-8603462F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19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E33ABE-CE6B-0EE1-049C-36CFA8354285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0764C1-4D9C-81A4-6415-AA6E9D55E99C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Learning &amp; Ablation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4B7B36-6F1C-E27E-EE0B-C3CC1A65090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AB85DE-D9DB-4F9C-1F12-AF67B0F8F743}"/>
                  </a:ext>
                </a:extLst>
              </p:cNvPr>
              <p:cNvSpPr txBox="1"/>
              <p:nvPr/>
            </p:nvSpPr>
            <p:spPr>
              <a:xfrm>
                <a:off x="687417" y="1170056"/>
                <a:ext cx="11179365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ko-KR" b="1" dirty="0"/>
                  <a:t>① </a:t>
                </a:r>
                <a:r>
                  <a:rPr lang="en-US" altLang="ko-KR" b="1" dirty="0"/>
                  <a:t>Learning method: </a:t>
                </a:r>
                <a:r>
                  <a:rPr lang="en-US" altLang="ko-KR" dirty="0"/>
                  <a:t>Configure probability path through independent coupling</a:t>
                </a:r>
              </a:p>
              <a:p>
                <a:r>
                  <a:rPr lang="en-US" altLang="ko-KR" b="1" dirty="0"/>
                  <a:t> 	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/>
                  <a:t>	</a:t>
                </a:r>
                <a:r>
                  <a:rPr lang="en-US" altLang="ko-KR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Standard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en-US" altLang="ko-KR" dirty="0"/>
                  <a:t>aussian,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ko-KR" dirty="0"/>
                  <a:t> = perturbed + control cell group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	- </a:t>
                </a:r>
                <a:r>
                  <a:rPr lang="en-US" altLang="ko-KR" b="1" dirty="0"/>
                  <a:t>Target velocity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	- For classifier-free guidance, learn by dropping states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𝒖𝒏𝒄𝒐𝒏𝒅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	- </a:t>
                </a:r>
                <a:r>
                  <a:rPr lang="en-US" altLang="ko-KR" b="1" dirty="0"/>
                  <a:t>Loss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𝑪𝑭𝑴</m:t>
                        </m:r>
                      </m:sub>
                    </m:sSub>
                  </m:oMath>
                </a14:m>
                <a:endParaRPr lang="ko-KR" altLang="ko-KR" b="1" dirty="0"/>
              </a:p>
              <a:p>
                <a:pPr lvl="1"/>
                <a:endParaRPr lang="ko-KR" altLang="ko-KR" dirty="0"/>
              </a:p>
              <a:p>
                <a:pPr>
                  <a:buNone/>
                </a:pPr>
                <a:r>
                  <a:rPr lang="ko-KR" altLang="ko-KR" b="1" dirty="0"/>
                  <a:t>②</a:t>
                </a:r>
                <a:r>
                  <a:rPr lang="en-US" altLang="ko-KR" b="1" dirty="0"/>
                  <a:t> Ablation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models</a:t>
                </a:r>
              </a:p>
              <a:p>
                <a:pPr>
                  <a:buNone/>
                </a:pPr>
                <a:endParaRPr lang="ko-KR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 err="1"/>
                  <a:t>PRiMeFlow</a:t>
                </a:r>
                <a:r>
                  <a:rPr lang="en-US" altLang="ko-KR" b="1" dirty="0"/>
                  <a:t> MLP</a:t>
                </a:r>
                <a:r>
                  <a:rPr lang="en-US" altLang="ko-KR" dirty="0"/>
                  <a:t>: </a:t>
                </a:r>
                <a:r>
                  <a:rPr lang="ko-KR" altLang="ko-KR" dirty="0" err="1"/>
                  <a:t>Replace</a:t>
                </a:r>
                <a:r>
                  <a:rPr lang="ko-KR" altLang="ko-KR" dirty="0"/>
                  <a:t> with </a:t>
                </a:r>
                <a:r>
                  <a:rPr lang="ko-KR" altLang="ko-KR" dirty="0" err="1"/>
                  <a:t>U</a:t>
                </a:r>
                <a:r>
                  <a:rPr lang="ko-KR" altLang="ko-KR" dirty="0"/>
                  <a:t>-Net → MLP → </a:t>
                </a:r>
                <a:r>
                  <a:rPr lang="en-US" altLang="ko-KR" dirty="0"/>
                  <a:t>verify of </a:t>
                </a:r>
                <a:r>
                  <a:rPr lang="ko-KR" altLang="ko-KR" dirty="0" err="1"/>
                  <a:t>architecture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selection</a:t>
                </a: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 err="1"/>
                  <a:t>FlowMatching</a:t>
                </a:r>
                <a:r>
                  <a:rPr lang="en-US" altLang="ko-KR" b="1" dirty="0"/>
                  <a:t> PCA</a:t>
                </a:r>
                <a:r>
                  <a:rPr lang="en-US" altLang="ko-KR" dirty="0"/>
                  <a:t>: Expression space </a:t>
                </a:r>
                <a:r>
                  <a:rPr lang="ko-KR" altLang="ko-KR" dirty="0"/>
                  <a:t>→</a:t>
                </a:r>
                <a:r>
                  <a:rPr lang="en-US" altLang="ko-KR" dirty="0"/>
                  <a:t> PCA space </a:t>
                </a:r>
                <a:r>
                  <a:rPr lang="ko-KR" altLang="ko-KR" dirty="0"/>
                  <a:t>→</a:t>
                </a:r>
                <a:r>
                  <a:rPr lang="en-US" altLang="ko-KR" dirty="0"/>
                  <a:t> verify of the value of end-to-end(expression space)</a:t>
                </a:r>
              </a:p>
              <a:p>
                <a:pPr marL="742950" lvl="1" indent="-285750">
                  <a:buFontTx/>
                  <a:buChar char="-"/>
                </a:pPr>
                <a:endParaRPr lang="en-US" altLang="ko-KR" dirty="0"/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 err="1"/>
                  <a:t>FlowMatching</a:t>
                </a:r>
                <a:r>
                  <a:rPr lang="en-US" altLang="ko-KR" b="1" dirty="0"/>
                  <a:t> PCA OT</a:t>
                </a:r>
                <a:r>
                  <a:rPr lang="en-US" altLang="ko-KR" dirty="0"/>
                  <a:t>: PCA + optimal transport coupling </a:t>
                </a:r>
                <a:r>
                  <a:rPr lang="ko-KR" altLang="ko-KR" dirty="0"/>
                  <a:t>→</a:t>
                </a:r>
                <a:r>
                  <a:rPr lang="en-US" altLang="ko-KR" dirty="0"/>
                  <a:t> verify of coupling way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AB85DE-D9DB-4F9C-1F12-AF67B0F8F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17" y="1170056"/>
                <a:ext cx="11179365" cy="4801314"/>
              </a:xfrm>
              <a:prstGeom prst="rect">
                <a:avLst/>
              </a:prstGeom>
              <a:blipFill>
                <a:blip r:embed="rId3"/>
                <a:stretch>
                  <a:fillRect l="-491" t="-761" b="-13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938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B0F4-5EAA-2EA7-7BA2-A07A9D5D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CB437-6BFA-184B-B146-45E0D214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9460E-9F96-510C-F65F-612DDF36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20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E7C3D70-78BF-CECC-4AE5-AF93A3C403CD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12E456-48E3-9EE0-4BC7-057700B9FCAA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Setup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A32DF9-8720-8FF2-18B7-65A532374B3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9CB29E8-4E8E-C721-AFE3-DB683048DC1F}"/>
              </a:ext>
            </a:extLst>
          </p:cNvPr>
          <p:cNvSpPr txBox="1"/>
          <p:nvPr/>
        </p:nvSpPr>
        <p:spPr>
          <a:xfrm>
            <a:off x="546100" y="1587500"/>
            <a:ext cx="9474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Benchmark:</a:t>
            </a:r>
            <a:r>
              <a:rPr lang="en-US" altLang="ko-KR" dirty="0"/>
              <a:t> </a:t>
            </a:r>
            <a:r>
              <a:rPr lang="en-US" altLang="ko-KR" dirty="0" err="1"/>
              <a:t>PerturBench</a:t>
            </a:r>
            <a:r>
              <a:rPr lang="en-US" altLang="ko-KR" dirty="0"/>
              <a:t> </a:t>
            </a:r>
            <a:r>
              <a:rPr lang="en-US" altLang="ko-KR" b="1" i="1" dirty="0"/>
              <a:t>(Wu et al., 2024)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Covariate transfer</a:t>
            </a:r>
            <a:r>
              <a:rPr lang="en-US" altLang="ko-KR" dirty="0"/>
              <a:t>: </a:t>
            </a:r>
            <a:r>
              <a:rPr lang="en-US" altLang="ko-KR" b="1" u="sng" dirty="0"/>
              <a:t>Srivatsan20</a:t>
            </a:r>
            <a:r>
              <a:rPr lang="en-US" altLang="ko-KR" dirty="0"/>
              <a:t> (188 drugs), </a:t>
            </a:r>
            <a:r>
              <a:rPr lang="en-US" altLang="ko-KR" b="1" u="sng" dirty="0"/>
              <a:t>Jiang24</a:t>
            </a:r>
            <a:r>
              <a:rPr lang="en-US" altLang="ko-KR" dirty="0"/>
              <a:t> (219 genes)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Combo prediction</a:t>
            </a:r>
            <a:r>
              <a:rPr lang="en-US" altLang="ko-KR" dirty="0"/>
              <a:t>: </a:t>
            </a:r>
            <a:r>
              <a:rPr lang="en-US" altLang="ko-KR" b="1" u="sng" dirty="0"/>
              <a:t>Norman19</a:t>
            </a:r>
            <a:r>
              <a:rPr lang="en-US" altLang="ko-KR" dirty="0"/>
              <a:t> (131 dual perturbations)</a:t>
            </a:r>
          </a:p>
          <a:p>
            <a:endParaRPr lang="en-US" altLang="ko-KR" dirty="0"/>
          </a:p>
          <a:p>
            <a:r>
              <a:rPr lang="en-US" altLang="ko-KR" b="1" dirty="0"/>
              <a:t>Two metric axes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Distribution-based</a:t>
            </a:r>
            <a:r>
              <a:rPr lang="en-US" altLang="ko-KR" dirty="0"/>
              <a:t>: MMD(GEX/PCA), DEG recall ~ </a:t>
            </a:r>
            <a:r>
              <a:rPr lang="en-US" altLang="ko-KR" dirty="0">
                <a:solidFill>
                  <a:srgbClr val="2804DA"/>
                </a:solidFill>
              </a:rPr>
              <a:t>captures the whole distribution</a:t>
            </a:r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Pseudobulk</a:t>
            </a:r>
            <a:r>
              <a:rPr lang="en-US" altLang="ko-KR" b="1" dirty="0"/>
              <a:t> mean</a:t>
            </a:r>
            <a:r>
              <a:rPr lang="en-US" altLang="ko-KR" dirty="0"/>
              <a:t>: </a:t>
            </a:r>
            <a:r>
              <a:rPr lang="en-US" altLang="ko-KR" dirty="0" err="1"/>
              <a:t>LogFC</a:t>
            </a:r>
            <a:r>
              <a:rPr lang="en-US" altLang="ko-KR" dirty="0"/>
              <a:t> cosine, RMSE ~ </a:t>
            </a:r>
            <a:r>
              <a:rPr lang="en-US" altLang="ko-KR" dirty="0">
                <a:solidFill>
                  <a:srgbClr val="2804DA"/>
                </a:solidFill>
              </a:rPr>
              <a:t>captures the average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b="1" dirty="0"/>
              <a:t>Eval:</a:t>
            </a:r>
            <a:r>
              <a:rPr lang="en-US" altLang="ko-KR" dirty="0"/>
              <a:t> 5 seeds, 1000 sampled cells/model, 100 </a:t>
            </a:r>
            <a:r>
              <a:rPr lang="en-US" altLang="ko-KR" dirty="0" err="1"/>
              <a:t>euler</a:t>
            </a:r>
            <a:r>
              <a:rPr lang="en-US" altLang="ko-KR" dirty="0"/>
              <a:t> steps, CFG 1-5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F00F4-0BDA-8B9A-2F49-BE2AB77A1E07}"/>
              </a:ext>
            </a:extLst>
          </p:cNvPr>
          <p:cNvSpPr txBox="1"/>
          <p:nvPr/>
        </p:nvSpPr>
        <p:spPr>
          <a:xfrm>
            <a:off x="0" y="5920660"/>
            <a:ext cx="956310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/>
              <a:t>* </a:t>
            </a:r>
            <a:r>
              <a:rPr lang="ko-KR" altLang="ko-KR" sz="1200" b="1" dirty="0"/>
              <a:t>MMD (GEX/PCA)</a:t>
            </a:r>
            <a:r>
              <a:rPr lang="en-US" altLang="ko-KR" sz="1200" b="1" dirty="0"/>
              <a:t>, DEG recall </a:t>
            </a:r>
            <a:r>
              <a:rPr lang="en-US" altLang="ko-KR" sz="1200" dirty="0"/>
              <a:t>: </a:t>
            </a:r>
            <a:r>
              <a:rPr lang="ko-KR" altLang="ko-KR" sz="1200" dirty="0"/>
              <a:t>세포들이 만드는 </a:t>
            </a:r>
            <a:r>
              <a:rPr lang="ko-KR" altLang="ko-KR" sz="1200" b="1" dirty="0"/>
              <a:t>분포 전체</a:t>
            </a:r>
            <a:r>
              <a:rPr lang="ko-KR" altLang="ko-KR" sz="1200" dirty="0"/>
              <a:t>가 </a:t>
            </a:r>
            <a:r>
              <a:rPr lang="ko-KR" altLang="ko-KR" sz="1200" dirty="0" err="1"/>
              <a:t>비슷한가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B1A03E-598C-6CA9-6020-F4999A7B7BC8}"/>
              </a:ext>
            </a:extLst>
          </p:cNvPr>
          <p:cNvSpPr txBox="1"/>
          <p:nvPr/>
        </p:nvSpPr>
        <p:spPr>
          <a:xfrm>
            <a:off x="0" y="6197659"/>
            <a:ext cx="956310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/>
              <a:t>* </a:t>
            </a:r>
            <a:r>
              <a:rPr lang="en-US" altLang="ko-KR" sz="1200" b="1" dirty="0" err="1"/>
              <a:t>Pseudobulk</a:t>
            </a:r>
            <a:r>
              <a:rPr lang="en-US" altLang="ko-KR" sz="1200" dirty="0"/>
              <a:t>: </a:t>
            </a:r>
            <a:r>
              <a:rPr lang="ko-KR" altLang="ko-KR" sz="1200" dirty="0"/>
              <a:t>세포들의 </a:t>
            </a:r>
            <a:r>
              <a:rPr lang="ko-KR" altLang="ko-KR" sz="1200" b="1" dirty="0"/>
              <a:t>평균 발현</a:t>
            </a:r>
            <a:r>
              <a:rPr lang="ko-KR" altLang="ko-KR" sz="1200" dirty="0"/>
              <a:t>이 </a:t>
            </a:r>
            <a:r>
              <a:rPr lang="ko-KR" altLang="ko-KR" sz="1200" dirty="0" err="1"/>
              <a:t>비슷한가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D90D5-A6BD-C023-1435-B5408A0732D7}"/>
              </a:ext>
            </a:extLst>
          </p:cNvPr>
          <p:cNvSpPr txBox="1"/>
          <p:nvPr/>
        </p:nvSpPr>
        <p:spPr>
          <a:xfrm>
            <a:off x="0" y="6474658"/>
            <a:ext cx="8948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</a:rPr>
              <a:t>* </a:t>
            </a:r>
            <a:r>
              <a:rPr lang="ko-KR" altLang="ko-KR" sz="1400" b="1" dirty="0">
                <a:solidFill>
                  <a:srgbClr val="0070C0"/>
                </a:solidFill>
              </a:rPr>
              <a:t>CFG (</a:t>
            </a:r>
            <a:r>
              <a:rPr lang="ko-KR" altLang="ko-KR" sz="1400" b="1" dirty="0" err="1">
                <a:solidFill>
                  <a:srgbClr val="0070C0"/>
                </a:solidFill>
              </a:rPr>
              <a:t>Classifier-Free</a:t>
            </a:r>
            <a:r>
              <a:rPr lang="ko-KR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ko-KR" sz="1400" b="1" dirty="0" err="1">
                <a:solidFill>
                  <a:srgbClr val="0070C0"/>
                </a:solidFill>
              </a:rPr>
              <a:t>Guidance</a:t>
            </a:r>
            <a:r>
              <a:rPr lang="en-US" altLang="ko-KR" sz="1400" b="1" dirty="0">
                <a:solidFill>
                  <a:srgbClr val="0070C0"/>
                </a:solidFill>
              </a:rPr>
              <a:t>):</a:t>
            </a:r>
            <a:r>
              <a:rPr lang="ko-KR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ko-KR" sz="1400" dirty="0" err="1">
                <a:solidFill>
                  <a:srgbClr val="0070C0"/>
                </a:solidFill>
              </a:rPr>
              <a:t>perturbation의</a:t>
            </a:r>
            <a:r>
              <a:rPr lang="ko-KR" altLang="ko-KR" sz="1400" dirty="0">
                <a:solidFill>
                  <a:srgbClr val="0070C0"/>
                </a:solidFill>
              </a:rPr>
              <a:t> 효과를 추론 때 얼마나 강하게 반영할지 조절하는 기법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061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2FD0-EE1B-C019-39B1-65B1E4BD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FCCBE-33FF-F5BA-FCDA-86E93BF1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6B018E-F524-341F-F9AD-85D74008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E8E8C3-5352-5E0D-6472-CC8EB75CB27B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74DD47-B2E4-63F0-63E6-07E7F912DED5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Covariate</a:t>
              </a:r>
              <a:r>
                <a:rPr lang="ko-KR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Transfer</a:t>
              </a:r>
              <a:r>
                <a:rPr lang="ko-KR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  <a:endParaRPr lang="en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B4533D-2C6E-619F-2182-1F61FE9D54E3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8FDB73BB-9A42-3393-BC89-3794DFCBF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96" y="1157249"/>
            <a:ext cx="9962408" cy="469347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88A157-4342-EBFA-9555-A4A517E09536}"/>
              </a:ext>
            </a:extLst>
          </p:cNvPr>
          <p:cNvSpPr/>
          <p:nvPr/>
        </p:nvSpPr>
        <p:spPr>
          <a:xfrm>
            <a:off x="3949700" y="2578100"/>
            <a:ext cx="2349500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E77F80-DECB-381B-5019-B9FC2A03AF36}"/>
              </a:ext>
            </a:extLst>
          </p:cNvPr>
          <p:cNvSpPr/>
          <p:nvPr/>
        </p:nvSpPr>
        <p:spPr>
          <a:xfrm>
            <a:off x="3949700" y="3848101"/>
            <a:ext cx="2349500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2DF4ED-7057-3F32-2A22-D61A5D9FDB3A}"/>
              </a:ext>
            </a:extLst>
          </p:cNvPr>
          <p:cNvSpPr/>
          <p:nvPr/>
        </p:nvSpPr>
        <p:spPr>
          <a:xfrm>
            <a:off x="3949700" y="4686302"/>
            <a:ext cx="2349500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CC3873-6AA4-1D42-162E-10377C64ABD7}"/>
              </a:ext>
            </a:extLst>
          </p:cNvPr>
          <p:cNvSpPr/>
          <p:nvPr/>
        </p:nvSpPr>
        <p:spPr>
          <a:xfrm>
            <a:off x="6338702" y="2578100"/>
            <a:ext cx="2309998" cy="431800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43213BC-53AB-F4B3-CF3B-1495200D6CF2}"/>
              </a:ext>
            </a:extLst>
          </p:cNvPr>
          <p:cNvSpPr/>
          <p:nvPr/>
        </p:nvSpPr>
        <p:spPr>
          <a:xfrm>
            <a:off x="6338702" y="3022600"/>
            <a:ext cx="2309998" cy="2095501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019365F-EFDB-7ED9-F33A-0BCE442E2BA7}"/>
              </a:ext>
            </a:extLst>
          </p:cNvPr>
          <p:cNvSpPr/>
          <p:nvPr/>
        </p:nvSpPr>
        <p:spPr>
          <a:xfrm>
            <a:off x="8688202" y="2590800"/>
            <a:ext cx="2260600" cy="4318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E4A863-B792-754F-2E19-B77C79A354AA}"/>
              </a:ext>
            </a:extLst>
          </p:cNvPr>
          <p:cNvSpPr/>
          <p:nvPr/>
        </p:nvSpPr>
        <p:spPr>
          <a:xfrm>
            <a:off x="8688202" y="4686301"/>
            <a:ext cx="2260600" cy="4318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FFDCBE-AB24-80B6-FA17-753ADABC0B89}"/>
              </a:ext>
            </a:extLst>
          </p:cNvPr>
          <p:cNvSpPr txBox="1"/>
          <p:nvPr/>
        </p:nvSpPr>
        <p:spPr>
          <a:xfrm>
            <a:off x="4175125" y="5121277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FF0000"/>
                </a:solidFill>
              </a:rPr>
              <a:t>PRiMeFlow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is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far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ahead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5F3C24-2264-CA34-36BC-E0957FD12EA8}"/>
              </a:ext>
            </a:extLst>
          </p:cNvPr>
          <p:cNvSpPr txBox="1"/>
          <p:nvPr/>
        </p:nvSpPr>
        <p:spPr>
          <a:xfrm>
            <a:off x="6544376" y="5130801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2804DA"/>
                </a:solidFill>
              </a:rPr>
              <a:t>PRiMeFlow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is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far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ahead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DB0B55-5B2D-5381-8694-4D07F6B7585E}"/>
              </a:ext>
            </a:extLst>
          </p:cNvPr>
          <p:cNvSpPr txBox="1"/>
          <p:nvPr/>
        </p:nvSpPr>
        <p:spPr>
          <a:xfrm>
            <a:off x="8869177" y="5130801"/>
            <a:ext cx="1898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C49500"/>
                </a:solidFill>
              </a:rPr>
              <a:t>Latent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leads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very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narrowly</a:t>
            </a:r>
            <a:endParaRPr lang="ko-KR" altLang="en-US" sz="1200" b="1" dirty="0">
              <a:solidFill>
                <a:srgbClr val="C495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A24ECC-09A1-75B3-FE6B-60D6A783EA2A}"/>
              </a:ext>
            </a:extLst>
          </p:cNvPr>
          <p:cNvSpPr txBox="1"/>
          <p:nvPr/>
        </p:nvSpPr>
        <p:spPr>
          <a:xfrm>
            <a:off x="0" y="6412470"/>
            <a:ext cx="912552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/>
              <a:t>* </a:t>
            </a:r>
            <a:r>
              <a:rPr lang="ko-KR" altLang="ko-KR" sz="1400" b="1" dirty="0"/>
              <a:t>CFG (</a:t>
            </a:r>
            <a:r>
              <a:rPr lang="ko-KR" altLang="ko-KR" sz="1400" b="1" dirty="0" err="1"/>
              <a:t>Classifier-Free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Guidance</a:t>
            </a:r>
            <a:r>
              <a:rPr lang="en-US" altLang="ko-KR" sz="1400" b="1" dirty="0"/>
              <a:t>):</a:t>
            </a:r>
            <a:r>
              <a:rPr lang="ko-KR" altLang="ko-KR" sz="1400" b="1" dirty="0"/>
              <a:t> </a:t>
            </a:r>
            <a:r>
              <a:rPr lang="en-US" altLang="ko-KR" sz="1400"/>
              <a:t>	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91922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0601-7619-D2DA-E8F4-A4DAA1FE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09AA9-C3E5-C7DE-5C50-414625A8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67CF46-A758-7C03-38DC-4397E49E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B4A3F7-971F-50C1-0172-FB8FEED0AEE8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AB5D73-887F-CFE9-B5D4-473E610927F4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Combo prediction</a:t>
              </a:r>
              <a:r>
                <a:rPr lang="ko-KR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  <a:endParaRPr lang="en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61C26F-CCD6-6AA5-7305-A60A66638020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BB5904C-6428-443B-CB73-D88996C2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98"/>
          <a:stretch>
            <a:fillRect/>
          </a:stretch>
        </p:blipFill>
        <p:spPr>
          <a:xfrm>
            <a:off x="1180231" y="1797892"/>
            <a:ext cx="9831537" cy="4469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D2231F-A3E3-CCA7-A582-A64C9B83FFE2}"/>
              </a:ext>
            </a:extLst>
          </p:cNvPr>
          <p:cNvSpPr txBox="1"/>
          <p:nvPr/>
        </p:nvSpPr>
        <p:spPr>
          <a:xfrm>
            <a:off x="1180231" y="1090617"/>
            <a:ext cx="933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Combo prediction: </a:t>
            </a:r>
            <a:r>
              <a:rPr lang="en-US" altLang="ko-KR" b="1" u="sng" dirty="0"/>
              <a:t>same trade-off pattern</a:t>
            </a:r>
          </a:p>
          <a:p>
            <a:r>
              <a:rPr lang="en-US" altLang="ko-KR" dirty="0"/>
              <a:t>- Only </a:t>
            </a:r>
            <a:r>
              <a:rPr lang="en-US" altLang="ko-KR" dirty="0" err="1"/>
              <a:t>PRiMeFlow</a:t>
            </a:r>
            <a:r>
              <a:rPr lang="en-US" altLang="ko-KR" dirty="0"/>
              <a:t> reaches meaningful top-50 DEG recall (0.54 vs ~0)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775AA5-5FD1-2843-55BF-B462D6F6F817}"/>
              </a:ext>
            </a:extLst>
          </p:cNvPr>
          <p:cNvSpPr/>
          <p:nvPr/>
        </p:nvSpPr>
        <p:spPr>
          <a:xfrm>
            <a:off x="6283799" y="3117143"/>
            <a:ext cx="2311400" cy="444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275532-9230-59C5-B679-D9881E2FC1C9}"/>
              </a:ext>
            </a:extLst>
          </p:cNvPr>
          <p:cNvSpPr/>
          <p:nvPr/>
        </p:nvSpPr>
        <p:spPr>
          <a:xfrm>
            <a:off x="6283799" y="3561643"/>
            <a:ext cx="2311400" cy="2019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40DAD9-3236-9C97-EFE6-FDB4BE4C9100}"/>
              </a:ext>
            </a:extLst>
          </p:cNvPr>
          <p:cNvSpPr/>
          <p:nvPr/>
        </p:nvSpPr>
        <p:spPr>
          <a:xfrm>
            <a:off x="3973801" y="3923593"/>
            <a:ext cx="2271898" cy="1657350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9CCD89-D0A0-35BE-0FCF-616CA4058066}"/>
              </a:ext>
            </a:extLst>
          </p:cNvPr>
          <p:cNvSpPr/>
          <p:nvPr/>
        </p:nvSpPr>
        <p:spPr>
          <a:xfrm>
            <a:off x="3973801" y="3117143"/>
            <a:ext cx="2271898" cy="444500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8330BD-7870-D985-BF99-2BE4B06802C5}"/>
              </a:ext>
            </a:extLst>
          </p:cNvPr>
          <p:cNvSpPr/>
          <p:nvPr/>
        </p:nvSpPr>
        <p:spPr>
          <a:xfrm>
            <a:off x="8633299" y="3129843"/>
            <a:ext cx="2260600" cy="4318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D9FF0A-59F9-32B3-F713-612CB2E96209}"/>
              </a:ext>
            </a:extLst>
          </p:cNvPr>
          <p:cNvSpPr/>
          <p:nvPr/>
        </p:nvSpPr>
        <p:spPr>
          <a:xfrm>
            <a:off x="8633299" y="4752268"/>
            <a:ext cx="2260600" cy="4318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129B0F-8509-B76F-ACB3-64F32D5F8AC8}"/>
              </a:ext>
            </a:extLst>
          </p:cNvPr>
          <p:cNvSpPr txBox="1"/>
          <p:nvPr/>
        </p:nvSpPr>
        <p:spPr>
          <a:xfrm>
            <a:off x="6490174" y="5641887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FF0000"/>
                </a:solidFill>
              </a:rPr>
              <a:t>PRiMeFlow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is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far</a:t>
            </a:r>
            <a:r>
              <a:rPr lang="ko-KR" altLang="ko-KR" sz="1200" b="1" dirty="0">
                <a:solidFill>
                  <a:srgbClr val="FF0000"/>
                </a:solidFill>
              </a:rPr>
              <a:t> </a:t>
            </a:r>
            <a:r>
              <a:rPr lang="ko-KR" altLang="ko-KR" sz="1200" b="1" dirty="0" err="1">
                <a:solidFill>
                  <a:srgbClr val="FF0000"/>
                </a:solidFill>
              </a:rPr>
              <a:t>ahead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73F6C3-0170-50B1-0144-CF240B159B3E}"/>
              </a:ext>
            </a:extLst>
          </p:cNvPr>
          <p:cNvSpPr txBox="1"/>
          <p:nvPr/>
        </p:nvSpPr>
        <p:spPr>
          <a:xfrm>
            <a:off x="4160425" y="5641887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2804DA"/>
                </a:solidFill>
              </a:rPr>
              <a:t>PRiMeFlow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is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far</a:t>
            </a:r>
            <a:r>
              <a:rPr lang="ko-KR" altLang="ko-KR" sz="1200" b="1" dirty="0">
                <a:solidFill>
                  <a:srgbClr val="2804DA"/>
                </a:solidFill>
              </a:rPr>
              <a:t> </a:t>
            </a:r>
            <a:r>
              <a:rPr lang="ko-KR" altLang="ko-KR" sz="1200" b="1" dirty="0" err="1">
                <a:solidFill>
                  <a:srgbClr val="2804DA"/>
                </a:solidFill>
              </a:rPr>
              <a:t>ahead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2A869F-1D96-0B59-62CC-08F2E4EB22C8}"/>
              </a:ext>
            </a:extLst>
          </p:cNvPr>
          <p:cNvSpPr txBox="1"/>
          <p:nvPr/>
        </p:nvSpPr>
        <p:spPr>
          <a:xfrm>
            <a:off x="8814274" y="5549553"/>
            <a:ext cx="1898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200" b="1" dirty="0" err="1">
                <a:solidFill>
                  <a:srgbClr val="C49500"/>
                </a:solidFill>
              </a:rPr>
              <a:t>Latent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leads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very</a:t>
            </a:r>
            <a:r>
              <a:rPr lang="ko-KR" altLang="ko-KR" sz="1200" b="1" dirty="0">
                <a:solidFill>
                  <a:srgbClr val="C49500"/>
                </a:solidFill>
              </a:rPr>
              <a:t> </a:t>
            </a:r>
            <a:r>
              <a:rPr lang="ko-KR" altLang="ko-KR" sz="1200" b="1" dirty="0" err="1">
                <a:solidFill>
                  <a:srgbClr val="C49500"/>
                </a:solidFill>
              </a:rPr>
              <a:t>narrowly</a:t>
            </a:r>
            <a:endParaRPr lang="ko-KR" altLang="en-US" sz="1200" b="1" dirty="0">
              <a:solidFill>
                <a:srgbClr val="C495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131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FF64-1D6C-87B2-256D-7A4F8B31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CFF6A-D30F-77E8-4823-C12A89F0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26E1C-1493-1C76-DFED-2EC41A68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243EFF-4E6F-CD59-F30C-51416596622E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94561B-FCF5-2756-D193-0B489E68AA40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ko-KR" altLang="ko-KR" b="1" dirty="0" err="1"/>
                <a:t>Visualization</a:t>
              </a:r>
              <a:r>
                <a:rPr lang="ko-KR" altLang="ko-KR" b="1" dirty="0"/>
                <a:t> of </a:t>
              </a:r>
              <a:r>
                <a:rPr lang="ko-KR" altLang="ko-KR" b="1" dirty="0" err="1"/>
                <a:t>heterogeneity</a:t>
              </a:r>
              <a:endParaRPr lang="en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3A1CCC5-1CA6-D3DD-324E-A05E7FF422FC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D689C20-5BE1-81C1-4128-D0C6C618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170056"/>
            <a:ext cx="10120341" cy="511833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A6067D-47B0-0E50-C0A1-A7ECD6802E3B}"/>
              </a:ext>
            </a:extLst>
          </p:cNvPr>
          <p:cNvSpPr/>
          <p:nvPr/>
        </p:nvSpPr>
        <p:spPr>
          <a:xfrm>
            <a:off x="1590676" y="2362199"/>
            <a:ext cx="3124200" cy="1435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59E724-5ACB-35CB-1D06-F75F92E39E99}"/>
              </a:ext>
            </a:extLst>
          </p:cNvPr>
          <p:cNvSpPr/>
          <p:nvPr/>
        </p:nvSpPr>
        <p:spPr>
          <a:xfrm>
            <a:off x="8410920" y="2362198"/>
            <a:ext cx="1469680" cy="1435101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3AC558-26D3-BC8B-0405-18CB41A9EAB6}"/>
              </a:ext>
            </a:extLst>
          </p:cNvPr>
          <p:cNvSpPr/>
          <p:nvPr/>
        </p:nvSpPr>
        <p:spPr>
          <a:xfrm>
            <a:off x="4994620" y="4472289"/>
            <a:ext cx="1469680" cy="1435101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86BE79-DE44-7883-F03F-F02B70FF114B}"/>
              </a:ext>
            </a:extLst>
          </p:cNvPr>
          <p:cNvSpPr txBox="1"/>
          <p:nvPr/>
        </p:nvSpPr>
        <p:spPr>
          <a:xfrm>
            <a:off x="8196435" y="3937682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Model collapse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44883C-8EA5-F11F-A00D-D8B890452943}"/>
              </a:ext>
            </a:extLst>
          </p:cNvPr>
          <p:cNvSpPr txBox="1"/>
          <p:nvPr/>
        </p:nvSpPr>
        <p:spPr>
          <a:xfrm>
            <a:off x="4780135" y="6011391"/>
            <a:ext cx="189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Model collapse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C014F1-6EE3-BCF9-FC52-5E620F41A1E4}"/>
              </a:ext>
            </a:extLst>
          </p:cNvPr>
          <p:cNvSpPr txBox="1"/>
          <p:nvPr/>
        </p:nvSpPr>
        <p:spPr>
          <a:xfrm>
            <a:off x="0" y="6527941"/>
            <a:ext cx="956310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/>
              <a:t>* </a:t>
            </a:r>
            <a:r>
              <a:rPr lang="ko-KR" altLang="ko-KR" sz="1200" b="1" dirty="0"/>
              <a:t>MMD (GEX/PCA)</a:t>
            </a:r>
            <a:r>
              <a:rPr lang="en-US" altLang="ko-KR" sz="1200" b="1" dirty="0"/>
              <a:t>, DEG recall </a:t>
            </a:r>
            <a:r>
              <a:rPr lang="en-US" altLang="ko-KR" sz="1200" dirty="0"/>
              <a:t>: </a:t>
            </a:r>
            <a:r>
              <a:rPr lang="ko-KR" altLang="ko-KR" sz="1200" dirty="0"/>
              <a:t>세포들이 만드는 </a:t>
            </a:r>
            <a:r>
              <a:rPr lang="ko-KR" altLang="ko-KR" sz="1200" b="1" dirty="0"/>
              <a:t>분포 전체</a:t>
            </a:r>
            <a:r>
              <a:rPr lang="ko-KR" altLang="ko-KR" sz="1200" dirty="0"/>
              <a:t>가 </a:t>
            </a:r>
            <a:r>
              <a:rPr lang="ko-KR" altLang="ko-KR" sz="1200" dirty="0" err="1"/>
              <a:t>비슷한가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B3478E3-9724-61FF-CAD3-605983E12848}"/>
              </a:ext>
            </a:extLst>
          </p:cNvPr>
          <p:cNvGrpSpPr/>
          <p:nvPr/>
        </p:nvGrpSpPr>
        <p:grpSpPr>
          <a:xfrm>
            <a:off x="1771649" y="1433005"/>
            <a:ext cx="2509838" cy="300545"/>
            <a:chOff x="1771649" y="1433005"/>
            <a:chExt cx="2509838" cy="300545"/>
          </a:xfrm>
        </p:grpSpPr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6FBE9C60-71C5-E3FB-8129-B85727125171}"/>
                </a:ext>
              </a:extLst>
            </p:cNvPr>
            <p:cNvCxnSpPr/>
            <p:nvPr/>
          </p:nvCxnSpPr>
          <p:spPr>
            <a:xfrm>
              <a:off x="1981200" y="1733550"/>
              <a:ext cx="20955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A15459-E575-6DF9-D759-D33C9085AACB}"/>
                </a:ext>
              </a:extLst>
            </p:cNvPr>
            <p:cNvSpPr txBox="1"/>
            <p:nvPr/>
          </p:nvSpPr>
          <p:spPr>
            <a:xfrm>
              <a:off x="2643187" y="1437828"/>
              <a:ext cx="771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CFG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F7C7A6-1C85-DC66-D264-19A10B0F1F25}"/>
                </a:ext>
              </a:extLst>
            </p:cNvPr>
            <p:cNvSpPr txBox="1"/>
            <p:nvPr/>
          </p:nvSpPr>
          <p:spPr>
            <a:xfrm>
              <a:off x="3509962" y="1433005"/>
              <a:ext cx="771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(+)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FEE1F6-872A-ACF0-AF9B-4A9A084D6C0A}"/>
                </a:ext>
              </a:extLst>
            </p:cNvPr>
            <p:cNvSpPr txBox="1"/>
            <p:nvPr/>
          </p:nvSpPr>
          <p:spPr>
            <a:xfrm>
              <a:off x="1771649" y="1433005"/>
              <a:ext cx="771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(-)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556006F-A8F7-87D4-5588-55FBAD00764A}"/>
              </a:ext>
            </a:extLst>
          </p:cNvPr>
          <p:cNvGrpSpPr/>
          <p:nvPr/>
        </p:nvGrpSpPr>
        <p:grpSpPr>
          <a:xfrm>
            <a:off x="1762124" y="1096259"/>
            <a:ext cx="2509838" cy="300545"/>
            <a:chOff x="1771649" y="1433005"/>
            <a:chExt cx="2509838" cy="30054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A82E4B5-A60B-3033-B1D2-58F9E4871FE2}"/>
                </a:ext>
              </a:extLst>
            </p:cNvPr>
            <p:cNvCxnSpPr/>
            <p:nvPr/>
          </p:nvCxnSpPr>
          <p:spPr>
            <a:xfrm>
              <a:off x="1981200" y="1733550"/>
              <a:ext cx="20955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044C646-0FE0-AD88-BF55-4CB89A8702DC}"/>
                </a:ext>
              </a:extLst>
            </p:cNvPr>
            <p:cNvSpPr txBox="1"/>
            <p:nvPr/>
          </p:nvSpPr>
          <p:spPr>
            <a:xfrm>
              <a:off x="2450306" y="1436039"/>
              <a:ext cx="1157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B050"/>
                  </a:solidFill>
                </a:rPr>
                <a:t>DEG recall</a:t>
              </a:r>
              <a:endParaRPr lang="ko-KR" altLang="en-US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B821EB-D38E-5298-FF99-5C807244F7E5}"/>
                </a:ext>
              </a:extLst>
            </p:cNvPr>
            <p:cNvSpPr txBox="1"/>
            <p:nvPr/>
          </p:nvSpPr>
          <p:spPr>
            <a:xfrm>
              <a:off x="3509962" y="1433005"/>
              <a:ext cx="771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B050"/>
                  </a:solidFill>
                </a:rPr>
                <a:t>(+)</a:t>
              </a:r>
              <a:endParaRPr lang="ko-KR" altLang="en-US" sz="1200" b="1" dirty="0">
                <a:solidFill>
                  <a:srgbClr val="00B05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77AD33F-29DC-20CB-A1D4-491172A5E981}"/>
                </a:ext>
              </a:extLst>
            </p:cNvPr>
            <p:cNvSpPr txBox="1"/>
            <p:nvPr/>
          </p:nvSpPr>
          <p:spPr>
            <a:xfrm>
              <a:off x="1771649" y="1433005"/>
              <a:ext cx="7715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B050"/>
                  </a:solidFill>
                </a:rPr>
                <a:t>(-)</a:t>
              </a:r>
              <a:endParaRPr lang="ko-KR" altLang="en-US" sz="1200" b="1" dirty="0">
                <a:solidFill>
                  <a:srgbClr val="00B05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DF34892-AF36-5E95-5533-C4F0AFC8B883}"/>
              </a:ext>
            </a:extLst>
          </p:cNvPr>
          <p:cNvSpPr txBox="1"/>
          <p:nvPr/>
        </p:nvSpPr>
        <p:spPr>
          <a:xfrm>
            <a:off x="4018915" y="2385746"/>
            <a:ext cx="77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MMD</a:t>
            </a:r>
          </a:p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low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C29B00-7FDF-8B05-2444-1592D1D8FDA5}"/>
              </a:ext>
            </a:extLst>
          </p:cNvPr>
          <p:cNvSpPr txBox="1"/>
          <p:nvPr/>
        </p:nvSpPr>
        <p:spPr>
          <a:xfrm>
            <a:off x="9170062" y="2362198"/>
            <a:ext cx="77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MMD</a:t>
            </a:r>
          </a:p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high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49F7F7-AD12-F3A6-0A32-0F4A69C7A5C3}"/>
              </a:ext>
            </a:extLst>
          </p:cNvPr>
          <p:cNvSpPr txBox="1"/>
          <p:nvPr/>
        </p:nvSpPr>
        <p:spPr>
          <a:xfrm>
            <a:off x="5729459" y="4516805"/>
            <a:ext cx="77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MMD</a:t>
            </a:r>
          </a:p>
          <a:p>
            <a:pPr algn="ctr"/>
            <a:r>
              <a:rPr lang="en-US" altLang="ko-KR" sz="1200" b="1" dirty="0">
                <a:solidFill>
                  <a:srgbClr val="2804DA"/>
                </a:solidFill>
              </a:rPr>
              <a:t>high</a:t>
            </a:r>
            <a:endParaRPr lang="ko-KR" altLang="en-US" sz="1200" b="1" dirty="0">
              <a:solidFill>
                <a:srgbClr val="2804DA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ED03CA5-EA4C-B919-CE90-9321A13DE9E0}"/>
              </a:ext>
            </a:extLst>
          </p:cNvPr>
          <p:cNvCxnSpPr>
            <a:cxnSpLocks/>
          </p:cNvCxnSpPr>
          <p:nvPr/>
        </p:nvCxnSpPr>
        <p:spPr>
          <a:xfrm flipH="1">
            <a:off x="1238250" y="2823863"/>
            <a:ext cx="2359819" cy="15271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6854CC4-7AE3-1FFA-8BBF-6D668E2D4752}"/>
              </a:ext>
            </a:extLst>
          </p:cNvPr>
          <p:cNvSpPr txBox="1"/>
          <p:nvPr/>
        </p:nvSpPr>
        <p:spPr>
          <a:xfrm>
            <a:off x="135991" y="4321266"/>
            <a:ext cx="1469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Distortion</a:t>
            </a:r>
          </a:p>
        </p:txBody>
      </p:sp>
    </p:spTree>
    <p:extLst>
      <p:ext uri="{BB962C8B-B14F-4D97-AF65-F5344CB8AC3E}">
        <p14:creationId xmlns:p14="http://schemas.microsoft.com/office/powerpoint/2010/main" val="2985590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589B-3869-A88B-6363-9FA99072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F3E4A-5D22-3B79-ED18-028B93E3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6002F-260A-2CC6-8C15-3C996033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B7961FC-B935-4B23-C6AA-AEB4C16641A2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D9BEC4-0DC4-0DCB-4159-9A1BE57ECFAD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ARC VCC H1 hESC (scaling up) – </a:t>
              </a:r>
              <a:r>
                <a:rPr lang="en-US" altLang="ko-KR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metrics</a:t>
              </a:r>
              <a:endParaRPr lang="en" altLang="ko-K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71F4F3-42A6-6DED-5311-E8F8A8BC1E38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2C5BC73E-65D1-E155-7E5C-A08A4979B5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21629"/>
                  </p:ext>
                </p:extLst>
              </p:nvPr>
            </p:nvGraphicFramePr>
            <p:xfrm>
              <a:off x="971418" y="1529447"/>
              <a:ext cx="10249163" cy="4067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84782">
                      <a:extLst>
                        <a:ext uri="{9D8B030D-6E8A-4147-A177-3AD203B41FA5}">
                          <a16:colId xmlns:a16="http://schemas.microsoft.com/office/drawing/2014/main" val="4086106337"/>
                        </a:ext>
                      </a:extLst>
                    </a:gridCol>
                    <a:gridCol w="6064381">
                      <a:extLst>
                        <a:ext uri="{9D8B030D-6E8A-4147-A177-3AD203B41FA5}">
                          <a16:colId xmlns:a16="http://schemas.microsoft.com/office/drawing/2014/main" val="2712915908"/>
                        </a:ext>
                      </a:extLst>
                    </a:gridCol>
                  </a:tblGrid>
                  <a:tr h="706089"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dirty="0"/>
                            <a:t>Name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dirty="0"/>
                            <a:t>Description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289412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 dirty="0"/>
                            <a:t>DES (Differential Expression Score)</a:t>
                          </a:r>
                          <a:br>
                            <a:rPr lang="en-US" altLang="ko-KR" sz="1800" b="1" dirty="0"/>
                          </a:br>
                          <a:r>
                            <a:rPr lang="en-US" altLang="ko-KR" sz="1800" b="1" dirty="0">
                              <a:solidFill>
                                <a:srgbClr val="FF0000"/>
                              </a:solidFill>
                            </a:rPr>
                            <a:t>0 ~ 1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How accurately did the model predict gene expression when perturbations were applied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195111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 dirty="0"/>
                            <a:t>PDS (Perturbation Discrimination Score)</a:t>
                          </a:r>
                          <a:br>
                            <a:rPr lang="en-US" altLang="ko-KR" sz="1800" b="1" dirty="0"/>
                          </a:br>
                          <a:r>
                            <a:rPr lang="en-US" altLang="ko-KR" sz="1800" b="1" dirty="0">
                              <a:solidFill>
                                <a:srgbClr val="FF0000"/>
                              </a:solidFill>
                            </a:rPr>
                            <a:t>0 ~ 1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ko-KR" sz="1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den>
                              </m:f>
                              <m:r>
                                <a:rPr lang="en-US" altLang="ko-KR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~ </m:t>
                              </m:r>
                              <m:r>
                                <a:rPr lang="en-US" altLang="ko-KR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altLang="ko-KR" sz="1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The model applied a perturbation How close is the value predicted under assumption to the value actually obtained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1548408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1" dirty="0"/>
                            <a:t>Spearman (Spearman Correlation of Effect Size)</a:t>
                          </a:r>
                          <a:br>
                            <a:rPr lang="en-US" altLang="ko-KR" b="1" dirty="0"/>
                          </a:b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</a:rPr>
                            <a:t>-1 ~ +1</a:t>
                          </a:r>
                          <a:endParaRPr lang="ko-KR" alt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Ranking consistency of biological effect magnitude between prediction and observation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5606812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1" dirty="0"/>
                            <a:t>Pearson (Pearson Delta Correlation)</a:t>
                          </a:r>
                          <a:br>
                            <a:rPr lang="en-US" altLang="ko-KR" b="1" dirty="0"/>
                          </a:b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</a:rPr>
                            <a:t>-1 ~ +1</a:t>
                          </a:r>
                          <a:endParaRPr lang="ko-KR" alt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The correlation between the predicted changes in gene expression and the changes actually observed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696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2C5BC73E-65D1-E155-7E5C-A08A4979B5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521629"/>
                  </p:ext>
                </p:extLst>
              </p:nvPr>
            </p:nvGraphicFramePr>
            <p:xfrm>
              <a:off x="971418" y="1529447"/>
              <a:ext cx="10249163" cy="40676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84782">
                      <a:extLst>
                        <a:ext uri="{9D8B030D-6E8A-4147-A177-3AD203B41FA5}">
                          <a16:colId xmlns:a16="http://schemas.microsoft.com/office/drawing/2014/main" val="4086106337"/>
                        </a:ext>
                      </a:extLst>
                    </a:gridCol>
                    <a:gridCol w="6064381">
                      <a:extLst>
                        <a:ext uri="{9D8B030D-6E8A-4147-A177-3AD203B41FA5}">
                          <a16:colId xmlns:a16="http://schemas.microsoft.com/office/drawing/2014/main" val="2712915908"/>
                        </a:ext>
                      </a:extLst>
                    </a:gridCol>
                  </a:tblGrid>
                  <a:tr h="706089"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dirty="0"/>
                            <a:t>Name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 latinLnBrk="1"/>
                          <a:r>
                            <a:rPr lang="en-US" altLang="ko-KR" dirty="0"/>
                            <a:t>Description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289412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 dirty="0"/>
                            <a:t>DES (Differential Expression Score)</a:t>
                          </a:r>
                          <a:br>
                            <a:rPr lang="en-US" altLang="ko-KR" sz="1800" b="1" dirty="0"/>
                          </a:br>
                          <a:r>
                            <a:rPr lang="en-US" altLang="ko-KR" sz="1800" b="1" dirty="0">
                              <a:solidFill>
                                <a:srgbClr val="FF0000"/>
                              </a:solidFill>
                            </a:rPr>
                            <a:t>0 ~ 1</a:t>
                          </a:r>
                          <a:endParaRPr lang="ko-KR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How accurately did the model predict gene expression when perturbations were applied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5195111"/>
                      </a:ext>
                    </a:extLst>
                  </a:tr>
                  <a:tr h="103498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46" t="-139412" r="-145415" b="-15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The model applied a perturbation How close is the value predicted under assumption to the value actually obtained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154840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1" dirty="0"/>
                            <a:t>Spearman (Spearman Correlation of Effect Size)</a:t>
                          </a:r>
                          <a:br>
                            <a:rPr lang="en-US" altLang="ko-KR" b="1" dirty="0"/>
                          </a:b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</a:rPr>
                            <a:t>-1 ~ +1</a:t>
                          </a:r>
                          <a:endParaRPr lang="ko-KR" alt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Ranking consistency of biological effect magnitude between prediction and observation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5606812"/>
                      </a:ext>
                    </a:extLst>
                  </a:tr>
                  <a:tr h="70608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1" dirty="0"/>
                            <a:t>Pearson (Pearson Delta Correlation)</a:t>
                          </a:r>
                          <a:br>
                            <a:rPr lang="en-US" altLang="ko-KR" b="1" dirty="0"/>
                          </a:br>
                          <a:r>
                            <a:rPr lang="en-US" altLang="ko-KR" b="1" dirty="0">
                              <a:solidFill>
                                <a:srgbClr val="FF0000"/>
                              </a:solidFill>
                            </a:rPr>
                            <a:t>-1 ~ +1</a:t>
                          </a:r>
                          <a:endParaRPr lang="ko-KR" alt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The correlation between the predicted changes in gene expression and the changes actually observed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696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214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8FA7-6666-404D-5717-FEE46A3F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A5BEC-862D-219F-68C9-AD0C5CA5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D30CE-5290-0FE0-3F01-7A98AF5A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E00E495-D2A7-6DE3-7BE1-E81E105311F2}"/>
              </a:ext>
            </a:extLst>
          </p:cNvPr>
          <p:cNvGrpSpPr/>
          <p:nvPr/>
        </p:nvGrpSpPr>
        <p:grpSpPr>
          <a:xfrm>
            <a:off x="640079" y="647537"/>
            <a:ext cx="11435081" cy="394943"/>
            <a:chOff x="640078" y="652703"/>
            <a:chExt cx="13044315" cy="394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C5AE71-26A8-7B42-9FF7-546055DF2E70}"/>
                </a:ext>
              </a:extLst>
            </p:cNvPr>
            <p:cNvSpPr txBox="1"/>
            <p:nvPr/>
          </p:nvSpPr>
          <p:spPr>
            <a:xfrm>
              <a:off x="715781" y="665507"/>
              <a:ext cx="1296861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ARC VCC H1 hESC (scaling up)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FE71922-BED9-3008-B5C7-2DF402583E07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64BA2B7C-6D72-79C9-5590-E5216B941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95" y="1930396"/>
            <a:ext cx="10419609" cy="41529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FA23C0-1D79-275B-E570-D9B6712FE6C9}"/>
              </a:ext>
            </a:extLst>
          </p:cNvPr>
          <p:cNvSpPr txBox="1"/>
          <p:nvPr/>
        </p:nvSpPr>
        <p:spPr>
          <a:xfrm>
            <a:off x="886195" y="1156869"/>
            <a:ext cx="1024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Scaling up</a:t>
            </a:r>
            <a:r>
              <a:rPr lang="en-US" altLang="ko-KR" sz="1800" dirty="0"/>
              <a:t>: pretrain on a </a:t>
            </a:r>
            <a:r>
              <a:rPr lang="en-US" altLang="ko-KR" sz="1800" b="1" dirty="0"/>
              <a:t>large data</a:t>
            </a:r>
            <a:r>
              <a:rPr lang="en-US" altLang="ko-KR" sz="1800" dirty="0"/>
              <a:t> (~6.9M cells) → finetune on H1 </a:t>
            </a:r>
            <a:r>
              <a:rPr lang="en-US" altLang="ko-KR" sz="1800" dirty="0" err="1"/>
              <a:t>hESCs</a:t>
            </a:r>
            <a:endParaRPr lang="en-US" altLang="ko-KR" sz="1800" dirty="0"/>
          </a:p>
          <a:p>
            <a:r>
              <a:rPr lang="en-US" altLang="ko-KR" dirty="0"/>
              <a:t>- </a:t>
            </a:r>
            <a:r>
              <a:rPr lang="en-US" altLang="ko-KR" b="1" dirty="0">
                <a:solidFill>
                  <a:srgbClr val="0070C0"/>
                </a:solidFill>
              </a:rPr>
              <a:t>PRiMeFlow-250pts</a:t>
            </a:r>
            <a:r>
              <a:rPr lang="en-US" altLang="ko-KR" dirty="0">
                <a:solidFill>
                  <a:srgbClr val="0070C0"/>
                </a:solidFill>
              </a:rPr>
              <a:t> = </a:t>
            </a:r>
            <a:r>
              <a:rPr lang="en-US" altLang="ko-KR" b="1" u="sng" dirty="0">
                <a:solidFill>
                  <a:srgbClr val="0070C0"/>
                </a:solidFill>
              </a:rPr>
              <a:t>best average rank on the generalist leaderboard</a:t>
            </a:r>
            <a:r>
              <a:rPr lang="en-US" altLang="ko-KR" dirty="0"/>
              <a:t>, with far lower MAE</a:t>
            </a:r>
            <a:endParaRPr lang="ko-KR" altLang="en-US" sz="1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EAC57C-F223-7E1F-6662-C44FD014F7AD}"/>
              </a:ext>
            </a:extLst>
          </p:cNvPr>
          <p:cNvSpPr/>
          <p:nvPr/>
        </p:nvSpPr>
        <p:spPr>
          <a:xfrm>
            <a:off x="6667499" y="3213100"/>
            <a:ext cx="1498601" cy="1104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183785-9400-A368-5407-9A78A38FD327}"/>
              </a:ext>
            </a:extLst>
          </p:cNvPr>
          <p:cNvSpPr/>
          <p:nvPr/>
        </p:nvSpPr>
        <p:spPr>
          <a:xfrm>
            <a:off x="3657599" y="3898900"/>
            <a:ext cx="3009900" cy="1549400"/>
          </a:xfrm>
          <a:prstGeom prst="rect">
            <a:avLst/>
          </a:prstGeom>
          <a:noFill/>
          <a:ln w="38100">
            <a:solidFill>
              <a:srgbClr val="280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804DA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C2C6E2-D603-E1CA-32A0-CE1D598344AD}"/>
              </a:ext>
            </a:extLst>
          </p:cNvPr>
          <p:cNvSpPr/>
          <p:nvPr/>
        </p:nvSpPr>
        <p:spPr>
          <a:xfrm>
            <a:off x="6667498" y="3892746"/>
            <a:ext cx="1498601" cy="11049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A344654-63E6-B57A-3CBE-973944F6C7DA}"/>
              </a:ext>
            </a:extLst>
          </p:cNvPr>
          <p:cNvCxnSpPr>
            <a:cxnSpLocks/>
          </p:cNvCxnSpPr>
          <p:nvPr/>
        </p:nvCxnSpPr>
        <p:spPr>
          <a:xfrm flipV="1">
            <a:off x="810955" y="3632592"/>
            <a:ext cx="0" cy="5646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634AE52-A465-BE12-407A-3BD48D3D389E}"/>
              </a:ext>
            </a:extLst>
          </p:cNvPr>
          <p:cNvSpPr txBox="1"/>
          <p:nvPr/>
        </p:nvSpPr>
        <p:spPr>
          <a:xfrm>
            <a:off x="86793" y="3684105"/>
            <a:ext cx="724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Fine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en-US" altLang="ko-KR" sz="1200" b="1" dirty="0">
                <a:solidFill>
                  <a:srgbClr val="FF0000"/>
                </a:solidFill>
              </a:rPr>
              <a:t>tuning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38D6A51-83DC-CAF3-3B19-4E7C66F834C6}"/>
              </a:ext>
            </a:extLst>
          </p:cNvPr>
          <p:cNvCxnSpPr>
            <a:cxnSpLocks/>
          </p:cNvCxnSpPr>
          <p:nvPr/>
        </p:nvCxnSpPr>
        <p:spPr>
          <a:xfrm>
            <a:off x="8297605" y="3660938"/>
            <a:ext cx="0" cy="4636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BB0358-782A-7B5A-7046-5FC9222166E8}"/>
              </a:ext>
            </a:extLst>
          </p:cNvPr>
          <p:cNvSpPr txBox="1"/>
          <p:nvPr/>
        </p:nvSpPr>
        <p:spPr>
          <a:xfrm>
            <a:off x="8297605" y="3754246"/>
            <a:ext cx="5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</a:rPr>
              <a:t>MAE</a:t>
            </a:r>
          </a:p>
        </p:txBody>
      </p:sp>
    </p:spTree>
    <p:extLst>
      <p:ext uri="{BB962C8B-B14F-4D97-AF65-F5344CB8AC3E}">
        <p14:creationId xmlns:p14="http://schemas.microsoft.com/office/powerpoint/2010/main" val="2239512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170A-5404-F72D-193B-C746CB534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F6A0E-9FF1-AD31-E8DE-CE12C645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Conclusion &amp; Discussion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57F41-08D7-174B-1532-0213843B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1D83D-4F31-B717-5F98-97B06232B967}"/>
              </a:ext>
            </a:extLst>
          </p:cNvPr>
          <p:cNvSpPr txBox="1"/>
          <p:nvPr/>
        </p:nvSpPr>
        <p:spPr>
          <a:xfrm>
            <a:off x="501015" y="952500"/>
            <a:ext cx="11189970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Summary</a:t>
            </a:r>
          </a:p>
          <a:p>
            <a:endParaRPr lang="en-US" altLang="ko-KR" dirty="0"/>
          </a:p>
          <a:p>
            <a:r>
              <a:rPr lang="en-US" altLang="ko-KR" dirty="0"/>
              <a:t>	- Direct flow matching in gene-expression space (no latent compression) + U-Net + end-to-end</a:t>
            </a:r>
          </a:p>
          <a:p>
            <a:r>
              <a:rPr lang="en-US" altLang="ko-KR" dirty="0"/>
              <a:t>	- Wins distribution metrics (MMD, DEG recall); recovers ground-truth DEGs where baselines can’t</a:t>
            </a:r>
          </a:p>
          <a:p>
            <a:r>
              <a:rPr lang="en-US" altLang="ko-KR" dirty="0"/>
              <a:t>	- Scales via pretrain, finetune, best average rank on the ARC VCC Generalist leaderboard</a:t>
            </a:r>
          </a:p>
          <a:p>
            <a:endParaRPr lang="en-US" altLang="ko-KR" dirty="0"/>
          </a:p>
          <a:p>
            <a:r>
              <a:rPr lang="en-US" altLang="ko-KR" b="1" dirty="0"/>
              <a:t>Open question</a:t>
            </a:r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- Why does the U-Net work so well, when gene ordering is arbitrary? : still unresolved</a:t>
            </a:r>
          </a:p>
          <a:p>
            <a:endParaRPr lang="en-US" altLang="ko-KR" dirty="0"/>
          </a:p>
          <a:p>
            <a:r>
              <a:rPr lang="en-US" altLang="ko-KR" b="1" dirty="0"/>
              <a:t>Future work</a:t>
            </a:r>
          </a:p>
          <a:p>
            <a:endParaRPr lang="en-US" altLang="ko-KR" dirty="0"/>
          </a:p>
          <a:p>
            <a:r>
              <a:rPr lang="en-US" altLang="ko-KR" dirty="0"/>
              <a:t>	- </a:t>
            </a:r>
            <a:r>
              <a:rPr lang="en-US" altLang="ko-KR" b="1" dirty="0"/>
              <a:t>Permutation-invariant architectures</a:t>
            </a:r>
            <a:r>
              <a:rPr lang="en-US" altLang="ko-KR" dirty="0"/>
              <a:t>: cross-attention</a:t>
            </a:r>
            <a:r>
              <a:rPr lang="ko-KR" altLang="en-US" dirty="0"/>
              <a:t> </a:t>
            </a:r>
            <a:r>
              <a:rPr lang="en-US" altLang="ko-KR" dirty="0"/>
              <a:t>(Perceiver</a:t>
            </a:r>
            <a:r>
              <a:rPr lang="ko-KR" altLang="en-US" dirty="0"/>
              <a:t> </a:t>
            </a:r>
            <a:r>
              <a:rPr lang="en-US" altLang="ko-KR" dirty="0"/>
              <a:t>IO, </a:t>
            </a:r>
            <a:r>
              <a:rPr lang="en-US" altLang="ko-KR" dirty="0" err="1"/>
              <a:t>scLDM’s</a:t>
            </a:r>
            <a:r>
              <a:rPr lang="en-US" altLang="ko-KR" dirty="0"/>
              <a:t> MCAB)</a:t>
            </a:r>
          </a:p>
          <a:p>
            <a:r>
              <a:rPr lang="en-US" altLang="ko-KR" dirty="0"/>
              <a:t>	- </a:t>
            </a:r>
            <a:r>
              <a:rPr lang="en-US" altLang="ko-KR" b="1" dirty="0"/>
              <a:t>Generative foundation models for virtual cells </a:t>
            </a:r>
            <a:r>
              <a:rPr lang="en-US" altLang="ko-KR" dirty="0"/>
              <a:t>(Tahoe-100M, Billion cell atlas)</a:t>
            </a:r>
          </a:p>
        </p:txBody>
      </p:sp>
    </p:spTree>
    <p:extLst>
      <p:ext uri="{BB962C8B-B14F-4D97-AF65-F5344CB8AC3E}">
        <p14:creationId xmlns:p14="http://schemas.microsoft.com/office/powerpoint/2010/main" val="169660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7125</TotalTime>
  <Words>6746</Words>
  <Application>Microsoft Office PowerPoint</Application>
  <PresentationFormat>와이드스크린</PresentationFormat>
  <Paragraphs>693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Cambria Math</vt:lpstr>
      <vt:lpstr>Wingdings</vt:lpstr>
      <vt:lpstr>Office 테마</vt:lpstr>
      <vt:lpstr>PRiMeFlow Capturing complex expression heterogeneity in perturbation response modeling</vt:lpstr>
      <vt:lpstr>Author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Method</vt:lpstr>
      <vt:lpstr>Method</vt:lpstr>
      <vt:lpstr>Method</vt:lpstr>
      <vt:lpstr>Method</vt:lpstr>
      <vt:lpstr>Method</vt:lpstr>
      <vt:lpstr>Method</vt:lpstr>
      <vt:lpstr>Method</vt:lpstr>
      <vt:lpstr>Results</vt:lpstr>
      <vt:lpstr>Results</vt:lpstr>
      <vt:lpstr>Results</vt:lpstr>
      <vt:lpstr>Results</vt:lpstr>
      <vt:lpstr>Results</vt:lpstr>
      <vt:lpstr>Results</vt:lpstr>
      <vt:lpstr>Conclusion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태현 고</cp:lastModifiedBy>
  <cp:revision>30</cp:revision>
  <cp:lastPrinted>2025-09-22T09:58:03Z</cp:lastPrinted>
  <dcterms:created xsi:type="dcterms:W3CDTF">2024-11-25T04:45:17Z</dcterms:created>
  <dcterms:modified xsi:type="dcterms:W3CDTF">2026-08-30T10:54:32Z</dcterms:modified>
  <cp:category/>
</cp:coreProperties>
</file>